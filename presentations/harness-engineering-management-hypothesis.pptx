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838d1c84444eef" /><Relationship Type="http://schemas.openxmlformats.org/officeDocument/2006/relationships/extended-properties" Target="/docProps/app.xml" Id="Rb421bcf59f744416" /><Relationship Type="http://schemas.openxmlformats.org/officeDocument/2006/relationships/officeDocument" Target="/ppt/presentation.xml" Id="R18889222714a41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5339a7e6394d4b"/>
  </p:sldMasterIdLst>
  <p:notesMasterIdLst>
    <p:notesMasterId xmlns:r="http://schemas.openxmlformats.org/officeDocument/2006/relationships" r:id="Rb4f76879e7d544bc"/>
  </p:notesMasterIdLst>
  <p:sldIdLst>
    <p:sldId xmlns:r="http://schemas.openxmlformats.org/officeDocument/2006/relationships" id="256" r:id="R78ecc1631e574b94"/>
    <p:sldId xmlns:r="http://schemas.openxmlformats.org/officeDocument/2006/relationships" id="257" r:id="R31a85b2a24774fe1"/>
    <p:sldId xmlns:r="http://schemas.openxmlformats.org/officeDocument/2006/relationships" id="258" r:id="R54f44a6d86824a93"/>
    <p:sldId xmlns:r="http://schemas.openxmlformats.org/officeDocument/2006/relationships" id="259" r:id="Rb0f9f4e216584fec"/>
    <p:sldId xmlns:r="http://schemas.openxmlformats.org/officeDocument/2006/relationships" id="260" r:id="R7d2b77dcc22447b5"/>
    <p:sldId xmlns:r="http://schemas.openxmlformats.org/officeDocument/2006/relationships" id="261" r:id="R09f4c8869bb44207"/>
    <p:sldId xmlns:r="http://schemas.openxmlformats.org/officeDocument/2006/relationships" id="262" r:id="R3da41b99739b45e3"/>
    <p:sldId xmlns:r="http://schemas.openxmlformats.org/officeDocument/2006/relationships" id="263" r:id="R3b8eab80d5524be4"/>
    <p:sldId xmlns:r="http://schemas.openxmlformats.org/officeDocument/2006/relationships" id="264" r:id="R91400572ea15499e"/>
    <p:sldId xmlns:r="http://schemas.openxmlformats.org/officeDocument/2006/relationships" id="265" r:id="Rce3471f63e6e4a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6f44dda38f4155" /><Relationship Type="http://schemas.openxmlformats.org/officeDocument/2006/relationships/slideMaster" Target="/ppt/slideMasters/slideMaster1.xml" Id="R665339a7e6394d4b" /><Relationship Type="http://schemas.openxmlformats.org/officeDocument/2006/relationships/notesMaster" Target="/ppt/notesMasters/notesMaster1.xml" Id="Rb4f76879e7d544bc" /><Relationship Type="http://schemas.openxmlformats.org/officeDocument/2006/relationships/presProps" Target="/ppt/presProps.xml" Id="R14af6bee56c842a5" /><Relationship Type="http://schemas.openxmlformats.org/officeDocument/2006/relationships/tableStyles" Target="/ppt/tableStyles.xml" Id="R414ed568db3e463a" /><Relationship Type="http://schemas.openxmlformats.org/officeDocument/2006/relationships/slide" Target="/ppt/slides/slide1.xml" Id="R78ecc1631e574b94" /><Relationship Type="http://schemas.openxmlformats.org/officeDocument/2006/relationships/slide" Target="/ppt/slides/slide2.xml" Id="R31a85b2a24774fe1" /><Relationship Type="http://schemas.openxmlformats.org/officeDocument/2006/relationships/slide" Target="/ppt/slides/slide3.xml" Id="R54f44a6d86824a93" /><Relationship Type="http://schemas.openxmlformats.org/officeDocument/2006/relationships/slide" Target="/ppt/slides/slide4.xml" Id="Rb0f9f4e216584fec" /><Relationship Type="http://schemas.openxmlformats.org/officeDocument/2006/relationships/slide" Target="/ppt/slides/slide5.xml" Id="R7d2b77dcc22447b5" /><Relationship Type="http://schemas.openxmlformats.org/officeDocument/2006/relationships/slide" Target="/ppt/slides/slide6.xml" Id="R09f4c8869bb44207" /><Relationship Type="http://schemas.openxmlformats.org/officeDocument/2006/relationships/slide" Target="/ppt/slides/slide7.xml" Id="R3da41b99739b45e3" /><Relationship Type="http://schemas.openxmlformats.org/officeDocument/2006/relationships/slide" Target="/ppt/slides/slide8.xml" Id="R3b8eab80d5524be4" /><Relationship Type="http://schemas.openxmlformats.org/officeDocument/2006/relationships/slide" Target="/ppt/slides/slide9.xml" Id="R91400572ea15499e" /><Relationship Type="http://schemas.openxmlformats.org/officeDocument/2006/relationships/slide" Target="/ppt/slides/slide10.xml" Id="Rce3471f63e6e4a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60e303b1704f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345219c67f4c36" /><Relationship Type="http://schemas.openxmlformats.org/officeDocument/2006/relationships/notesMaster" Target="/ppt/notesMasters/notesMaster1.xml" Id="Rddc6e21908494e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bc0f81d1314c5d" /><Relationship Type="http://schemas.openxmlformats.org/officeDocument/2006/relationships/notesMaster" Target="/ppt/notesMasters/notesMaster1.xml" Id="Rd1d7dfd7de664e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fde459ee144f73" /><Relationship Type="http://schemas.openxmlformats.org/officeDocument/2006/relationships/notesMaster" Target="/ppt/notesMasters/notesMaster1.xml" Id="Rb7c2d5b457e847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771c2ccf0144f5" /><Relationship Type="http://schemas.openxmlformats.org/officeDocument/2006/relationships/notesMaster" Target="/ppt/notesMasters/notesMaster1.xml" Id="Rad72b66d40a64c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dfa8da71e74731" /><Relationship Type="http://schemas.openxmlformats.org/officeDocument/2006/relationships/notesMaster" Target="/ppt/notesMasters/notesMaster1.xml" Id="R06480f82425242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9e0647d553474d" /><Relationship Type="http://schemas.openxmlformats.org/officeDocument/2006/relationships/notesMaster" Target="/ppt/notesMasters/notesMaster1.xml" Id="Rc8ea665dd57347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6940553afe49b6" /><Relationship Type="http://schemas.openxmlformats.org/officeDocument/2006/relationships/notesMaster" Target="/ppt/notesMasters/notesMaster1.xml" Id="R6f77907c7fbc42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44bc06d5264c25" /><Relationship Type="http://schemas.openxmlformats.org/officeDocument/2006/relationships/notesMaster" Target="/ppt/notesMasters/notesMaster1.xml" Id="Rf9f16115783145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4ac545ebb146fc" /><Relationship Type="http://schemas.openxmlformats.org/officeDocument/2006/relationships/notesMaster" Target="/ppt/notesMasters/notesMaster1.xml" Id="Rb5d26f186bf24a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6172890dda41b6" /><Relationship Type="http://schemas.openxmlformats.org/officeDocument/2006/relationships/notesMaster" Target="/ppt/notesMasters/notesMaster1.xml" Id="R9aa08025eb444f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frame the demo before showing code or Colab.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Fowler article: https://martinfowler.com/articles/harness-engineering.html</a:t>
            </a:r>
          </a:p>
          <a:p xmlns:a="http://schemas.openxmlformats.org/drawingml/2006/main">
            <a:r>
              <a:t>Repo: /Users/narendradevireddy/Desktop/development/ollama-harness-engineering-demo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sets fairness boundaries.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 lanes: src/harness_demo/domain.py</a:t>
            </a:r>
          </a:p>
          <a:p xmlns:a="http://schemas.openxmlformats.org/drawingml/2006/main">
            <a:r>
              <a:t>Fowler article sections: Feedforward and Feedback; Computational vs Inferential; The steering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over-quote Fowler; explain in our words.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Fowler article, lines around Feedforward and Feedback and The steering loop: https://martinfowler.com/articles/harness-engineering.html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Visible snippet is simplified from repo code.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Repo: src/harness_demo/live.py, run_live_hand_built_lane planner_input.</a:t>
            </a:r>
          </a:p>
          <a:p xmlns:a="http://schemas.openxmlformats.org/drawingml/2006/main">
            <a:r>
              <a:t>Fowler article: Feedforward guides steer the agent before it 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Repo: src/harness_demo/scoring.py, score_memory.</a:t>
            </a:r>
          </a:p>
          <a:p xmlns:a="http://schemas.openxmlformats.org/drawingml/2006/main">
            <a:r>
              <a:t>Fowler article: Feedback sensors observe after the agent acts and help it self-correct.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Fowler article: Computational vs Inferential section.</a:t>
            </a:r>
          </a:p>
          <a:p xmlns:a="http://schemas.openxmlformats.org/drawingml/2006/main">
            <a:r>
              <a:t>Repo: src/harness_demo/rules.py and src/harness_demo/summarizer.py.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Repo: src/harness_demo/domain.py, SharedMemory.</a:t>
            </a:r>
          </a:p>
          <a:p xmlns:a="http://schemas.openxmlformats.org/drawingml/2006/main">
            <a:r>
              <a:t>Repo: src/harness_demo/live.py, weak and strong lane memory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avoid overclaiming multi-agent autonomy.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Repo: src/harness_demo/live.py, run_live_hand_built_lane.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Strands docs: https://strandsagents.com/docs/user-guide/concepts/tools/</a:t>
            </a:r>
          </a:p>
          <a:p xmlns:a="http://schemas.openxmlformats.org/drawingml/2006/main">
            <a:r>
              <a:t>Strands docs: https://strandsagents.com/docs/user-guide/concepts/multi-agent/agents-as-tools/</a:t>
            </a:r>
          </a:p>
          <a:p xmlns:a="http://schemas.openxmlformats.org/drawingml/2006/main">
            <a:r>
              <a:t>Repo notebook: notebooks/harness_engineering_colab_demo.ipynb, Strands multi-agent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action: invest in reusable harness components and scoring, not only model selection.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Fowler article: Harness templates, Harnessability, The role of the human.</a:t>
            </a:r>
          </a:p>
          <a:p xmlns:a="http://schemas.openxmlformats.org/drawingml/2006/main">
            <a:r>
              <a:t>Repo: README.md and notebook management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753064db540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a37d23bc34313" /><Relationship Type="http://schemas.openxmlformats.org/officeDocument/2006/relationships/slideLayout" Target="/ppt/slideLayouts/slideLayout1.xml" Id="Rf06af01b7ed741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6af01b7ed741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c10c7dfbe4f85" /><Relationship Type="http://schemas.openxmlformats.org/officeDocument/2006/relationships/notesSlide" Target="/ppt/notesSlides/notesSlide1.xml" Id="Ra951d858bbd74b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7490eca5547fb" /><Relationship Type="http://schemas.openxmlformats.org/officeDocument/2006/relationships/notesSlide" Target="/ppt/notesSlides/notesSlide2.xml" Id="R99991cac0ddf41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81820445f4869" /><Relationship Type="http://schemas.openxmlformats.org/officeDocument/2006/relationships/notesSlide" Target="/ppt/notesSlides/notesSlide3.xml" Id="Rf04cc73077eb4a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42605415f40f8" /><Relationship Type="http://schemas.openxmlformats.org/officeDocument/2006/relationships/notesSlide" Target="/ppt/notesSlides/notesSlide4.xml" Id="Rcf0a100c025f40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6a881cf634d60" /><Relationship Type="http://schemas.openxmlformats.org/officeDocument/2006/relationships/notesSlide" Target="/ppt/notesSlides/notesSlide5.xml" Id="Ra01fb6b8d6784e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3702048494cb5" /><Relationship Type="http://schemas.openxmlformats.org/officeDocument/2006/relationships/notesSlide" Target="/ppt/notesSlides/notesSlide6.xml" Id="Rb3098c3e1f574d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84fd0209e4b89" /><Relationship Type="http://schemas.openxmlformats.org/officeDocument/2006/relationships/notesSlide" Target="/ppt/notesSlides/notesSlide7.xml" Id="Rdf6f224dc8f741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a21dba4e94933" /><Relationship Type="http://schemas.openxmlformats.org/officeDocument/2006/relationships/notesSlide" Target="/ppt/notesSlides/notesSlide8.xml" Id="Rfd4e438528c94b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1a9ff08a94ac6" /><Relationship Type="http://schemas.openxmlformats.org/officeDocument/2006/relationships/notesSlide" Target="/ppt/notesSlides/notesSlide9.xml" Id="R7a8ef8b09e664e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6a742f816421c" /><Relationship Type="http://schemas.openxmlformats.org/officeDocument/2006/relationships/notesSlide" Target="/ppt/notesSlides/notesSlide10.xml" Id="R10424d5e5a2e42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">
            <a:extLst xmlns:a="http://schemas.openxmlformats.org/drawingml/2006/main">
              <a:ext uri="{FF2B5EF4-FFF2-40B4-BE49-F238E27FC236}">
                <a16:creationId xmlns:a16="http://schemas.microsoft.com/office/drawing/2014/main" id="{D20EACC7-5FC4-499C-8D90-C522584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</a:defRPr>
            </a:pPr>
            <a:r>
              <a:rPr sz="1050" b="1">
                <a:solidFill>
                  <a:srgbClr val="6B7280"/>
                </a:solidFill>
              </a:rPr>
              <a:t>MANAGEMENT DEMO HYPOTHESIS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162DDC-6B9C-455C-96CC-F8BCA3F4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286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A better harness can beat a bigger model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3DC216E-32E0-4F46-AF53-FA2363DC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We will show that production AI quality depends on guides, sensors, memory, review, and repair, not model size alone.</a:t>
            </a:r>
          </a:p>
        </p:txBody>
      </p:sp>
      <p:sp>
        <p:nvSpPr>
          <p:cNvPr id="4" name="thesis-box">
            <a:extLst xmlns:a="http://schemas.openxmlformats.org/drawingml/2006/main">
              <a:ext uri="{FF2B5EF4-FFF2-40B4-BE49-F238E27FC236}">
                <a16:creationId xmlns:a16="http://schemas.microsoft.com/office/drawing/2014/main" id="{40A6E88D-DA28-4B72-BC30-D01D1685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5" name="thesis">
            <a:extLst xmlns:a="http://schemas.openxmlformats.org/drawingml/2006/main">
              <a:ext uri="{FF2B5EF4-FFF2-40B4-BE49-F238E27FC236}">
                <a16:creationId xmlns:a16="http://schemas.microsoft.com/office/drawing/2014/main" id="{DAADBEB0-DD73-4850-BFEB-7A7F33F9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Model answer is not the product. The governed workflow around the model is the product.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B2E8C8D-DBA9-4942-A4D1-B5AC4B2F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Ollama Harness Engineering Demo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47A674C-3F63-4D2A-9481-9E69F4DD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5527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156FDD25-2A7E-4F0B-99BB-76731AB5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HARNESS ENGINEERING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9A60FB-40D9-4323-A084-7D2DB846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The comparison is model strength versus harness maturity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CDFF6FF-87C6-4DC7-B7A1-E8A359E6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h0">
            <a:extLst xmlns:a="http://schemas.openxmlformats.org/drawingml/2006/main">
              <a:ext uri="{FF2B5EF4-FFF2-40B4-BE49-F238E27FC236}">
                <a16:creationId xmlns:a16="http://schemas.microsoft.com/office/drawing/2014/main" id="{BE28F101-3130-405E-B2CD-F13BB17B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Lane</a:t>
            </a:r>
          </a:p>
        </p:txBody>
      </p:sp>
      <p:sp>
        <p:nvSpPr>
          <p:cNvPr id="5" name="h1">
            <a:extLst xmlns:a="http://schemas.openxmlformats.org/drawingml/2006/main">
              <a:ext uri="{FF2B5EF4-FFF2-40B4-BE49-F238E27FC236}">
                <a16:creationId xmlns:a16="http://schemas.microsoft.com/office/drawing/2014/main" id="{5200A585-4670-48BC-889C-E5B95F31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What changes</a:t>
            </a:r>
          </a:p>
        </p:txBody>
      </p:sp>
      <p:sp>
        <p:nvSpPr>
          <p:cNvPr id="6" name="h2">
            <a:extLst xmlns:a="http://schemas.openxmlformats.org/drawingml/2006/main">
              <a:ext uri="{FF2B5EF4-FFF2-40B4-BE49-F238E27FC236}">
                <a16:creationId xmlns:a16="http://schemas.microsoft.com/office/drawing/2014/main" id="{3EAB9C86-A7DC-45D1-BAA9-64B7FDB6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What we learn</a:t>
            </a:r>
          </a:p>
        </p:txBody>
      </p:sp>
      <p:sp>
        <p:nvSpPr>
          <p:cNvPr id="7" name="row-0">
            <a:extLst xmlns:a="http://schemas.openxmlformats.org/drawingml/2006/main">
              <a:ext uri="{FF2B5EF4-FFF2-40B4-BE49-F238E27FC236}">
                <a16:creationId xmlns:a16="http://schemas.microsoft.com/office/drawing/2014/main" id="{37B4F2DF-6091-4DB7-97EF-9C0076AC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r0-0">
            <a:extLst xmlns:a="http://schemas.openxmlformats.org/drawingml/2006/main">
              <a:ext uri="{FF2B5EF4-FFF2-40B4-BE49-F238E27FC236}">
                <a16:creationId xmlns:a16="http://schemas.microsoft.com/office/drawing/2014/main" id="{1CB649F0-C627-465A-B3A8-BD539F61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No harness</a:t>
            </a:r>
          </a:p>
        </p:txBody>
      </p:sp>
      <p:sp>
        <p:nvSpPr>
          <p:cNvPr id="9" name="r0-1">
            <a:extLst xmlns:a="http://schemas.openxmlformats.org/drawingml/2006/main">
              <a:ext uri="{FF2B5EF4-FFF2-40B4-BE49-F238E27FC236}">
                <a16:creationId xmlns:a16="http://schemas.microsoft.com/office/drawing/2014/main" id="{CD7E7F9E-95FE-4F6F-BAA5-B9EA99FD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93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One model call; incident ticket only</a:t>
            </a:r>
          </a:p>
        </p:txBody>
      </p:sp>
      <p:sp>
        <p:nvSpPr>
          <p:cNvPr id="10" name="r0-2">
            <a:extLst xmlns:a="http://schemas.openxmlformats.org/drawingml/2006/main">
              <a:ext uri="{FF2B5EF4-FFF2-40B4-BE49-F238E27FC236}">
                <a16:creationId xmlns:a16="http://schemas.microsoft.com/office/drawing/2014/main" id="{2F2EFA5F-D665-4CB4-A907-9FE22DE5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Fluent output can still be ungrounded</a:t>
            </a:r>
          </a:p>
        </p:txBody>
      </p:sp>
      <p:sp>
        <p:nvSpPr>
          <p:cNvPr id="11" name="row-1">
            <a:extLst xmlns:a="http://schemas.openxmlformats.org/drawingml/2006/main">
              <a:ext uri="{FF2B5EF4-FFF2-40B4-BE49-F238E27FC236}">
                <a16:creationId xmlns:a16="http://schemas.microsoft.com/office/drawing/2014/main" id="{CED5679E-CB3E-4E11-B388-E74DA822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r1-0">
            <a:extLst xmlns:a="http://schemas.openxmlformats.org/drawingml/2006/main">
              <a:ext uri="{FF2B5EF4-FFF2-40B4-BE49-F238E27FC236}">
                <a16:creationId xmlns:a16="http://schemas.microsoft.com/office/drawing/2014/main" id="{2415E2C2-9371-44B0-BA9C-AEECC1AD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Weak harness</a:t>
            </a:r>
          </a:p>
        </p:txBody>
      </p:sp>
      <p:sp>
        <p:nvSpPr>
          <p:cNvPr id="13" name="r1-1">
            <a:extLst xmlns:a="http://schemas.openxmlformats.org/drawingml/2006/main">
              <a:ext uri="{FF2B5EF4-FFF2-40B4-BE49-F238E27FC236}">
                <a16:creationId xmlns:a16="http://schemas.microsoft.com/office/drawing/2014/main" id="{51214F0B-950A-4033-B174-DA0363E2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718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Shared scratchpad; weak provenance; no repair</a:t>
            </a:r>
          </a:p>
        </p:txBody>
      </p:sp>
      <p:sp>
        <p:nvSpPr>
          <p:cNvPr id="14" name="r1-2">
            <a:extLst xmlns:a="http://schemas.openxmlformats.org/drawingml/2006/main">
              <a:ext uri="{FF2B5EF4-FFF2-40B4-BE49-F238E27FC236}">
                <a16:creationId xmlns:a16="http://schemas.microsoft.com/office/drawing/2014/main" id="{60D12C54-2366-4E02-A748-9C3E1AC2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Memory alone is not enough</a:t>
            </a:r>
          </a:p>
        </p:txBody>
      </p:sp>
      <p:sp>
        <p:nvSpPr>
          <p:cNvPr id="15" name="row-2">
            <a:extLst xmlns:a="http://schemas.openxmlformats.org/drawingml/2006/main">
              <a:ext uri="{FF2B5EF4-FFF2-40B4-BE49-F238E27FC236}">
                <a16:creationId xmlns:a16="http://schemas.microsoft.com/office/drawing/2014/main" id="{71E36FC3-F7BD-4B94-9AF9-5A45691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r2-0">
            <a:extLst xmlns:a="http://schemas.openxmlformats.org/drawingml/2006/main">
              <a:ext uri="{FF2B5EF4-FFF2-40B4-BE49-F238E27FC236}">
                <a16:creationId xmlns:a16="http://schemas.microsoft.com/office/drawing/2014/main" id="{D04CB4C1-8CEF-4F25-B1A7-C3109AFD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Strong harness</a:t>
            </a:r>
          </a:p>
        </p:txBody>
      </p:sp>
      <p:sp>
        <p:nvSpPr>
          <p:cNvPr id="17" name="r2-1">
            <a:extLst xmlns:a="http://schemas.openxmlformats.org/drawingml/2006/main">
              <a:ext uri="{FF2B5EF4-FFF2-40B4-BE49-F238E27FC236}">
                <a16:creationId xmlns:a16="http://schemas.microsoft.com/office/drawing/2014/main" id="{0FDE6079-855D-458B-A7AA-C5F374FE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Scoped roles, governed memory, sensors, reviewer, repair</a:t>
            </a:r>
          </a:p>
        </p:txBody>
      </p:sp>
      <p:sp>
        <p:nvSpPr>
          <p:cNvPr id="18" name="r2-2">
            <a:extLst xmlns:a="http://schemas.openxmlformats.org/drawingml/2006/main">
              <a:ext uri="{FF2B5EF4-FFF2-40B4-BE49-F238E27FC236}">
                <a16:creationId xmlns:a16="http://schemas.microsoft.com/office/drawing/2014/main" id="{7B273131-A6B9-478A-A457-AE27C977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Quality becomes engineerable</a:t>
            </a:r>
          </a:p>
        </p:txBody>
      </p:sp>
      <p:sp>
        <p:nvSpPr>
          <p:cNvPr id="19" name="row-3">
            <a:extLst xmlns:a="http://schemas.openxmlformats.org/drawingml/2006/main">
              <a:ext uri="{FF2B5EF4-FFF2-40B4-BE49-F238E27FC236}">
                <a16:creationId xmlns:a16="http://schemas.microsoft.com/office/drawing/2014/main" id="{6939AE0C-233F-425D-9804-5702FBA3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r3-0">
            <a:extLst xmlns:a="http://schemas.openxmlformats.org/drawingml/2006/main">
              <a:ext uri="{FF2B5EF4-FFF2-40B4-BE49-F238E27FC236}">
                <a16:creationId xmlns:a16="http://schemas.microsoft.com/office/drawing/2014/main" id="{3655932C-021F-4B09-A4A3-08530C3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Strands</a:t>
            </a:r>
          </a:p>
        </p:txBody>
      </p:sp>
      <p:sp>
        <p:nvSpPr>
          <p:cNvPr id="21" name="r3-1">
            <a:extLst xmlns:a="http://schemas.openxmlformats.org/drawingml/2006/main">
              <a:ext uri="{FF2B5EF4-FFF2-40B4-BE49-F238E27FC236}">
                <a16:creationId xmlns:a16="http://schemas.microsoft.com/office/drawing/2014/main" id="{938FD113-3331-461E-BEEB-AA38C3B9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Same roles rebuilt with SDK agents and tools</a:t>
            </a:r>
          </a:p>
        </p:txBody>
      </p:sp>
      <p:sp>
        <p:nvSpPr>
          <p:cNvPr id="22" name="r3-2">
            <a:extLst xmlns:a="http://schemas.openxmlformats.org/drawingml/2006/main">
              <a:ext uri="{FF2B5EF4-FFF2-40B4-BE49-F238E27FC236}">
                <a16:creationId xmlns:a16="http://schemas.microsoft.com/office/drawing/2014/main" id="{EFDEF45F-E757-45EE-975B-6453BF88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The pattern can move into frameworks</a:t>
            </a:r>
          </a:p>
        </p:txBody>
      </p:sp>
      <p:sp>
        <p:nvSpPr>
          <p:cNvPr id="23" name="row-4">
            <a:extLst xmlns:a="http://schemas.openxmlformats.org/drawingml/2006/main">
              <a:ext uri="{FF2B5EF4-FFF2-40B4-BE49-F238E27FC236}">
                <a16:creationId xmlns:a16="http://schemas.microsoft.com/office/drawing/2014/main" id="{249524CA-C66E-409A-9D86-E91BFFA0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r4-0">
            <a:extLst xmlns:a="http://schemas.openxmlformats.org/drawingml/2006/main">
              <a:ext uri="{FF2B5EF4-FFF2-40B4-BE49-F238E27FC236}">
                <a16:creationId xmlns:a16="http://schemas.microsoft.com/office/drawing/2014/main" id="{352A057D-CE7C-4854-87CB-15E874A6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DeepSeek</a:t>
            </a:r>
          </a:p>
        </p:txBody>
      </p:sp>
      <p:sp>
        <p:nvSpPr>
          <p:cNvPr id="25" name="r4-1">
            <a:extLst xmlns:a="http://schemas.openxmlformats.org/drawingml/2006/main">
              <a:ext uri="{FF2B5EF4-FFF2-40B4-BE49-F238E27FC236}">
                <a16:creationId xmlns:a16="http://schemas.microsoft.com/office/drawing/2014/main" id="{F0D4811A-CE5B-47AF-9172-A201047C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29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Ollama launches a harness runtime</a:t>
            </a:r>
          </a:p>
        </p:txBody>
      </p:sp>
      <p:sp>
        <p:nvSpPr>
          <p:cNvPr id="26" name="r4-2">
            <a:extLst xmlns:a="http://schemas.openxmlformats.org/drawingml/2006/main">
              <a:ext uri="{FF2B5EF4-FFF2-40B4-BE49-F238E27FC236}">
                <a16:creationId xmlns:a16="http://schemas.microsoft.com/office/drawing/2014/main" id="{08687558-618C-4C47-827B-34B51EEB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Adoption path, not a scored win unless tested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2092857-A858-4015-A9F2-84A3759C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Ollama Harness Engineering Demo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4D882A7-9042-48BC-9D7F-FF54C956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925513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76831074-1A42-4FD0-A23A-DCB15373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HARNESS ENGINEERING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6F2C4D-9C59-43E7-B5AC-4D5986E4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Fowler’s mental model: guide, sense, steer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93596AE-5EC4-41D1-8D94-79A473B5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acet-0-box">
            <a:extLst xmlns:a="http://schemas.openxmlformats.org/drawingml/2006/main">
              <a:ext uri="{FF2B5EF4-FFF2-40B4-BE49-F238E27FC236}">
                <a16:creationId xmlns:a16="http://schemas.microsoft.com/office/drawing/2014/main" id="{C8AFA51E-A657-4733-AF1B-E87C7D6E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048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facet-0-heading">
            <a:extLst xmlns:a="http://schemas.openxmlformats.org/drawingml/2006/main">
              <a:ext uri="{FF2B5EF4-FFF2-40B4-BE49-F238E27FC236}">
                <a16:creationId xmlns:a16="http://schemas.microsoft.com/office/drawing/2014/main" id="{89C27E51-F5A6-4A6D-9EAA-57A7CCB1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Feedforward guides</a:t>
            </a:r>
          </a:p>
        </p:txBody>
      </p:sp>
      <p:sp>
        <p:nvSpPr>
          <p:cNvPr id="6" name="facet-0-body">
            <a:extLst xmlns:a="http://schemas.openxmlformats.org/drawingml/2006/main">
              <a:ext uri="{FF2B5EF4-FFF2-40B4-BE49-F238E27FC236}">
                <a16:creationId xmlns:a16="http://schemas.microsoft.com/office/drawing/2014/main" id="{BE2AE940-C013-400A-9E61-5C56D246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7051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Before the model acts: constrain context, role, output contract, approved procedures.</a:t>
            </a:r>
          </a:p>
        </p:txBody>
      </p:sp>
      <p:sp>
        <p:nvSpPr>
          <p:cNvPr id="7" name="facet-1-box">
            <a:extLst xmlns:a="http://schemas.openxmlformats.org/drawingml/2006/main">
              <a:ext uri="{FF2B5EF4-FFF2-40B4-BE49-F238E27FC236}">
                <a16:creationId xmlns:a16="http://schemas.microsoft.com/office/drawing/2014/main" id="{89EC1AEC-1FC1-4C65-AC68-38190A1D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048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facet-1-heading">
            <a:extLst xmlns:a="http://schemas.openxmlformats.org/drawingml/2006/main">
              <a:ext uri="{FF2B5EF4-FFF2-40B4-BE49-F238E27FC236}">
                <a16:creationId xmlns:a16="http://schemas.microsoft.com/office/drawing/2014/main" id="{D6808D0C-52C8-4963-861F-82BCBFDE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241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Feedback sensors</a:t>
            </a:r>
          </a:p>
        </p:txBody>
      </p:sp>
      <p:sp>
        <p:nvSpPr>
          <p:cNvPr id="9" name="facet-1-body">
            <a:extLst xmlns:a="http://schemas.openxmlformats.org/drawingml/2006/main">
              <a:ext uri="{FF2B5EF4-FFF2-40B4-BE49-F238E27FC236}">
                <a16:creationId xmlns:a16="http://schemas.microsoft.com/office/drawing/2014/main" id="{CA422AA0-40F7-4BFB-8827-0CEB68A9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27051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After the model acts: inspect output, produce actionable signals, catch drift and unsafe steps.</a:t>
            </a:r>
          </a:p>
        </p:txBody>
      </p:sp>
      <p:sp>
        <p:nvSpPr>
          <p:cNvPr id="10" name="facet-2-box">
            <a:extLst xmlns:a="http://schemas.openxmlformats.org/drawingml/2006/main">
              <a:ext uri="{FF2B5EF4-FFF2-40B4-BE49-F238E27FC236}">
                <a16:creationId xmlns:a16="http://schemas.microsoft.com/office/drawing/2014/main" id="{FBE0A357-0D21-488A-B380-4092096A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3048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facet-2-heading">
            <a:extLst xmlns:a="http://schemas.openxmlformats.org/drawingml/2006/main">
              <a:ext uri="{FF2B5EF4-FFF2-40B4-BE49-F238E27FC236}">
                <a16:creationId xmlns:a16="http://schemas.microsoft.com/office/drawing/2014/main" id="{F309BE63-E0ED-4D09-9318-FA5FCC5A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Steering loop</a:t>
            </a:r>
          </a:p>
        </p:txBody>
      </p:sp>
      <p:sp>
        <p:nvSpPr>
          <p:cNvPr id="12" name="facet-2-body">
            <a:extLst xmlns:a="http://schemas.openxmlformats.org/drawingml/2006/main">
              <a:ext uri="{FF2B5EF4-FFF2-40B4-BE49-F238E27FC236}">
                <a16:creationId xmlns:a16="http://schemas.microsoft.com/office/drawing/2014/main" id="{638249B3-1C10-4FCA-8D59-A798AFE3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7051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When sensors find misses, improve prompts, tools, rules, memory, and repair paths.</a:t>
            </a:r>
          </a:p>
        </p:txBody>
      </p:sp>
      <p:sp>
        <p:nvSpPr>
          <p:cNvPr id="13" name="bottom">
            <a:extLst xmlns:a="http://schemas.openxmlformats.org/drawingml/2006/main">
              <a:ext uri="{FF2B5EF4-FFF2-40B4-BE49-F238E27FC236}">
                <a16:creationId xmlns:a16="http://schemas.microsoft.com/office/drawing/2014/main" id="{FC9A3DC2-8C71-4DAC-B59B-7A1CD0AA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Separately, each piece is incomplete. Together, they create a control system around a non-deterministic model.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13BBBF8-AA45-46F1-B8B5-173EE3DE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Ollama Harness Engineering Demo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7E7AA95-FF2B-4DD5-AD16-E8ACDA0D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1088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93B02607-F0E4-4E5D-873B-59305B11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HARNESS ENGINEERING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9F0292-2A41-46F1-A968-522434B5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Feedforward guides make the first answer more likely to be usable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0CD316E-7935-4B49-A13A-73673669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toy-box">
            <a:extLst xmlns:a="http://schemas.openxmlformats.org/drawingml/2006/main">
              <a:ext uri="{FF2B5EF4-FFF2-40B4-BE49-F238E27FC236}">
                <a16:creationId xmlns:a16="http://schemas.microsoft.com/office/drawing/2014/main" id="{CE62789F-F39B-4D21-A771-D21BA2CB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42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toy-heading">
            <a:extLst xmlns:a="http://schemas.openxmlformats.org/drawingml/2006/main">
              <a:ext uri="{FF2B5EF4-FFF2-40B4-BE49-F238E27FC236}">
                <a16:creationId xmlns:a16="http://schemas.microsoft.com/office/drawing/2014/main" id="{599C123B-6BE1-46EB-960E-B89137EF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Toy guide</a:t>
            </a:r>
          </a:p>
        </p:txBody>
      </p:sp>
      <p:sp>
        <p:nvSpPr>
          <p:cNvPr id="6" name="toy-body">
            <a:extLst xmlns:a="http://schemas.openxmlformats.org/drawingml/2006/main">
              <a:ext uri="{FF2B5EF4-FFF2-40B4-BE49-F238E27FC236}">
                <a16:creationId xmlns:a16="http://schemas.microsoft.com/office/drawing/2014/main" id="{8325C727-73BD-4B43-8C85-7087813E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3086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 tiny contract prevents broad, risky answers before generation.</a:t>
            </a:r>
          </a:p>
        </p:txBody>
      </p:sp>
      <p:sp>
        <p:nvSpPr>
          <p:cNvPr id="7" name="toy-code-box">
            <a:extLst xmlns:a="http://schemas.openxmlformats.org/drawingml/2006/main">
              <a:ext uri="{FF2B5EF4-FFF2-40B4-BE49-F238E27FC236}">
                <a16:creationId xmlns:a16="http://schemas.microsoft.com/office/drawing/2014/main" id="{92D310B2-F36A-4ABC-91C9-480BE231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429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toy-code">
            <a:extLst xmlns:a="http://schemas.openxmlformats.org/drawingml/2006/main">
              <a:ext uri="{FF2B5EF4-FFF2-40B4-BE49-F238E27FC236}">
                <a16:creationId xmlns:a16="http://schemas.microsoft.com/office/drawing/2014/main" id="{CFB96092-F029-4D4A-B2E0-BCDAD140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31242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Return JSON with: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- likely_cause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- evidence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- safe_next_action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Forbidden: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- restart pods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- disable payments</a:t>
            </a:r>
          </a:p>
        </p:txBody>
      </p:sp>
      <p:sp>
        <p:nvSpPr>
          <p:cNvPr id="9" name="repo-box">
            <a:extLst xmlns:a="http://schemas.openxmlformats.org/drawingml/2006/main">
              <a:ext uri="{FF2B5EF4-FFF2-40B4-BE49-F238E27FC236}">
                <a16:creationId xmlns:a16="http://schemas.microsoft.com/office/drawing/2014/main" id="{6F7D7D84-2F25-4470-94DA-B79C105C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38350"/>
            <a:ext cx="609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repo-heading">
            <a:extLst xmlns:a="http://schemas.openxmlformats.org/drawingml/2006/main">
              <a:ext uri="{FF2B5EF4-FFF2-40B4-BE49-F238E27FC236}">
                <a16:creationId xmlns:a16="http://schemas.microsoft.com/office/drawing/2014/main" id="{41874D60-BE73-4A2D-B951-7FFCA854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90750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Our code</a:t>
            </a:r>
          </a:p>
        </p:txBody>
      </p:sp>
      <p:sp>
        <p:nvSpPr>
          <p:cNvPr id="11" name="repo-body">
            <a:extLst xmlns:a="http://schemas.openxmlformats.org/drawingml/2006/main">
              <a:ext uri="{FF2B5EF4-FFF2-40B4-BE49-F238E27FC236}">
                <a16:creationId xmlns:a16="http://schemas.microsoft.com/office/drawing/2014/main" id="{A9FDCD20-A824-4B24-9B64-D2AFAAC1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52700"/>
            <a:ext cx="575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The planner receives required fields, shared memory, and forbidden actions as structured input.</a:t>
            </a:r>
          </a:p>
        </p:txBody>
      </p:sp>
      <p:sp>
        <p:nvSpPr>
          <p:cNvPr id="12" name="repo-code-box">
            <a:extLst xmlns:a="http://schemas.openxmlformats.org/drawingml/2006/main">
              <a:ext uri="{FF2B5EF4-FFF2-40B4-BE49-F238E27FC236}">
                <a16:creationId xmlns:a16="http://schemas.microsoft.com/office/drawing/2014/main" id="{268FFC41-6DAC-441C-8946-D66830AA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6150"/>
            <a:ext cx="6096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repo-code">
            <a:extLst xmlns:a="http://schemas.openxmlformats.org/drawingml/2006/main">
              <a:ext uri="{FF2B5EF4-FFF2-40B4-BE49-F238E27FC236}">
                <a16:creationId xmlns:a16="http://schemas.microsoft.com/office/drawing/2014/main" id="{E3F5DBA7-B15E-4A7F-98E6-28BDA77A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19500"/>
            <a:ext cx="57912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planner_input = {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"incident": scenario.incident,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"shared_memory": asdict(memory),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"required_output_fields": scenario.expected["required_final_plan_fields"],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"forbidden_actions": scenario.expected["forbidden_actions"],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}</a:t>
            </a:r>
          </a:p>
        </p:txBody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939E50B-7D27-45AD-BB2A-2D36C81D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Ollama Harness Engineering Demo</a:t>
            </a:r>
          </a:p>
        </p:txBody>
      </p:sp>
      <p:sp>
        <p:nvSpPr>
          <p:cNvPr id="1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96AF968-A8F2-4078-A312-CDD688F8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8259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9DC866C-D2E3-4E20-BC6F-71F28FDE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HARNESS ENGINEERING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BBD2FD-28A5-4E8A-818D-6D3C917E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Feedback sensors turn output quality into something measurable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13DE0D4-8655-4CD1-BAAC-BF9DA705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ensor-code-box">
            <a:extLst xmlns:a="http://schemas.openxmlformats.org/drawingml/2006/main">
              <a:ext uri="{FF2B5EF4-FFF2-40B4-BE49-F238E27FC236}">
                <a16:creationId xmlns:a16="http://schemas.microsoft.com/office/drawing/2014/main" id="{744F35D8-81D1-48AE-A7D3-EDC0AEA2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334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ensor-code">
            <a:extLst xmlns:a="http://schemas.openxmlformats.org/drawingml/2006/main">
              <a:ext uri="{FF2B5EF4-FFF2-40B4-BE49-F238E27FC236}">
                <a16:creationId xmlns:a16="http://schemas.microsoft.com/office/drawing/2014/main" id="{CC55ED15-1928-4DAC-AB5F-63824F96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5029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checks = {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"evidence": evidence_ok,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"runbook": runbook_ok,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"safety": safety_ok,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"memory": memory_ok,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"completeness": completeness_ok,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}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score = sum(weights[name] for name, passed in checks.items() if passed)</a:t>
            </a:r>
          </a:p>
        </p:txBody>
      </p:sp>
      <p:sp>
        <p:nvSpPr>
          <p:cNvPr id="6" name="meaning-box">
            <a:extLst xmlns:a="http://schemas.openxmlformats.org/drawingml/2006/main">
              <a:ext uri="{FF2B5EF4-FFF2-40B4-BE49-F238E27FC236}">
                <a16:creationId xmlns:a16="http://schemas.microsoft.com/office/drawing/2014/main" id="{CDB86DCD-6D2B-435F-9C6C-C414D5B6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00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meaning-heading">
            <a:extLst xmlns:a="http://schemas.openxmlformats.org/drawingml/2006/main">
              <a:ext uri="{FF2B5EF4-FFF2-40B4-BE49-F238E27FC236}">
                <a16:creationId xmlns:a16="http://schemas.microsoft.com/office/drawing/2014/main" id="{3E6E43DE-D477-4363-999E-DD5D6041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47900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Management meaning</a:t>
            </a:r>
          </a:p>
        </p:txBody>
      </p:sp>
      <p:sp>
        <p:nvSpPr>
          <p:cNvPr id="8" name="meaning-body">
            <a:extLst xmlns:a="http://schemas.openxmlformats.org/drawingml/2006/main">
              <a:ext uri="{FF2B5EF4-FFF2-40B4-BE49-F238E27FC236}">
                <a16:creationId xmlns:a16="http://schemas.microsoft.com/office/drawing/2014/main" id="{FF5976D6-9C78-449A-B296-8870B42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09850"/>
            <a:ext cx="3657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The score is not a vibe check. It is a deterministic contract over evidence, policy, safety, memory, and required fields.</a:t>
            </a:r>
          </a:p>
        </p:txBody>
      </p:sp>
      <p:sp>
        <p:nvSpPr>
          <p:cNvPr id="9" name="callout">
            <a:extLst xmlns:a="http://schemas.openxmlformats.org/drawingml/2006/main">
              <a:ext uri="{FF2B5EF4-FFF2-40B4-BE49-F238E27FC236}">
                <a16:creationId xmlns:a16="http://schemas.microsoft.com/office/drawing/2014/main" id="{2416B32E-F7FE-4ADB-89D9-EEC0C4B8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A fluent answer can still fail the harness.</a:t>
            </a:r>
          </a:p>
        </p:txBody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9EF865-C3C1-4482-91E4-DBE31EEC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Ollama Harness Engineering Demo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DC57A90-4F9F-4805-8AB8-1E6F6CA5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33632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3722ED7-6585-4194-BBB8-813478D3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HARNESS ENGINEERING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EA8B3D-EE13-4453-BAE6-C571E97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Computational controls decide; inferential controls explain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D492290-0AE4-4FCB-8923-A6CA8E29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comp-box">
            <a:extLst xmlns:a="http://schemas.openxmlformats.org/drawingml/2006/main">
              <a:ext uri="{FF2B5EF4-FFF2-40B4-BE49-F238E27FC236}">
                <a16:creationId xmlns:a16="http://schemas.microsoft.com/office/drawing/2014/main" id="{DAABFD47-76B4-4DA8-81CC-297E6628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286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comp-heading">
            <a:extLst xmlns:a="http://schemas.openxmlformats.org/drawingml/2006/main">
              <a:ext uri="{FF2B5EF4-FFF2-40B4-BE49-F238E27FC236}">
                <a16:creationId xmlns:a16="http://schemas.microsoft.com/office/drawing/2014/main" id="{8BBD0CF2-FD06-48DF-BA50-250374AE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Computational</a:t>
            </a:r>
          </a:p>
        </p:txBody>
      </p:sp>
      <p:sp>
        <p:nvSpPr>
          <p:cNvPr id="6" name="comp-body">
            <a:extLst xmlns:a="http://schemas.openxmlformats.org/drawingml/2006/main">
              <a:ext uri="{FF2B5EF4-FFF2-40B4-BE49-F238E27FC236}">
                <a16:creationId xmlns:a16="http://schemas.microsoft.com/office/drawing/2014/main" id="{946272F9-47E0-44F6-B11A-11516719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39433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Fast, deterministic, cheap enough to run every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In our demo: rule engine and score weights.</a:t>
            </a:r>
          </a:p>
        </p:txBody>
      </p:sp>
      <p:sp>
        <p:nvSpPr>
          <p:cNvPr id="7" name="infer-box">
            <a:extLst xmlns:a="http://schemas.openxmlformats.org/drawingml/2006/main">
              <a:ext uri="{FF2B5EF4-FFF2-40B4-BE49-F238E27FC236}">
                <a16:creationId xmlns:a16="http://schemas.microsoft.com/office/drawing/2014/main" id="{D5CD9128-87EA-4F4B-AB80-33E2B687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4286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infer-heading">
            <a:extLst xmlns:a="http://schemas.openxmlformats.org/drawingml/2006/main">
              <a:ext uri="{FF2B5EF4-FFF2-40B4-BE49-F238E27FC236}">
                <a16:creationId xmlns:a16="http://schemas.microsoft.com/office/drawing/2014/main" id="{9ABC5491-A664-4C79-A8D5-FA0D4E75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Inferential</a:t>
            </a:r>
          </a:p>
        </p:txBody>
      </p:sp>
      <p:sp>
        <p:nvSpPr>
          <p:cNvPr id="9" name="infer-body">
            <a:extLst xmlns:a="http://schemas.openxmlformats.org/drawingml/2006/main">
              <a:ext uri="{FF2B5EF4-FFF2-40B4-BE49-F238E27FC236}">
                <a16:creationId xmlns:a16="http://schemas.microsoft.com/office/drawing/2014/main" id="{5BB461BE-136D-405B-A4B6-7F0EF0B7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39433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Semantic, useful, but non-deterministic.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In our demo: Ollama only polishes the rule findings.</a:t>
            </a:r>
          </a:p>
        </p:txBody>
      </p:sp>
      <p:sp>
        <p:nvSpPr>
          <p:cNvPr id="10" name="principle">
            <a:extLst xmlns:a="http://schemas.openxmlformats.org/drawingml/2006/main">
              <a:ext uri="{FF2B5EF4-FFF2-40B4-BE49-F238E27FC236}">
                <a16:creationId xmlns:a16="http://schemas.microsoft.com/office/drawing/2014/main" id="{D3FF176D-192B-4776-B066-F5302256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We do not let the summarizer change the score.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63D924E-BC3F-4834-AAC7-F6F98707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Ollama Harness Engineering Demo</a:t>
            </a:r>
          </a:p>
        </p:txBody>
      </p:sp>
      <p:sp>
        <p:nvSpPr>
          <p:cNvPr id="1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07CDC6F-3740-4BAE-B289-AF74E42D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69086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987EF246-A04E-4A85-899C-FA8C29DA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HARNESS ENGINEERING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66BF0E-12FF-415B-AFF0-3AA1BE92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Governed shared memory is different from a scratchpad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91A78C-F902-402F-81D2-063F5718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memory-code-box">
            <a:extLst xmlns:a="http://schemas.openxmlformats.org/drawingml/2006/main">
              <a:ext uri="{FF2B5EF4-FFF2-40B4-BE49-F238E27FC236}">
                <a16:creationId xmlns:a16="http://schemas.microsoft.com/office/drawing/2014/main" id="{B5FD70DD-D331-4AC9-A672-AA5C7428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memory-code">
            <a:extLst xmlns:a="http://schemas.openxmlformats.org/drawingml/2006/main">
              <a:ext uri="{FF2B5EF4-FFF2-40B4-BE49-F238E27FC236}">
                <a16:creationId xmlns:a16="http://schemas.microsoft.com/office/drawing/2014/main" id="{CE21D063-C200-4B9C-BEA7-D6AB974E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44577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class SharedMemory: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incident_facts: dict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evidence: list[str]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runbook_steps: list[str]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prior_lessons: list[str]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reviewer_objections: list[str]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  final_plan: dict</a:t>
            </a:r>
          </a:p>
        </p:txBody>
      </p:sp>
      <p:sp>
        <p:nvSpPr>
          <p:cNvPr id="6" name="scratchpad-box">
            <a:extLst xmlns:a="http://schemas.openxmlformats.org/drawingml/2006/main">
              <a:ext uri="{FF2B5EF4-FFF2-40B4-BE49-F238E27FC236}">
                <a16:creationId xmlns:a16="http://schemas.microsoft.com/office/drawing/2014/main" id="{53278389-8981-4AE7-A36F-3113F89D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095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scratchpad-heading">
            <a:extLst xmlns:a="http://schemas.openxmlformats.org/drawingml/2006/main">
              <a:ext uri="{FF2B5EF4-FFF2-40B4-BE49-F238E27FC236}">
                <a16:creationId xmlns:a16="http://schemas.microsoft.com/office/drawing/2014/main" id="{5D5EA6ED-C272-49D6-969E-AAAFF11E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Weak harness</a:t>
            </a:r>
          </a:p>
        </p:txBody>
      </p:sp>
      <p:sp>
        <p:nvSpPr>
          <p:cNvPr id="8" name="scratchpad-body">
            <a:extLst xmlns:a="http://schemas.openxmlformats.org/drawingml/2006/main">
              <a:ext uri="{FF2B5EF4-FFF2-40B4-BE49-F238E27FC236}">
                <a16:creationId xmlns:a16="http://schemas.microsoft.com/office/drawing/2014/main" id="{93E00505-EAD0-4274-8259-37E5097F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3752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 shared scratchpad lets agents pass notes, but it does not prove source, completeness, or policy compliance.</a:t>
            </a:r>
          </a:p>
        </p:txBody>
      </p:sp>
      <p:sp>
        <p:nvSpPr>
          <p:cNvPr id="9" name="governed-box">
            <a:extLst xmlns:a="http://schemas.openxmlformats.org/drawingml/2006/main">
              <a:ext uri="{FF2B5EF4-FFF2-40B4-BE49-F238E27FC236}">
                <a16:creationId xmlns:a16="http://schemas.microsoft.com/office/drawing/2014/main" id="{01080094-2B81-43D3-A60F-91478DC5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governed-heading">
            <a:extLst xmlns:a="http://schemas.openxmlformats.org/drawingml/2006/main">
              <a:ext uri="{FF2B5EF4-FFF2-40B4-BE49-F238E27FC236}">
                <a16:creationId xmlns:a16="http://schemas.microsoft.com/office/drawing/2014/main" id="{59F19E22-D1C3-4658-B759-CB5FE659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Strong harness</a:t>
            </a:r>
          </a:p>
        </p:txBody>
      </p:sp>
      <p:sp>
        <p:nvSpPr>
          <p:cNvPr id="11" name="governed-body">
            <a:extLst xmlns:a="http://schemas.openxmlformats.org/drawingml/2006/main">
              <a:ext uri="{FF2B5EF4-FFF2-40B4-BE49-F238E27FC236}">
                <a16:creationId xmlns:a16="http://schemas.microsoft.com/office/drawing/2014/main" id="{DB3DAA56-1F71-4A3D-8868-83488C2C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3752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Typed memory lets the reviewer and scorer check whether evidence, runbook, and lessons actually reached the plan.</a:t>
            </a:r>
          </a:p>
        </p:txBody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4D08C0A-29C7-4907-A7AC-25B03B3E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Ollama Harness Engineering Demo</a:t>
            </a:r>
          </a:p>
        </p:txBody>
      </p:sp>
      <p:sp>
        <p:nvSpPr>
          <p:cNvPr id="1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3EA3E14-2A9E-4D23-9692-B36F37CE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134333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89DBBDA0-4077-48FF-B423-705F53DA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HARNESS ENGINEERING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D836C9-921D-4FB7-8EC0-7C449275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Our custom harness is a role-specialized multi-agent workflow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82E3B7-CC0C-47D3-B1BF-B65E674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role-0">
            <a:extLst xmlns:a="http://schemas.openxmlformats.org/drawingml/2006/main">
              <a:ext uri="{FF2B5EF4-FFF2-40B4-BE49-F238E27FC236}">
                <a16:creationId xmlns:a16="http://schemas.microsoft.com/office/drawing/2014/main" id="{FDCD9A37-23F3-421C-8F0D-C1A3F9F2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role-h-0">
            <a:extLst xmlns:a="http://schemas.openxmlformats.org/drawingml/2006/main">
              <a:ext uri="{FF2B5EF4-FFF2-40B4-BE49-F238E27FC236}">
                <a16:creationId xmlns:a16="http://schemas.microsoft.com/office/drawing/2014/main" id="{22598E1A-B127-41BF-9863-11FCC4DE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Log investigator</a:t>
            </a:r>
          </a:p>
        </p:txBody>
      </p:sp>
      <p:sp>
        <p:nvSpPr>
          <p:cNvPr id="6" name="role-b-0">
            <a:extLst xmlns:a="http://schemas.openxmlformats.org/drawingml/2006/main">
              <a:ext uri="{FF2B5EF4-FFF2-40B4-BE49-F238E27FC236}">
                <a16:creationId xmlns:a16="http://schemas.microsoft.com/office/drawing/2014/main" id="{30389891-8321-450C-A9DC-CC7917B8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Evidence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3E3959AA-F18F-410D-993F-FEBC62A9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8" name="role-1">
            <a:extLst xmlns:a="http://schemas.openxmlformats.org/drawingml/2006/main">
              <a:ext uri="{FF2B5EF4-FFF2-40B4-BE49-F238E27FC236}">
                <a16:creationId xmlns:a16="http://schemas.microsoft.com/office/drawing/2014/main" id="{D993BE13-6C1F-4864-B6E3-9F8AD6F8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role-h-1">
            <a:extLst xmlns:a="http://schemas.openxmlformats.org/drawingml/2006/main">
              <a:ext uri="{FF2B5EF4-FFF2-40B4-BE49-F238E27FC236}">
                <a16:creationId xmlns:a16="http://schemas.microsoft.com/office/drawing/2014/main" id="{7ED1FAD7-BC28-4082-9AF3-58D86096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9555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Runbook agent</a:t>
            </a:r>
          </a:p>
        </p:txBody>
      </p:sp>
      <p:sp>
        <p:nvSpPr>
          <p:cNvPr id="10" name="role-b-1">
            <a:extLst xmlns:a="http://schemas.openxmlformats.org/drawingml/2006/main">
              <a:ext uri="{FF2B5EF4-FFF2-40B4-BE49-F238E27FC236}">
                <a16:creationId xmlns:a16="http://schemas.microsoft.com/office/drawing/2014/main" id="{C60FFB37-DAA0-4F0C-8776-AC7F6BA2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28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Approved steps</a:t>
            </a:r>
          </a:p>
        </p:txBody>
      </p:sp>
      <p:sp>
        <p:nvSpPr>
          <p:cNvPr id="11" name="arrow-1">
            <a:extLst xmlns:a="http://schemas.openxmlformats.org/drawingml/2006/main">
              <a:ext uri="{FF2B5EF4-FFF2-40B4-BE49-F238E27FC236}">
                <a16:creationId xmlns:a16="http://schemas.microsoft.com/office/drawing/2014/main" id="{294761BD-7CE3-4977-A66F-EE22ECD0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2415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2" name="role-2">
            <a:extLst xmlns:a="http://schemas.openxmlformats.org/drawingml/2006/main">
              <a:ext uri="{FF2B5EF4-FFF2-40B4-BE49-F238E27FC236}">
                <a16:creationId xmlns:a16="http://schemas.microsoft.com/office/drawing/2014/main" id="{4046DE22-CA1C-4A79-9B0B-4C9825F1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role-h-2">
            <a:extLst xmlns:a="http://schemas.openxmlformats.org/drawingml/2006/main">
              <a:ext uri="{FF2B5EF4-FFF2-40B4-BE49-F238E27FC236}">
                <a16:creationId xmlns:a16="http://schemas.microsoft.com/office/drawing/2014/main" id="{D3E9512F-5486-451F-AD94-AA1A11CD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9555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Memory agent</a:t>
            </a:r>
          </a:p>
        </p:txBody>
      </p:sp>
      <p:sp>
        <p:nvSpPr>
          <p:cNvPr id="14" name="role-b-2">
            <a:extLst xmlns:a="http://schemas.openxmlformats.org/drawingml/2006/main">
              <a:ext uri="{FF2B5EF4-FFF2-40B4-BE49-F238E27FC236}">
                <a16:creationId xmlns:a16="http://schemas.microsoft.com/office/drawing/2014/main" id="{07A40CD1-97D9-4522-8298-2FC8F7D5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28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Prior lessons</a:t>
            </a:r>
          </a:p>
        </p:txBody>
      </p:sp>
      <p:sp>
        <p:nvSpPr>
          <p:cNvPr id="15" name="arrow-2">
            <a:extLst xmlns:a="http://schemas.openxmlformats.org/drawingml/2006/main">
              <a:ext uri="{FF2B5EF4-FFF2-40B4-BE49-F238E27FC236}">
                <a16:creationId xmlns:a16="http://schemas.microsoft.com/office/drawing/2014/main" id="{6466AE52-0160-4AE4-AAA9-45359DDB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2415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16" name="role-3">
            <a:extLst xmlns:a="http://schemas.openxmlformats.org/drawingml/2006/main">
              <a:ext uri="{FF2B5EF4-FFF2-40B4-BE49-F238E27FC236}">
                <a16:creationId xmlns:a16="http://schemas.microsoft.com/office/drawing/2014/main" id="{DABF8C89-8D1A-4A55-AE28-380B2F78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431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role-h-3">
            <a:extLst xmlns:a="http://schemas.openxmlformats.org/drawingml/2006/main">
              <a:ext uri="{FF2B5EF4-FFF2-40B4-BE49-F238E27FC236}">
                <a16:creationId xmlns:a16="http://schemas.microsoft.com/office/drawing/2014/main" id="{5F6C95C4-DDB3-4199-A8D7-F2D8C11F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Planner agent</a:t>
            </a:r>
          </a:p>
        </p:txBody>
      </p:sp>
      <p:sp>
        <p:nvSpPr>
          <p:cNvPr id="18" name="role-b-3">
            <a:extLst xmlns:a="http://schemas.openxmlformats.org/drawingml/2006/main">
              <a:ext uri="{FF2B5EF4-FFF2-40B4-BE49-F238E27FC236}">
                <a16:creationId xmlns:a16="http://schemas.microsoft.com/office/drawing/2014/main" id="{5429F947-7D9A-4778-8086-79C8AE5E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Final plan</a:t>
            </a:r>
          </a:p>
        </p:txBody>
      </p:sp>
      <p:sp>
        <p:nvSpPr>
          <p:cNvPr id="19" name="arrow-3">
            <a:extLst xmlns:a="http://schemas.openxmlformats.org/drawingml/2006/main">
              <a:ext uri="{FF2B5EF4-FFF2-40B4-BE49-F238E27FC236}">
                <a16:creationId xmlns:a16="http://schemas.microsoft.com/office/drawing/2014/main" id="{EF17E030-5E86-4682-BF37-9CB69F75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2415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0" name="role-4">
            <a:extLst xmlns:a="http://schemas.openxmlformats.org/drawingml/2006/main">
              <a:ext uri="{FF2B5EF4-FFF2-40B4-BE49-F238E27FC236}">
                <a16:creationId xmlns:a16="http://schemas.microsoft.com/office/drawing/2014/main" id="{CDE035F3-3EFA-4B69-9C4E-9AA06AFA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1" name="role-h-4">
            <a:extLst xmlns:a="http://schemas.openxmlformats.org/drawingml/2006/main">
              <a:ext uri="{FF2B5EF4-FFF2-40B4-BE49-F238E27FC236}">
                <a16:creationId xmlns:a16="http://schemas.microsoft.com/office/drawing/2014/main" id="{C9D8C32D-76FA-40C0-8DA2-D62C8BC1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Reviewer</a:t>
            </a:r>
          </a:p>
        </p:txBody>
      </p:sp>
      <p:sp>
        <p:nvSpPr>
          <p:cNvPr id="22" name="role-b-4">
            <a:extLst xmlns:a="http://schemas.openxmlformats.org/drawingml/2006/main">
              <a:ext uri="{FF2B5EF4-FFF2-40B4-BE49-F238E27FC236}">
                <a16:creationId xmlns:a16="http://schemas.microsoft.com/office/drawing/2014/main" id="{6ED3A7EF-A7B5-4F02-989D-F4B6BAC2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Objections</a:t>
            </a:r>
          </a:p>
        </p:txBody>
      </p:sp>
      <p:sp>
        <p:nvSpPr>
          <p:cNvPr id="23" name="arrow-4">
            <a:extLst xmlns:a="http://schemas.openxmlformats.org/drawingml/2006/main">
              <a:ext uri="{FF2B5EF4-FFF2-40B4-BE49-F238E27FC236}">
                <a16:creationId xmlns:a16="http://schemas.microsoft.com/office/drawing/2014/main" id="{B816FEEA-0905-4043-AC26-B96117F3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2415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4" name="role-5">
            <a:extLst xmlns:a="http://schemas.openxmlformats.org/drawingml/2006/main">
              <a:ext uri="{FF2B5EF4-FFF2-40B4-BE49-F238E27FC236}">
                <a16:creationId xmlns:a16="http://schemas.microsoft.com/office/drawing/2014/main" id="{79E55929-84B8-41F1-B598-5DE9A424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role-h-5">
            <a:extLst xmlns:a="http://schemas.openxmlformats.org/drawingml/2006/main">
              <a:ext uri="{FF2B5EF4-FFF2-40B4-BE49-F238E27FC236}">
                <a16:creationId xmlns:a16="http://schemas.microsoft.com/office/drawing/2014/main" id="{9BB62F07-EB09-4522-8B17-C0941937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9555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Repair agent</a:t>
            </a:r>
          </a:p>
        </p:txBody>
      </p:sp>
      <p:sp>
        <p:nvSpPr>
          <p:cNvPr id="26" name="role-b-5">
            <a:extLst xmlns:a="http://schemas.openxmlformats.org/drawingml/2006/main">
              <a:ext uri="{FF2B5EF4-FFF2-40B4-BE49-F238E27FC236}">
                <a16:creationId xmlns:a16="http://schemas.microsoft.com/office/drawing/2014/main" id="{4B639048-9998-4BAD-89E2-A00CDA96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289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Revised plan</a:t>
            </a:r>
          </a:p>
        </p:txBody>
      </p:sp>
      <p:sp>
        <p:nvSpPr>
          <p:cNvPr id="27" name="truth">
            <a:extLst xmlns:a="http://schemas.openxmlformats.org/drawingml/2006/main">
              <a:ext uri="{FF2B5EF4-FFF2-40B4-BE49-F238E27FC236}">
                <a16:creationId xmlns:a16="http://schemas.microsoft.com/office/drawing/2014/main" id="{F29AD4AF-4161-4274-B967-0A31FABB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720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This is deliberate orchestration, not free-form agent theater.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B227970-A0B1-4BCC-A4BC-23FC3BA5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Ollama Harness Engineering Demo</a:t>
            </a:r>
          </a:p>
        </p:txBody>
      </p:sp>
      <p:sp>
        <p:nvSpPr>
          <p:cNvPr id="2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F7D87BC-A6FB-4372-8FFF-A87F7F9F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15031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71DADFB1-8687-449E-8343-7B519E35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HARNESS ENGINEERING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3EACB2-5AFF-433E-822E-342E6E02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Strands makes the same pattern easier to adopt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C93770A-CCB9-458D-9C50-A325E0AF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custom-box">
            <a:extLst xmlns:a="http://schemas.openxmlformats.org/drawingml/2006/main">
              <a:ext uri="{FF2B5EF4-FFF2-40B4-BE49-F238E27FC236}">
                <a16:creationId xmlns:a16="http://schemas.microsoft.com/office/drawing/2014/main" id="{C17FCEDE-E118-4E8C-9E74-1DBB25B4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095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custom-heading">
            <a:extLst xmlns:a="http://schemas.openxmlformats.org/drawingml/2006/main">
              <a:ext uri="{FF2B5EF4-FFF2-40B4-BE49-F238E27FC236}">
                <a16:creationId xmlns:a16="http://schemas.microsoft.com/office/drawing/2014/main" id="{4A495948-D8F2-40A5-8F41-36B673DC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Hand-built</a:t>
            </a:r>
          </a:p>
        </p:txBody>
      </p:sp>
      <p:sp>
        <p:nvSpPr>
          <p:cNvPr id="6" name="custom-body">
            <a:extLst xmlns:a="http://schemas.openxmlformats.org/drawingml/2006/main">
              <a:ext uri="{FF2B5EF4-FFF2-40B4-BE49-F238E27FC236}">
                <a16:creationId xmlns:a16="http://schemas.microsoft.com/office/drawing/2014/main" id="{EA3AE4A0-E0EE-4234-B9D9-71A28787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3752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We wrote the roles, memory, reviewer, repair loop, and deterministic scoring ourselves.</a:t>
            </a:r>
          </a:p>
        </p:txBody>
      </p:sp>
      <p:sp>
        <p:nvSpPr>
          <p:cNvPr id="7" name="strands-box">
            <a:extLst xmlns:a="http://schemas.openxmlformats.org/drawingml/2006/main">
              <a:ext uri="{FF2B5EF4-FFF2-40B4-BE49-F238E27FC236}">
                <a16:creationId xmlns:a16="http://schemas.microsoft.com/office/drawing/2014/main" id="{852E892D-7D9E-4AC3-A9C3-8EF7EADD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33600"/>
            <a:ext cx="4095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strands-heading">
            <a:extLst xmlns:a="http://schemas.openxmlformats.org/drawingml/2006/main">
              <a:ext uri="{FF2B5EF4-FFF2-40B4-BE49-F238E27FC236}">
                <a16:creationId xmlns:a16="http://schemas.microsoft.com/office/drawing/2014/main" id="{EA017597-645D-4988-AFE6-C0CA86CF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86000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Strands</a:t>
            </a:r>
          </a:p>
        </p:txBody>
      </p:sp>
      <p:sp>
        <p:nvSpPr>
          <p:cNvPr id="9" name="strands-body">
            <a:extLst xmlns:a="http://schemas.openxmlformats.org/drawingml/2006/main">
              <a:ext uri="{FF2B5EF4-FFF2-40B4-BE49-F238E27FC236}">
                <a16:creationId xmlns:a16="http://schemas.microsoft.com/office/drawing/2014/main" id="{437135E7-3823-41AE-A66E-84CB94CA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47950"/>
            <a:ext cx="3752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We rebuild the role split with SDK agents: log, runbook, memory, and planner agents with scoped tools.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C45DF3FE-1493-441D-9C09-F654CCD9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Fair comparison requires the same incident task and the same deterministic evaluator.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48B9135-5C4F-4A32-9A13-67A35AC4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Ollama Harness Engineering Demo</a:t>
            </a:r>
          </a:p>
        </p:txBody>
      </p:sp>
      <p:sp>
        <p:nvSpPr>
          <p:cNvPr id="1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33B4B26-DEF8-4954-8B31-BBFD91F2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7632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BD259404-FC17-42F4-BF96-023D144B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HARNESS ENGINEERING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872B60-DD06-42E1-82B3-31F57772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The decision is not model shopping; it is harness maturity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D62DEA6-704A-4590-BEC8-7E40A9DF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next-0-box">
            <a:extLst xmlns:a="http://schemas.openxmlformats.org/drawingml/2006/main">
              <a:ext uri="{FF2B5EF4-FFF2-40B4-BE49-F238E27FC236}">
                <a16:creationId xmlns:a16="http://schemas.microsoft.com/office/drawing/2014/main" id="{F522D222-EE0E-479A-8001-1D14BBFA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next-0-heading">
            <a:extLst xmlns:a="http://schemas.openxmlformats.org/drawingml/2006/main">
              <a:ext uri="{FF2B5EF4-FFF2-40B4-BE49-F238E27FC236}">
                <a16:creationId xmlns:a16="http://schemas.microsoft.com/office/drawing/2014/main" id="{8DB72D21-809C-45E0-99E2-8158A087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Reusable guides</a:t>
            </a:r>
          </a:p>
        </p:txBody>
      </p:sp>
      <p:sp>
        <p:nvSpPr>
          <p:cNvPr id="6" name="next-0-body">
            <a:extLst xmlns:a="http://schemas.openxmlformats.org/drawingml/2006/main">
              <a:ext uri="{FF2B5EF4-FFF2-40B4-BE49-F238E27FC236}">
                <a16:creationId xmlns:a16="http://schemas.microsoft.com/office/drawing/2014/main" id="{8F724CA5-DB60-4D89-ABAC-8184C6D2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1752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Role prompts, runbooks, output contracts</a:t>
            </a:r>
          </a:p>
        </p:txBody>
      </p:sp>
      <p:sp>
        <p:nvSpPr>
          <p:cNvPr id="7" name="next-1-box">
            <a:extLst xmlns:a="http://schemas.openxmlformats.org/drawingml/2006/main">
              <a:ext uri="{FF2B5EF4-FFF2-40B4-BE49-F238E27FC236}">
                <a16:creationId xmlns:a16="http://schemas.microsoft.com/office/drawing/2014/main" id="{BE63FBD8-4B37-4C63-A34E-1EBBA624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next-1-heading">
            <a:extLst xmlns:a="http://schemas.openxmlformats.org/drawingml/2006/main">
              <a:ext uri="{FF2B5EF4-FFF2-40B4-BE49-F238E27FC236}">
                <a16:creationId xmlns:a16="http://schemas.microsoft.com/office/drawing/2014/main" id="{E78AD61F-B932-47C8-AFF5-6DFA86D6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Reliable sensors</a:t>
            </a:r>
          </a:p>
        </p:txBody>
      </p:sp>
      <p:sp>
        <p:nvSpPr>
          <p:cNvPr id="9" name="next-1-body">
            <a:extLst xmlns:a="http://schemas.openxmlformats.org/drawingml/2006/main">
              <a:ext uri="{FF2B5EF4-FFF2-40B4-BE49-F238E27FC236}">
                <a16:creationId xmlns:a16="http://schemas.microsoft.com/office/drawing/2014/main" id="{7514A5AB-086C-4963-859A-8511A371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752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Deterministic checks before human review</a:t>
            </a:r>
          </a:p>
        </p:txBody>
      </p:sp>
      <p:sp>
        <p:nvSpPr>
          <p:cNvPr id="10" name="next-2-box">
            <a:extLst xmlns:a="http://schemas.openxmlformats.org/drawingml/2006/main">
              <a:ext uri="{FF2B5EF4-FFF2-40B4-BE49-F238E27FC236}">
                <a16:creationId xmlns:a16="http://schemas.microsoft.com/office/drawing/2014/main" id="{298C8147-C6FE-4E4D-9E59-672BD6A8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next-2-heading">
            <a:extLst xmlns:a="http://schemas.openxmlformats.org/drawingml/2006/main">
              <a:ext uri="{FF2B5EF4-FFF2-40B4-BE49-F238E27FC236}">
                <a16:creationId xmlns:a16="http://schemas.microsoft.com/office/drawing/2014/main" id="{C1CC70FE-7982-4D04-8551-F96B8C85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Governed memory</a:t>
            </a:r>
          </a:p>
        </p:txBody>
      </p:sp>
      <p:sp>
        <p:nvSpPr>
          <p:cNvPr id="12" name="next-2-body">
            <a:extLst xmlns:a="http://schemas.openxmlformats.org/drawingml/2006/main">
              <a:ext uri="{FF2B5EF4-FFF2-40B4-BE49-F238E27FC236}">
                <a16:creationId xmlns:a16="http://schemas.microsoft.com/office/drawing/2014/main" id="{FD0232D3-07CD-45EA-A432-95ABC278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1752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Evidence, policy, prior lessons, objections</a:t>
            </a:r>
          </a:p>
        </p:txBody>
      </p:sp>
      <p:sp>
        <p:nvSpPr>
          <p:cNvPr id="13" name="next-3-box">
            <a:extLst xmlns:a="http://schemas.openxmlformats.org/drawingml/2006/main">
              <a:ext uri="{FF2B5EF4-FFF2-40B4-BE49-F238E27FC236}">
                <a16:creationId xmlns:a16="http://schemas.microsoft.com/office/drawing/2014/main" id="{FACC200E-E4F6-4169-8B95-1043280A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next-3-heading">
            <a:extLst xmlns:a="http://schemas.openxmlformats.org/drawingml/2006/main">
              <a:ext uri="{FF2B5EF4-FFF2-40B4-BE49-F238E27FC236}">
                <a16:creationId xmlns:a16="http://schemas.microsoft.com/office/drawing/2014/main" id="{C04BF365-7902-42DA-977A-AC16E63D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24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Adoption path</a:t>
            </a:r>
          </a:p>
        </p:txBody>
      </p:sp>
      <p:sp>
        <p:nvSpPr>
          <p:cNvPr id="15" name="next-3-body">
            <a:extLst xmlns:a="http://schemas.openxmlformats.org/drawingml/2006/main">
              <a:ext uri="{FF2B5EF4-FFF2-40B4-BE49-F238E27FC236}">
                <a16:creationId xmlns:a16="http://schemas.microsoft.com/office/drawing/2014/main" id="{4FEFBC3C-F605-4755-BADC-418830ED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1752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Custom today; SDK/runtime tomorrow</a:t>
            </a:r>
          </a:p>
        </p:txBody>
      </p:sp>
      <p:sp>
        <p:nvSpPr>
          <p:cNvPr id="16" name="recommend-box">
            <a:extLst xmlns:a="http://schemas.openxmlformats.org/drawingml/2006/main">
              <a:ext uri="{FF2B5EF4-FFF2-40B4-BE49-F238E27FC236}">
                <a16:creationId xmlns:a16="http://schemas.microsoft.com/office/drawing/2014/main" id="{CBB05750-DAC5-4848-8C20-20CE9FF4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7" name="recommend">
            <a:extLst xmlns:a="http://schemas.openxmlformats.org/drawingml/2006/main">
              <a:ext uri="{FF2B5EF4-FFF2-40B4-BE49-F238E27FC236}">
                <a16:creationId xmlns:a16="http://schemas.microsoft.com/office/drawing/2014/main" id="{A12C187E-6B09-462E-AFBD-35687CFC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768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Sponsor harness assets as production infrastructure, not as one-off prompt work.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57D125A-18D4-499D-96BD-BF96D541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Ollama Harness Engineering Demo</a:t>
            </a:r>
          </a:p>
        </p:txBody>
      </p:sp>
      <p:sp>
        <p:nvSpPr>
          <p:cNvPr id="1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DCB2069-62F7-4474-BA7F-82ED8074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0226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2026-08-24T15:38:51.6550000Z</dcterms:created>
  <dcterms:modified xsi:type="dcterms:W3CDTF">2026-08-24T15:38:51.6550000Z</dcterms:modified>
</coreProperties>
</file>