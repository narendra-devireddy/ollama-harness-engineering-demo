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97bb88c363445dd" /><Relationship Type="http://schemas.openxmlformats.org/officeDocument/2006/relationships/extended-properties" Target="/docProps/app.xml" Id="Rada67f2b9762449a" /><Relationship Type="http://schemas.openxmlformats.org/officeDocument/2006/relationships/officeDocument" Target="/ppt/presentation.xml" Id="R8594acbced764d9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ec0d80ebbe048ce"/>
  </p:sldMasterIdLst>
  <p:notesMasterIdLst>
    <p:notesMasterId xmlns:r="http://schemas.openxmlformats.org/officeDocument/2006/relationships" r:id="Rb08a92d8785541ad"/>
  </p:notesMasterIdLst>
  <p:sldIdLst>
    <p:sldId xmlns:r="http://schemas.openxmlformats.org/officeDocument/2006/relationships" id="256" r:id="R255745a229644485"/>
    <p:sldId xmlns:r="http://schemas.openxmlformats.org/officeDocument/2006/relationships" id="257" r:id="R247148b62d7149cd"/>
    <p:sldId xmlns:r="http://schemas.openxmlformats.org/officeDocument/2006/relationships" id="258" r:id="R08d3e30a5f9e4082"/>
    <p:sldId xmlns:r="http://schemas.openxmlformats.org/officeDocument/2006/relationships" id="259" r:id="Ra462a251996c4ec2"/>
    <p:sldId xmlns:r="http://schemas.openxmlformats.org/officeDocument/2006/relationships" id="260" r:id="R094e05244a4e4475"/>
    <p:sldId xmlns:r="http://schemas.openxmlformats.org/officeDocument/2006/relationships" id="261" r:id="R184705da06fe4009"/>
    <p:sldId xmlns:r="http://schemas.openxmlformats.org/officeDocument/2006/relationships" id="262" r:id="Rf1085d2b969b400c"/>
    <p:sldId xmlns:r="http://schemas.openxmlformats.org/officeDocument/2006/relationships" id="263" r:id="R9b84f7e0901443bb"/>
    <p:sldId xmlns:r="http://schemas.openxmlformats.org/officeDocument/2006/relationships" id="264" r:id="R1356a33ac8374824"/>
    <p:sldId xmlns:r="http://schemas.openxmlformats.org/officeDocument/2006/relationships" id="265" r:id="Rc0d63264c5184df1"/>
    <p:sldId xmlns:r="http://schemas.openxmlformats.org/officeDocument/2006/relationships" id="266" r:id="Rc60830892c0746dd"/>
    <p:sldId xmlns:r="http://schemas.openxmlformats.org/officeDocument/2006/relationships" id="267" r:id="Rf0bddf7fb1ba464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06181b962c54cf6" /><Relationship Type="http://schemas.openxmlformats.org/officeDocument/2006/relationships/slideMaster" Target="/ppt/slideMasters/slideMaster1.xml" Id="R5ec0d80ebbe048ce" /><Relationship Type="http://schemas.openxmlformats.org/officeDocument/2006/relationships/notesMaster" Target="/ppt/notesMasters/notesMaster1.xml" Id="Rb08a92d8785541ad" /><Relationship Type="http://schemas.openxmlformats.org/officeDocument/2006/relationships/presProps" Target="/ppt/presProps.xml" Id="R68e29aa4b76d4072" /><Relationship Type="http://schemas.openxmlformats.org/officeDocument/2006/relationships/tableStyles" Target="/ppt/tableStyles.xml" Id="R87cdb91729fe4ce0" /><Relationship Type="http://schemas.openxmlformats.org/officeDocument/2006/relationships/slide" Target="/ppt/slides/slide1.xml" Id="R255745a229644485" /><Relationship Type="http://schemas.openxmlformats.org/officeDocument/2006/relationships/slide" Target="/ppt/slides/slide2.xml" Id="R247148b62d7149cd" /><Relationship Type="http://schemas.openxmlformats.org/officeDocument/2006/relationships/slide" Target="/ppt/slides/slide3.xml" Id="R08d3e30a5f9e4082" /><Relationship Type="http://schemas.openxmlformats.org/officeDocument/2006/relationships/slide" Target="/ppt/slides/slide4.xml" Id="Ra462a251996c4ec2" /><Relationship Type="http://schemas.openxmlformats.org/officeDocument/2006/relationships/slide" Target="/ppt/slides/slide5.xml" Id="R094e05244a4e4475" /><Relationship Type="http://schemas.openxmlformats.org/officeDocument/2006/relationships/slide" Target="/ppt/slides/slide6.xml" Id="R184705da06fe4009" /><Relationship Type="http://schemas.openxmlformats.org/officeDocument/2006/relationships/slide" Target="/ppt/slides/slide7.xml" Id="Rf1085d2b969b400c" /><Relationship Type="http://schemas.openxmlformats.org/officeDocument/2006/relationships/slide" Target="/ppt/slides/slide8.xml" Id="R9b84f7e0901443bb" /><Relationship Type="http://schemas.openxmlformats.org/officeDocument/2006/relationships/slide" Target="/ppt/slides/slide9.xml" Id="R1356a33ac8374824" /><Relationship Type="http://schemas.openxmlformats.org/officeDocument/2006/relationships/slide" Target="/ppt/slides/slide10.xml" Id="Rc0d63264c5184df1" /><Relationship Type="http://schemas.openxmlformats.org/officeDocument/2006/relationships/slide" Target="/ppt/slides/slide11.xml" Id="Rc60830892c0746dd" /><Relationship Type="http://schemas.openxmlformats.org/officeDocument/2006/relationships/slide" Target="/ppt/slides/slide12.xml" Id="Rf0bddf7fb1ba464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de61fb9e90944e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8e6498961d8496e" /><Relationship Type="http://schemas.openxmlformats.org/officeDocument/2006/relationships/notesMaster" Target="/ppt/notesMasters/notesMaster1.xml" Id="Rdbccdb02d1184f9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c58229edb404210" /><Relationship Type="http://schemas.openxmlformats.org/officeDocument/2006/relationships/notesMaster" Target="/ppt/notesMasters/notesMaster1.xml" Id="R097f5b9fcbb6442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f79c26ad12e44d1" /><Relationship Type="http://schemas.openxmlformats.org/officeDocument/2006/relationships/notesMaster" Target="/ppt/notesMasters/notesMaster1.xml" Id="R4f5c91035461412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b56375befc448b8" /><Relationship Type="http://schemas.openxmlformats.org/officeDocument/2006/relationships/notesMaster" Target="/ppt/notesMasters/notesMaster1.xml" Id="Rfb26ce883ef9412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f4a61c916b24b6d" /><Relationship Type="http://schemas.openxmlformats.org/officeDocument/2006/relationships/notesMaster" Target="/ppt/notesMasters/notesMaster1.xml" Id="Rfe6e6173d4574b7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f4080a71a814a4c" /><Relationship Type="http://schemas.openxmlformats.org/officeDocument/2006/relationships/notesMaster" Target="/ppt/notesMasters/notesMaster1.xml" Id="R4524c757856b43c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ed6f75771a9411b" /><Relationship Type="http://schemas.openxmlformats.org/officeDocument/2006/relationships/notesMaster" Target="/ppt/notesMasters/notesMaster1.xml" Id="Rbab89bc3b5684bb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61069cec53f45a5" /><Relationship Type="http://schemas.openxmlformats.org/officeDocument/2006/relationships/notesMaster" Target="/ppt/notesMasters/notesMaster1.xml" Id="Ra04b8cd558a8495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731ee26d474449b" /><Relationship Type="http://schemas.openxmlformats.org/officeDocument/2006/relationships/notesMaster" Target="/ppt/notesMasters/notesMaster1.xml" Id="Rf965a2c1041c4d5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b3f92ef44104c61" /><Relationship Type="http://schemas.openxmlformats.org/officeDocument/2006/relationships/notesMaster" Target="/ppt/notesMasters/notesMaster1.xml" Id="R944ad27053ea486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66ea68c53a04c3d" /><Relationship Type="http://schemas.openxmlformats.org/officeDocument/2006/relationships/notesMaster" Target="/ppt/notesMasters/notesMaster1.xml" Id="R9ee25bdcc8f1437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002159304194510" /><Relationship Type="http://schemas.openxmlformats.org/officeDocument/2006/relationships/notesMaster" Target="/ppt/notesMasters/notesMaster1.xml" Id="Rac07a2064b9e419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Anthropic, Effective context engineering for AI agents, Sep 29 2025: context is finite; agents need curated context, not maximal context. https://www.anthropic.com/engineering/effective-context-engineering-for-ai-agents</a:t>
            </a:r>
          </a:p>
          <a:p xmlns:a="http://schemas.openxmlformats.org/drawingml/2006/main">
            <a:r>
              <a:t>Claude docs, Manage tool context: tool definitions and tool results consume context; tool search, programmatic tool calling, prompt caching, and context editing reduce context pressure. https://platform.claude.com/docs/en/agents-and-tools/tool-use/manage-tool-context</a:t>
            </a:r>
          </a:p>
          <a:p xmlns:a="http://schemas.openxmlformats.org/drawingml/2006/main">
            <a:r>
              <a:t>OpenAI, Harness engineering, Feb 11 2026: early agent progress was limited because the environment was underspecified; teams made knowledge, tools, tests, and review loops legible and enforceable. https://openai.com/index/harness-engineering/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Martin Fowler defines harness broadly as what surrounds the model and focuses on feedforward guides, feedback sensors, steering loops, timing, and the role of the human. https://martinfowler.com/articles/harness-engineering.html</a:t>
            </a:r>
          </a:p>
          <a:p xmlns:a="http://schemas.openxmlformats.org/drawingml/2006/main">
            <a:r>
              <a:t>OpenAI describes harness engineering as making repository knowledge, tools, tests, reviews, and constraints legible/enforceable for agents. https://openai.com/index/harness-engineering/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Fowler's framework: feedforward guides and feedback sensors work together; separately they are incomplete. https://martinfowler.com/articles/harness-engineering.html</a:t>
            </a:r>
          </a:p>
          <a:p xmlns:a="http://schemas.openxmlformats.org/drawingml/2006/main">
            <a:r>
              <a:t>Anthropic context engineering and Claude tool-context docs support progressive disclosure/tool filtering as controls against context and tool bloat. https://www.anthropic.com/engineering/effective-context-engineering-for-ai-agents and https://platform.claude.com/docs/en/agents-and-tools/tool-use/manage-tool-context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OpenAI: a short AGENTS.md as a map to deeper system-of-record docs enabled progressive disclosure and reduced context overload. https://openai.com/index/harness-engineering/</a:t>
            </a:r>
          </a:p>
          <a:p xmlns:a="http://schemas.openxmlformats.org/drawingml/2006/main">
            <a:r>
              <a:t>Anthropic: context engineering chooses the smallest high-signal set of tokens for the next action. https://www.anthropic.com/engineering/effective-context-engineering-for-ai-agents</a:t>
            </a:r>
          </a:p>
          <a:p xmlns:a="http://schemas.openxmlformats.org/drawingml/2006/main">
            <a:r>
              <a:t>[Repo examples] src/harness_demo/live.py: log_investigator, runbook_agent, memory_agent and planner_input are scoped role calls.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Fowler distinguishes computational sensors such as tests/linters from inferential sensors such as AI review; both can feed self-correction. https://martinfowler.com/articles/harness-engineering.html</a:t>
            </a:r>
          </a:p>
          <a:p xmlns:a="http://schemas.openxmlformats.org/drawingml/2006/main">
            <a:r>
              <a:t>Anthropic, Demystifying evals for AI agents: agent evals make behavioral changes visible before production. https://www.anthropic.com/engineering/demystifying-evals-for-ai-agents</a:t>
            </a:r>
          </a:p>
          <a:p xmlns:a="http://schemas.openxmlformats.org/drawingml/2006/main">
            <a:r>
              <a:t>[Repo examples] cases/incident-response/scenario.yaml defines the quality contract and score weights. src/harness_demo/rules.py emits deterministic findings.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Fowler's steering loop: repeated issues should improve the feedforward and feedback controls. https://martinfowler.com/articles/harness-engineering.html</a:t>
            </a:r>
          </a:p>
          <a:p xmlns:a="http://schemas.openxmlformats.org/drawingml/2006/main">
            <a:r>
              <a:t>Anthropic's evaluator-optimizer workflow recommends generation plus evaluation/feedback loops when there are clear evaluation criteria. https://www.anthropic.com/engineering/building-effective-agents</a:t>
            </a:r>
          </a:p>
          <a:p xmlns:a="http://schemas.openxmlformats.org/drawingml/2006/main">
            <a:r>
              <a:t>[Repo examples] src/harness_demo/live.py _run_custom_goal_loop scores candidates in isolation, gives safety precedence, and keeps the best accepted candidate.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Microsoft Agent Framework: chat history storage affects UX, compliance, architecture, context management, and compaction; client-managed history often needs truncation, sliding window, summarization, or tool-call collapse. https://devblogs.microsoft.com/agent-framework/chat-history-storage-patterns-in-microsoft-agent-framework/</a:t>
            </a:r>
          </a:p>
          <a:p xmlns:a="http://schemas.openxmlformats.org/drawingml/2006/main">
            <a:r>
              <a:t>Claude cookbook: compaction, tool-result clearing, and memory are distinct strategies; compaction summarizes long histories while memory persists structured notes. https://platform.claude.com/cookbook/tool-use-context-engineering-context-engineering-tools</a:t>
            </a:r>
          </a:p>
          <a:p xmlns:a="http://schemas.openxmlformats.org/drawingml/2006/main">
            <a:r>
              <a:t>[Repo examples] SharedMemory separates incident_facts, evidence, runbook_steps, prior_lessons, reviewer_objections, and final_plan.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OpenAI practical agent guidance describes guardrails as layered defenses for privacy, safety, reputation, and policy risks. https://openai.com/business/guides-and-resources/a-practical-guide-to-building-ai-agents/</a:t>
            </a:r>
          </a:p>
          <a:p xmlns:a="http://schemas.openxmlformats.org/drawingml/2006/main">
            <a:r>
              <a:t>Fowler emphasizes the role of the human in steering guides and sensors, not reviewing every token. https://martinfowler.com/articles/harness-engineering.html</a:t>
            </a:r>
          </a:p>
          <a:p xmlns:a="http://schemas.openxmlformats.org/drawingml/2006/main">
            <a:r>
              <a:t>[Repo examples] forbidden_actions in scenario.yaml and reviewer objections in rules.py provide escalation triggers.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Anthropic: simple composable workflow patterns such as prompt chaining, routing, orchestrator-workers, and evaluator-optimizer are often more effective than over-complex frameworks. https://www.anthropic.com/engineering/building-effective-agents</a:t>
            </a:r>
          </a:p>
          <a:p xmlns:a="http://schemas.openxmlformats.org/drawingml/2006/main">
            <a:r>
              <a:t>Strands docs supplied by project discussion: GoalLoop validates responses and retries until a quality bar is met or budget is exhausted. https://strandsagents.com/</a:t>
            </a:r>
          </a:p>
          <a:p xmlns:a="http://schemas.openxmlformats.org/drawingml/2006/main">
            <a:r>
              <a:t>Ollama DeepSeek Harness integration docs supplied by project discussion: https://docs.ollama.com/integrations/deepseek-harness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OpenAI: when agents struggle, ask what capability is missing and make it legible/enforceable. https://openai.com/index/harness-engineering/</a:t>
            </a:r>
          </a:p>
          <a:p xmlns:a="http://schemas.openxmlformats.org/drawingml/2006/main">
            <a:r>
              <a:t>Fowler: harness quality should reduce review toil and increase system quality through guides, sensors, and steering loops. https://martinfowler.com/articles/harness-engineering.html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Claude Cookbook, Context engineering: memory, compaction, and tool clearing, Mar 20 2026: compaction summarizes a long context window, tool-result clearing drops bulky re-fetchable tool outputs, and memory persists structured notes across sessions. https://platform.claude.com/cookbook/tool-use-context-engineering-context-engineering-tools</a:t>
            </a:r>
          </a:p>
          <a:p xmlns:a="http://schemas.openxmlformats.org/drawingml/2006/main">
            <a:r>
              <a:t>Microsoft Agent Framework, Chat History Storage Patterns, Apr 24 2026: conversation history storage affects UX, compliance, architecture, cost, privacy, portability, and whether history is service-managed or client-managed. Client-managed history needs explicit truncation, sliding window, summarization, and tool-call collapse. https://devblogs.microsoft.com/agent-framework/chat-history-storage-patterns-in-microsoft-agent-framework/</a:t>
            </a:r>
          </a:p>
          <a:p xmlns:a="http://schemas.openxmlformats.org/drawingml/2006/main">
            <a:r>
              <a:t>OpenAI Agents SDK Sessions docs: sessions provide persistent memory by fetching prior conversation items, persisting new outputs, and supporting custom storage backends; Responses compaction can shrink stored history. https://openai.github.io/openai-agents-js/guides/sessions/</a:t>
            </a:r>
          </a:p>
          <a:p xmlns:a="http://schemas.openxmlformats.org/drawingml/2006/main">
            <a:r>
              <a:t>Anthropic, Building effective agents: start with the simplest agentic pattern and move to workflows/agents only when needed. https://www.anthropic.com/engineering/building-effective-agents</a:t>
            </a:r>
          </a:p>
          <a:p xmlns:a="http://schemas.openxmlformats.org/drawingml/2006/main">
            <a:r>
              <a:t>Fowler, Harness engineering: combines feedforward guides, feedback sensors, steering loops, timing/keep-quality-left, and the role of the human. https://martinfowler.com/articles/harness-engineering.html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Fowler is the primary reference for harness engineering. https://martinfowler.com/articles/harness-engineering.html</a:t>
            </a:r>
          </a:p>
          <a:p xmlns:a="http://schemas.openxmlformats.org/drawingml/2006/main">
            <a:r>
              <a:t>Anthropic frames common agent workflow patterns including sequential, parallel, and evaluator-optimizer. https://claude.com/blog/common-workflow-patterns-for-ai-agents-and-when-to-use-them</a:t>
            </a:r>
          </a:p>
          <a:p xmlns:a="http://schemas.openxmlformats.org/drawingml/2006/main">
            <a:r>
              <a:t>Secondary/non-primary references on loop vs harness distinction were considered only for terminology triangulation, not as core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829448ce7c48f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d68a86690ff42c8" /><Relationship Type="http://schemas.openxmlformats.org/officeDocument/2006/relationships/slideLayout" Target="/ppt/slideLayouts/slideLayout1.xml" Id="R6ab3aa20c1834db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ab3aa20c1834db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2e6b0252924a4f" /><Relationship Type="http://schemas.openxmlformats.org/officeDocument/2006/relationships/notesSlide" Target="/ppt/notesSlides/notesSlide1.xml" Id="Rac72c7972e56497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6f928146cb4a15" /><Relationship Type="http://schemas.openxmlformats.org/officeDocument/2006/relationships/notesSlide" Target="/ppt/notesSlides/notesSlide2.xml" Id="R357380e706bd438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feb017b347492c" /><Relationship Type="http://schemas.openxmlformats.org/officeDocument/2006/relationships/notesSlide" Target="/ppt/notesSlides/notesSlide3.xml" Id="R2fd6e7ef8bdd414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0a60994dc84e5e" /><Relationship Type="http://schemas.openxmlformats.org/officeDocument/2006/relationships/notesSlide" Target="/ppt/notesSlides/notesSlide4.xml" Id="R45a8e325b42a4ab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3977faa0e64ef4" /><Relationship Type="http://schemas.openxmlformats.org/officeDocument/2006/relationships/notesSlide" Target="/ppt/notesSlides/notesSlide5.xml" Id="R5f4f4e8d68d8439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4fbefaa93e41fa" /><Relationship Type="http://schemas.openxmlformats.org/officeDocument/2006/relationships/notesSlide" Target="/ppt/notesSlides/notesSlide6.xml" Id="R0e069fd9e1904c4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ddf7aaf68d4a3b" /><Relationship Type="http://schemas.openxmlformats.org/officeDocument/2006/relationships/notesSlide" Target="/ppt/notesSlides/notesSlide7.xml" Id="Rcae0688fb836443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282b1c6c184afd" /><Relationship Type="http://schemas.openxmlformats.org/officeDocument/2006/relationships/notesSlide" Target="/ppt/notesSlides/notesSlide8.xml" Id="R20ed0b13981b42f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143e0783794df4" /><Relationship Type="http://schemas.openxmlformats.org/officeDocument/2006/relationships/notesSlide" Target="/ppt/notesSlides/notesSlide9.xml" Id="R1de4e4e9a70f44d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8455f17b0546f9" /><Relationship Type="http://schemas.openxmlformats.org/officeDocument/2006/relationships/notesSlide" Target="/ppt/notesSlides/notesSlide10.xml" Id="R970e0b7f3635445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58c24a9e2a4a6e" /><Relationship Type="http://schemas.openxmlformats.org/officeDocument/2006/relationships/notesSlide" Target="/ppt/notesSlides/notesSlide11.xml" Id="R6780b03ebda54a6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15547e7e58402a" /><Relationship Type="http://schemas.openxmlformats.org/officeDocument/2006/relationships/notesSlide" Target="/ppt/notesSlides/notesSlide12.xml" Id="Rc70ad957e2784df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784607-6CED-47C7-AA1E-4F2F2E5CE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8191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B0F19"/>
                </a:solidFill>
              </a:defRPr>
            </a:pPr>
            <a:r>
              <a:rPr sz="3750" b="1">
                <a:solidFill>
                  <a:srgbClr val="0B0F19"/>
                </a:solidFill>
              </a:rPr>
              <a:t>Why Agents Fail In Production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D0A18D-680E-49A6-AFDF-73A58F66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4B5563"/>
                </a:solidFill>
              </a:defRPr>
            </a:pPr>
            <a:r>
              <a:rPr sz="1875" b="0">
                <a:solidFill>
                  <a:srgbClr val="4B5563"/>
                </a:solidFill>
              </a:rPr>
              <a:t>Most failures are not model-IQ failures. They are operating-environment failures.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A461A2-43A6-4131-AF37-A18D656EE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476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6DB14C-37AE-4B55-93E2-0CFAB688C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28900"/>
            <a:ext cx="441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C2626"/>
                </a:solidFill>
              </a:defRPr>
            </a:pPr>
            <a:r>
              <a:rPr sz="1350" b="1">
                <a:solidFill>
                  <a:srgbClr val="DC2626"/>
                </a:solidFill>
              </a:rPr>
              <a:t>Context bloat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DE5C12-FDA2-44F5-B044-B86F980C6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44196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F19"/>
                </a:solidFill>
              </a:defRPr>
            </a:pPr>
            <a:r>
              <a:rPr sz="1500" b="0">
                <a:solidFill>
                  <a:srgbClr val="0B0F19"/>
                </a:solidFill>
              </a:rPr>
              <a:t>Important facts disappear inside too much text.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16BE75-6336-46FA-AFEA-41AD95D57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476500"/>
            <a:ext cx="476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6BC60B-F8A6-4C4D-9C58-D29F1F438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28900"/>
            <a:ext cx="441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C2626"/>
                </a:solidFill>
              </a:defRPr>
            </a:pPr>
            <a:r>
              <a:rPr sz="1350" b="1">
                <a:solidFill>
                  <a:srgbClr val="DC2626"/>
                </a:solidFill>
              </a:rPr>
              <a:t>Stale memory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23392E-4F69-4CB5-BDE5-79346E7E5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990850"/>
            <a:ext cx="44196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F19"/>
                </a:solidFill>
              </a:defRPr>
            </a:pPr>
            <a:r>
              <a:rPr sz="1500" b="0">
                <a:solidFill>
                  <a:srgbClr val="0B0F19"/>
                </a:solidFill>
              </a:rPr>
              <a:t>Old lessons are reused without freshness or provenance.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952D37-FF51-45AA-8553-FC0B208E6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476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5C6608-2095-49F6-AA16-E5CD4B88A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441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97706"/>
                </a:solidFill>
              </a:defRPr>
            </a:pPr>
            <a:r>
              <a:rPr sz="1350" b="1">
                <a:solidFill>
                  <a:srgbClr val="D97706"/>
                </a:solidFill>
              </a:rPr>
              <a:t>Tool bloat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0B90CE-11DF-4C50-B101-69A66A3BB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38600"/>
            <a:ext cx="44196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F19"/>
                </a:solidFill>
              </a:defRPr>
            </a:pPr>
            <a:r>
              <a:rPr sz="1500" b="0">
                <a:solidFill>
                  <a:srgbClr val="0B0F19"/>
                </a:solidFill>
              </a:rPr>
              <a:t>Too many overlapping tools create wrong actions and cost.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DBBDA5-8A12-4021-A6B5-B58E33111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524250"/>
            <a:ext cx="476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0BC2CA-35D1-4896-B48D-08B443F5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676650"/>
            <a:ext cx="441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97706"/>
                </a:solidFill>
              </a:defRPr>
            </a:pPr>
            <a:r>
              <a:rPr sz="1350" b="1">
                <a:solidFill>
                  <a:srgbClr val="D97706"/>
                </a:solidFill>
              </a:rPr>
              <a:t>No sensors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22FD26-2D2E-4C85-B8A9-9A968D17D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038600"/>
            <a:ext cx="44196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F19"/>
                </a:solidFill>
              </a:defRPr>
            </a:pPr>
            <a:r>
              <a:rPr sz="1500" b="0">
                <a:solidFill>
                  <a:srgbClr val="0B0F19"/>
                </a:solidFill>
              </a:rPr>
              <a:t>Fluent unsafe output reaches humans as if it were ready.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26D3ED-4FA1-456B-A347-4B6031038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476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9022BF-D005-4D6B-94A0-77B665D76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24400"/>
            <a:ext cx="441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</a:defRPr>
            </a:pPr>
            <a:r>
              <a:rPr sz="1350" b="1">
                <a:solidFill>
                  <a:srgbClr val="2563EB"/>
                </a:solidFill>
              </a:rPr>
              <a:t>No steering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567C3F-1B0A-4B1C-8A14-06E5B1512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86350"/>
            <a:ext cx="44196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F19"/>
                </a:solidFill>
              </a:defRPr>
            </a:pPr>
            <a:r>
              <a:rPr sz="1500" b="0">
                <a:solidFill>
                  <a:srgbClr val="0B0F19"/>
                </a:solidFill>
              </a:rPr>
              <a:t>The same miss repeats because nothing updates the system.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9E4EC1-8B31-45A5-A142-20E6C39E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572000"/>
            <a:ext cx="476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FDD27A-EB74-4B8D-BB05-C483057E2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724400"/>
            <a:ext cx="441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</a:defRPr>
            </a:pPr>
            <a:r>
              <a:rPr sz="1350" b="1">
                <a:solidFill>
                  <a:srgbClr val="2563EB"/>
                </a:solidFill>
              </a:rPr>
              <a:t>Unsafe autonomy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225B0B-1D6D-4335-9C88-42E659E68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086350"/>
            <a:ext cx="44196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F19"/>
                </a:solidFill>
              </a:defRPr>
            </a:pPr>
            <a:r>
              <a:rPr sz="1500" b="0">
                <a:solidFill>
                  <a:srgbClr val="0B0F19"/>
                </a:solidFill>
              </a:rPr>
              <a:t>Risky actions have no policy gate or human stop point.</a:t>
            </a:r>
          </a:p>
        </p:txBody>
      </p:sp>
    </p:spTree>
    <p:extLst>
      <p:ext uri="{BB962C8B-B14F-4D97-AF65-F5344CB8AC3E}">
        <p14:creationId xmlns:p14="http://schemas.microsoft.com/office/powerpoint/2010/main" val="65099670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90B47C-9CB4-4A52-AA55-DB0065020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HARNESS ENGINEERING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D6C193-1E0A-434C-83E8-31A06DCAB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B0F19"/>
                </a:solidFill>
              </a:defRPr>
            </a:pPr>
            <a:r>
              <a:rPr sz="2925" b="1">
                <a:solidFill>
                  <a:srgbClr val="0B0F19"/>
                </a:solidFill>
              </a:rPr>
              <a:t>Harness engineering surrounds the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1BCD2E-E062-483C-B078-6FE52ED74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622A8E-50E4-4652-B087-D86F4880A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86000"/>
            <a:ext cx="2476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1C0907-4F5E-4CC5-9563-CE567A108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5146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563EB"/>
                </a:solidFill>
              </a:defRPr>
            </a:pPr>
            <a:r>
              <a:rPr sz="1950" b="1">
                <a:solidFill>
                  <a:srgbClr val="2563EB"/>
                </a:solidFill>
              </a:rPr>
              <a:t>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B29265-801A-4FC3-ACF3-3213CF93F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7660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0B0F19"/>
                </a:solidFill>
              </a:defRPr>
            </a:pPr>
            <a:r>
              <a:rPr sz="1650" b="0">
                <a:solidFill>
                  <a:srgbClr val="0B0F19"/>
                </a:solidFill>
              </a:rPr>
              <a:t>Reasoning engine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3E2EA1-9AB8-488B-8F64-50FAA3134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885950"/>
            <a:ext cx="67056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F1BB5E-F04B-4FB4-A44F-3B0112B99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1455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563EB"/>
                </a:solidFill>
              </a:defRPr>
            </a:pPr>
            <a:r>
              <a:rPr sz="2100" b="1">
                <a:solidFill>
                  <a:srgbClr val="2563EB"/>
                </a:solidFill>
              </a:rPr>
              <a:t>HARNESS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A99FF2-5CE9-40CC-A79F-8911B6BBC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66700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BE5ADE-A769-453E-BDF6-D03DEC4DE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80035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B0F19"/>
                </a:solidFill>
              </a:defRPr>
            </a:pPr>
            <a:r>
              <a:rPr sz="1275" b="1">
                <a:solidFill>
                  <a:srgbClr val="0B0F19"/>
                </a:solidFill>
              </a:rPr>
              <a:t>Context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A29AB3-D1A5-4AE1-B4A6-84FD4883D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66700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54A0A1-F559-448D-9334-01AE16B6F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280035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B0F19"/>
                </a:solidFill>
              </a:defRPr>
            </a:pPr>
            <a:r>
              <a:rPr sz="1275" b="1">
                <a:solidFill>
                  <a:srgbClr val="0B0F19"/>
                </a:solidFill>
              </a:rPr>
              <a:t>Tools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432F59-2BC8-4A31-AB23-D4CE6AC9C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66700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79A635-EC2D-4DFC-A0A3-85C9B4A79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280035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B0F19"/>
                </a:solidFill>
              </a:defRPr>
            </a:pPr>
            <a:r>
              <a:rPr sz="1275" b="1">
                <a:solidFill>
                  <a:srgbClr val="0B0F19"/>
                </a:solidFill>
              </a:rPr>
              <a:t>Memory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467302-06B8-40AE-BC7B-A48091AEB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66700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05FD44-82C8-412E-A1B1-7412C0EA2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80035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B0F19"/>
                </a:solidFill>
              </a:defRPr>
            </a:pPr>
            <a:r>
              <a:rPr sz="1275" b="1">
                <a:solidFill>
                  <a:srgbClr val="0B0F19"/>
                </a:solidFill>
              </a:rPr>
              <a:t>Guardrails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7D722B-EE72-4001-A03A-A611CAC96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40995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F132A7-6D16-43AD-AA43-E8B871A0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54330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B0F19"/>
                </a:solidFill>
              </a:defRPr>
            </a:pPr>
            <a:r>
              <a:rPr sz="1275" b="1">
                <a:solidFill>
                  <a:srgbClr val="0B0F19"/>
                </a:solidFill>
              </a:rPr>
              <a:t>Evaluation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506A9C-DE97-407C-9EB1-B37FDEA4F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40995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254D23-F911-4A25-AFD7-581000E7A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354330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B0F19"/>
                </a:solidFill>
              </a:defRPr>
            </a:pPr>
            <a:r>
              <a:rPr sz="1275" b="1">
                <a:solidFill>
                  <a:srgbClr val="0B0F19"/>
                </a:solidFill>
              </a:rPr>
              <a:t>Repair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E462D8-8BA2-4D72-B457-FA29278D0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40995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7DC003-C25F-4154-88F6-49DE8FC46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354330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B0F19"/>
                </a:solidFill>
              </a:defRPr>
            </a:pPr>
            <a:r>
              <a:rPr sz="1275" b="1">
                <a:solidFill>
                  <a:srgbClr val="0B0F19"/>
                </a:solidFill>
              </a:rPr>
              <a:t>Observability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8AE257-8F2F-4CE5-8FBF-EDF32F946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40995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A16474-B2BB-434D-A5A2-BC28C754A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54330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B0F19"/>
                </a:solidFill>
              </a:defRPr>
            </a:pPr>
            <a:r>
              <a:rPr sz="1275" b="1">
                <a:solidFill>
                  <a:srgbClr val="0B0F19"/>
                </a:solidFill>
              </a:rPr>
              <a:t>HITL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5F1188-F41B-4DB9-A4AC-1D7184C85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095625"/>
            <a:ext cx="666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D5EA0E-5D7E-4F70-97EA-B573781DB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000625"/>
            <a:ext cx="575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A7F3D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9DDD5C-F787-4EC2-9901-641B97F33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153025"/>
            <a:ext cx="323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059669"/>
                </a:solidFill>
              </a:defRPr>
            </a:pPr>
            <a:r>
              <a:rPr sz="2100" b="1">
                <a:solidFill>
                  <a:srgbClr val="059669"/>
                </a:solidFill>
              </a:rPr>
              <a:t>AGENT = MODEL + HARNESS</a:t>
            </a:r>
          </a:p>
        </p:txBody>
      </p:sp>
    </p:spTree>
    <p:extLst>
      <p:ext uri="{BB962C8B-B14F-4D97-AF65-F5344CB8AC3E}">
        <p14:creationId xmlns:p14="http://schemas.microsoft.com/office/powerpoint/2010/main" val="7519350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1709A65-A12D-4101-A826-6A50D6BBB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HARNESS ENGINEERING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EB22A5-D9F9-4D4E-AF9D-A2C0C1221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B0F19"/>
                </a:solidFill>
              </a:defRPr>
            </a:pPr>
            <a:r>
              <a:rPr sz="2925" b="1">
                <a:solidFill>
                  <a:srgbClr val="0B0F19"/>
                </a:solidFill>
              </a:rPr>
              <a:t>Every failure mode needs an engineered control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E3416D-CA49-427E-9913-6B4585387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7044F0-E25C-4327-A485-9508C2C72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9"/>
          </a:solidFill>
          <a:ln xmlns:a="http://schemas.openxmlformats.org/drawingml/2006/main" w="9525">
            <a:solidFill>
              <a:srgbClr val="0B0F1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5D77DA-C3C9-4671-BEB8-C9B536158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Failure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F9D7E9-BC4D-44AF-BB9B-CF85F5ABE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8097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Harness control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311985-E143-45DC-9B68-3DB25165D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80975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In our demo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7227CC-90C8-4D29-982A-E94B17010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0CE202-DDD1-411B-8936-6B02324C9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B0F19"/>
                </a:solidFill>
              </a:defRPr>
            </a:pPr>
            <a:r>
              <a:rPr sz="1425" b="1">
                <a:solidFill>
                  <a:srgbClr val="0B0F19"/>
                </a:solidFill>
              </a:rPr>
              <a:t>Bloated context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DC5FA2-81DC-4AC0-80A8-61BD3FE2F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050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Progressive disclosure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5CC4AE-B648-4A56-A96D-E74171EC9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479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B5563"/>
                </a:solidFill>
              </a:defRPr>
            </a:pPr>
            <a:r>
              <a:rPr sz="1350" b="0">
                <a:solidFill>
                  <a:srgbClr val="4B5563"/>
                </a:solidFill>
              </a:rPr>
              <a:t>Load only ticket, logs, runbook, memory needed by each role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892C8D-DB8B-4586-B0B3-FE0FD990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2A2CDE-24BC-48BD-8FB0-99B6036C6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7180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B0F19"/>
                </a:solidFill>
              </a:defRPr>
            </a:pPr>
            <a:r>
              <a:rPr sz="1425" b="1">
                <a:solidFill>
                  <a:srgbClr val="0B0F19"/>
                </a:solidFill>
              </a:rPr>
              <a:t>Tool bloat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6A63CE-C641-4FC0-A965-F56FE0B1A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718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Tool filters and contracts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A0C0EC-43FF-439A-9858-032CE31A5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9146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B5563"/>
                </a:solidFill>
              </a:defRPr>
            </a:pPr>
            <a:r>
              <a:rPr sz="1350" b="0">
                <a:solidFill>
                  <a:srgbClr val="4B5563"/>
                </a:solidFill>
              </a:rPr>
              <a:t>Specialist agents see scoped inputs and allowed actions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835EC9-E872-45C5-B76B-4A867719F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BE59A0-4FDC-47E0-97FD-14309F00D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385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B0F19"/>
                </a:solidFill>
              </a:defRPr>
            </a:pPr>
            <a:r>
              <a:rPr sz="1425" b="1">
                <a:solidFill>
                  <a:srgbClr val="0B0F19"/>
                </a:solidFill>
              </a:rPr>
              <a:t>Missing obligations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0EE542-73DB-4260-A7FB-955D7D064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6385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Goal loop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92DE6D-B24C-4BB4-A833-FC57D3695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814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B5563"/>
                </a:solidFill>
              </a:defRPr>
            </a:pPr>
            <a:r>
              <a:rPr sz="1350" b="0">
                <a:solidFill>
                  <a:srgbClr val="4B5563"/>
                </a:solidFill>
              </a:rPr>
              <a:t>Required fields must pass before answer is accepted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DFBF63-4C00-46C5-95EA-64ED9DDE5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3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6D1D91-CA32-41F1-9C20-8C061F492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0530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B0F19"/>
                </a:solidFill>
              </a:defRPr>
            </a:pPr>
            <a:r>
              <a:rPr sz="1425" b="1">
                <a:solidFill>
                  <a:srgbClr val="0B0F19"/>
                </a:solidFill>
              </a:rPr>
              <a:t>Unsafe 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AB2D4D-2B59-4958-A19D-89F8D1478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053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Guardrail + HITL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6B8180-72C7-46B1-B0F1-93387F865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2481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B5563"/>
                </a:solidFill>
              </a:defRPr>
            </a:pPr>
            <a:r>
              <a:rPr sz="1350" b="0">
                <a:solidFill>
                  <a:srgbClr val="4B5563"/>
                </a:solidFill>
              </a:rPr>
              <a:t>Restart/drop/write-disable actions are blocked or escalated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1C26A6-FDBC-4206-BA6B-2844DA326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7D5FE5-6C8C-44C3-86A1-867FC317F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720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B0F19"/>
                </a:solidFill>
              </a:defRPr>
            </a:pPr>
            <a:r>
              <a:rPr sz="1425" b="1">
                <a:solidFill>
                  <a:srgbClr val="0B0F19"/>
                </a:solidFill>
              </a:rPr>
              <a:t>Fluent hallucination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0D0903-AC22-46AD-B343-9C6AA398F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9720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Deterministic sensors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47E734-61BC-486F-BA62-BA2E8514E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149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B5563"/>
                </a:solidFill>
              </a:defRPr>
            </a:pPr>
            <a:r>
              <a:rPr sz="1350" b="0">
                <a:solidFill>
                  <a:srgbClr val="4B5563"/>
                </a:solidFill>
              </a:rPr>
              <a:t>Evidence, runbook, safety, memory, completeness are scored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9C0E4D1-B86D-4311-B64A-C7CF5D573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934445-D11C-4DD3-8141-BBA69EC10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3880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B0F19"/>
                </a:solidFill>
              </a:defRPr>
            </a:pPr>
            <a:r>
              <a:rPr sz="1425" b="1">
                <a:solidFill>
                  <a:srgbClr val="0B0F19"/>
                </a:solidFill>
              </a:rPr>
              <a:t>Unclear regressions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21507E6-1365-4533-A0A0-0E9CB16B0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388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Audit trail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B9AA93B-A680-440C-89E9-CE07302C5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5816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B5563"/>
                </a:solidFill>
              </a:defRPr>
            </a:pPr>
            <a:r>
              <a:rPr sz="1350" b="0">
                <a:solidFill>
                  <a:srgbClr val="4B5563"/>
                </a:solidFill>
              </a:rPr>
              <a:t>Accepted and rejected attempts are visible</a:t>
            </a:r>
          </a:p>
        </p:txBody>
      </p:sp>
    </p:spTree>
    <p:extLst>
      <p:ext uri="{BB962C8B-B14F-4D97-AF65-F5344CB8AC3E}">
        <p14:creationId xmlns:p14="http://schemas.microsoft.com/office/powerpoint/2010/main" val="9873159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6F7A92-6FE8-49C1-A7EA-4DD6B47FB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HARNESS ENGINEERING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9A6B0D-2D85-44A1-9DD4-610E6AB73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B0F19"/>
                </a:solidFill>
              </a:defRPr>
            </a:pPr>
            <a:r>
              <a:rPr sz="2925" b="1">
                <a:solidFill>
                  <a:srgbClr val="0B0F19"/>
                </a:solidFill>
              </a:rPr>
              <a:t>Feedforward controls prevent avoidable mistakes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3F53C5-A804-419C-8999-51D827E75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9DDDFD-D612-4840-8A8A-A41124995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00250"/>
            <a:ext cx="2952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4ECAB5-6757-42FD-B2FB-2997C1DC8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52650"/>
            <a:ext cx="2609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</a:defRPr>
            </a:pPr>
            <a:r>
              <a:rPr sz="1350" b="1">
                <a:solidFill>
                  <a:srgbClr val="2563EB"/>
                </a:solidFill>
              </a:rPr>
              <a:t>Guides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7F096D-1D21-4B26-BA69-2A549933E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14600"/>
            <a:ext cx="2609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F19"/>
                </a:solidFill>
              </a:defRPr>
            </a:pPr>
            <a:r>
              <a:rPr sz="1500" b="0">
                <a:solidFill>
                  <a:srgbClr val="0B0F19"/>
                </a:solidFill>
              </a:rPr>
              <a:t>Runbook, output contract, forbidden actions, prior lessons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5C2F50-7551-4000-B111-A8B621C5C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00250"/>
            <a:ext cx="3333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06A33A-6C32-409D-BEF5-5F60EC380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152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891B2"/>
                </a:solidFill>
              </a:defRPr>
            </a:pPr>
            <a:r>
              <a:rPr sz="1350" b="1">
                <a:solidFill>
                  <a:srgbClr val="0891B2"/>
                </a:solidFill>
              </a:rPr>
              <a:t>Scoped context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7C8574-B835-4DC0-B8EB-77CD773F0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514600"/>
            <a:ext cx="2990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F19"/>
                </a:solidFill>
              </a:defRPr>
            </a:pPr>
            <a:r>
              <a:rPr sz="1500" b="0">
                <a:solidFill>
                  <a:srgbClr val="0B0F19"/>
                </a:solidFill>
              </a:rPr>
              <a:t>Log agent gets logs. Runbook agent gets runbook. Memory agent gets prior incidents.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36F3C9-AEE2-42A5-B1E6-5F5C9A8BB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00250"/>
            <a:ext cx="26670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8C41AF-6168-4781-B4E7-2F5523181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1526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59669"/>
                </a:solidFill>
              </a:defRPr>
            </a:pPr>
            <a:r>
              <a:rPr sz="1350" b="1">
                <a:solidFill>
                  <a:srgbClr val="059669"/>
                </a:solidFill>
              </a:rPr>
              <a:t>Planner input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8C402F-876B-4F59-9D5A-5F05C806C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14600"/>
            <a:ext cx="2324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F19"/>
                </a:solidFill>
              </a:defRPr>
            </a:pPr>
            <a:r>
              <a:rPr sz="1500" b="0">
                <a:solidFill>
                  <a:srgbClr val="0B0F19"/>
                </a:solidFill>
              </a:rPr>
              <a:t>Planner receives typed shared memory and required JSON fields, not the whole world.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DC2641-A0CD-49B3-BBFD-07C0CCBD8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609850"/>
            <a:ext cx="895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EFD926-B6F1-4BF3-9132-D8D05F03F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609850"/>
            <a:ext cx="895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8728DA-B1AC-429B-BE70-8541D9AAB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B0F19"/>
                </a:solidFill>
              </a:defRPr>
            </a:pPr>
            <a:r>
              <a:rPr sz="2025" b="1">
                <a:solidFill>
                  <a:srgbClr val="0B0F19"/>
                </a:solidFill>
              </a:rPr>
              <a:t>What this changes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1357CD-629D-40EB-B563-4E5730194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48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BAE192-DBA4-49E5-8F31-970784B46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72000"/>
            <a:ext cx="9696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F19"/>
                </a:solidFill>
              </a:defRPr>
            </a:pPr>
            <a:r>
              <a:rPr sz="1575" b="0">
                <a:solidFill>
                  <a:srgbClr val="0B0F19"/>
                </a:solidFill>
              </a:rPr>
              <a:t>The model is less likely to invent owners, dashboards, thresholds, or unsafe mitigations.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5D6E64-0B33-42AA-B746-8403AEC4C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720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27EB18-06C6-4F89-BAD2-0299C5C8C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95875"/>
            <a:ext cx="9696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F19"/>
                </a:solidFill>
              </a:defRPr>
            </a:pPr>
            <a:r>
              <a:rPr sz="1575" b="0">
                <a:solidFill>
                  <a:srgbClr val="0B0F19"/>
                </a:solidFill>
              </a:rPr>
              <a:t>The agent gets a map and precise task material, not a giant instruction manual.</a:t>
            </a:r>
          </a:p>
        </p:txBody>
      </p:sp>
    </p:spTree>
    <p:extLst>
      <p:ext uri="{BB962C8B-B14F-4D97-AF65-F5344CB8AC3E}">
        <p14:creationId xmlns:p14="http://schemas.microsoft.com/office/powerpoint/2010/main" val="15743671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D20FF5-7CDF-49E1-A9D3-64EA62E17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HARNESS ENGINEERING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136B76-0F8E-4C57-96D6-B3FC581AA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B0F19"/>
                </a:solidFill>
              </a:defRPr>
            </a:pPr>
            <a:r>
              <a:rPr sz="2925" b="1">
                <a:solidFill>
                  <a:srgbClr val="0B0F19"/>
                </a:solidFill>
              </a:rPr>
              <a:t>Feedback sensors make quality measurable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5C10E2-6CFE-4BCD-8779-C3922EBD4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AB1DB9-EEFC-405D-A9C7-10B6DA836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14550"/>
            <a:ext cx="17526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C9F7F1-3A92-4923-BF04-F6A9B8E7F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0505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0F19"/>
                </a:solidFill>
              </a:defRPr>
            </a:pPr>
            <a:r>
              <a:rPr sz="1575" b="1">
                <a:solidFill>
                  <a:srgbClr val="0B0F19"/>
                </a:solidFill>
              </a:rPr>
              <a:t>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B9CD0D-5EF6-4D51-B9DF-DF47BD3A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743200"/>
            <a:ext cx="704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000" b="1">
                <a:solidFill>
                  <a:srgbClr val="2563EB"/>
                </a:solidFill>
              </a:defRPr>
            </a:pPr>
            <a:r>
              <a:rPr sz="3000" b="1">
                <a:solidFill>
                  <a:srgbClr val="2563EB"/>
                </a:solidFill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DC688D-708E-4BCC-A6F6-71045B445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38500"/>
            <a:ext cx="1447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4B5563"/>
                </a:solidFill>
              </a:defRPr>
            </a:pPr>
            <a:r>
              <a:rPr sz="1200" b="0">
                <a:solidFill>
                  <a:srgbClr val="4B5563"/>
                </a:solidFill>
              </a:rPr>
              <a:t>Did required facts appear?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102DC9-B61D-4058-AA17-58F779A4A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114550"/>
            <a:ext cx="17526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9FCA8E-A107-46A3-935B-FC15B1A10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30505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0F19"/>
                </a:solidFill>
              </a:defRPr>
            </a:pPr>
            <a:r>
              <a:rPr sz="1575" b="1">
                <a:solidFill>
                  <a:srgbClr val="0B0F19"/>
                </a:solidFill>
              </a:rPr>
              <a:t>Runbook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5DBEE8-78F1-4FEE-9CB5-4206C8353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743200"/>
            <a:ext cx="704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000" b="1">
                <a:solidFill>
                  <a:srgbClr val="2563EB"/>
                </a:solidFill>
              </a:defRPr>
            </a:pPr>
            <a:r>
              <a:rPr sz="3000" b="1">
                <a:solidFill>
                  <a:srgbClr val="2563EB"/>
                </a:solidFill>
              </a:rPr>
              <a:t>25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368648-9CBD-4E32-9CF6-212D2EE46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238500"/>
            <a:ext cx="1447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4B5563"/>
                </a:solidFill>
              </a:defRPr>
            </a:pPr>
            <a:r>
              <a:rPr sz="1200" b="0">
                <a:solidFill>
                  <a:srgbClr val="4B5563"/>
                </a:solidFill>
              </a:rPr>
              <a:t>Did approved steps appear?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392B6A-423B-40F7-B7F1-5BDF49EED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114550"/>
            <a:ext cx="17526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6654A3-5092-460D-8B4E-40CDA4246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30505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0F19"/>
                </a:solidFill>
              </a:defRPr>
            </a:pPr>
            <a:r>
              <a:rPr sz="1575" b="1">
                <a:solidFill>
                  <a:srgbClr val="0B0F19"/>
                </a:solidFill>
              </a:rPr>
              <a:t>Safety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5284B9-5EB1-4CA7-BC17-0FA61AE97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743200"/>
            <a:ext cx="704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000" b="1">
                <a:solidFill>
                  <a:srgbClr val="2563EB"/>
                </a:solidFill>
              </a:defRPr>
            </a:pPr>
            <a:r>
              <a:rPr sz="3000" b="1">
                <a:solidFill>
                  <a:srgbClr val="2563EB"/>
                </a:solidFill>
              </a:rPr>
              <a:t>20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A0987E-F5F2-4547-A816-A1F968D53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238500"/>
            <a:ext cx="1447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4B5563"/>
                </a:solidFill>
              </a:defRPr>
            </a:pPr>
            <a:r>
              <a:rPr sz="1200" b="0">
                <a:solidFill>
                  <a:srgbClr val="4B5563"/>
                </a:solidFill>
              </a:rPr>
              <a:t>Did forbidden actions appear?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A1628A-70D8-408C-820B-3087AF7D9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2114550"/>
            <a:ext cx="17526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035B1E-1A1F-42C3-80D6-B5E3B75CD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30505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0F19"/>
                </a:solidFill>
              </a:defRPr>
            </a:pPr>
            <a:r>
              <a:rPr sz="1575" b="1">
                <a:solidFill>
                  <a:srgbClr val="0B0F19"/>
                </a:solidFill>
              </a:rPr>
              <a:t>Memory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121975-3913-4E46-BC0D-94A8C60C9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2743200"/>
            <a:ext cx="704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000" b="1">
                <a:solidFill>
                  <a:srgbClr val="2563EB"/>
                </a:solidFill>
              </a:defRPr>
            </a:pPr>
            <a:r>
              <a:rPr sz="3000" b="1">
                <a:solidFill>
                  <a:srgbClr val="2563EB"/>
                </a:solidFill>
              </a:rPr>
              <a:t>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780529-83B5-489E-8B54-5541A1B87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3238500"/>
            <a:ext cx="1447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4B5563"/>
                </a:solidFill>
              </a:defRPr>
            </a:pPr>
            <a:r>
              <a:rPr sz="1200" b="0">
                <a:solidFill>
                  <a:srgbClr val="4B5563"/>
                </a:solidFill>
              </a:rPr>
              <a:t>Did prior lesson enter result?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0005BB-BEF7-443F-A8CE-34CB9E251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14550"/>
            <a:ext cx="17526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A22DE2-30C7-4639-A045-AE72BAFE9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30505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0F19"/>
                </a:solidFill>
              </a:defRPr>
            </a:pPr>
            <a:r>
              <a:rPr sz="1575" b="1">
                <a:solidFill>
                  <a:srgbClr val="0B0F19"/>
                </a:solidFill>
              </a:rPr>
              <a:t>Completeness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930C9D-CFC3-46E4-91E2-4CCB6253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2743200"/>
            <a:ext cx="704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000" b="1">
                <a:solidFill>
                  <a:srgbClr val="2563EB"/>
                </a:solidFill>
              </a:defRPr>
            </a:pPr>
            <a:r>
              <a:rPr sz="3000" b="1">
                <a:solidFill>
                  <a:srgbClr val="2563EB"/>
                </a:solidFill>
              </a:rPr>
              <a:t>15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90E7D6-69E7-4FA2-A51D-E1B907F69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238500"/>
            <a:ext cx="1447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4B5563"/>
                </a:solidFill>
              </a:defRPr>
            </a:pPr>
            <a:r>
              <a:rPr sz="1200" b="0">
                <a:solidFill>
                  <a:srgbClr val="4B5563"/>
                </a:solidFill>
              </a:rPr>
              <a:t>Are required fields present?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2280F2-C61B-4AFF-9042-9E5DEE727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52950"/>
            <a:ext cx="9334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596E50-B1E5-4AF7-BAF6-D79B7D63B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7625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2563EB"/>
                </a:solidFill>
              </a:defRPr>
            </a:pPr>
            <a:r>
              <a:rPr sz="1875" b="1">
                <a:solidFill>
                  <a:srgbClr val="2563EB"/>
                </a:solidFill>
              </a:rPr>
              <a:t>Rules own the score. LLM critique can explain findings, but it does not invent the metric.</a:t>
            </a:r>
          </a:p>
        </p:txBody>
      </p:sp>
    </p:spTree>
    <p:extLst>
      <p:ext uri="{BB962C8B-B14F-4D97-AF65-F5344CB8AC3E}">
        <p14:creationId xmlns:p14="http://schemas.microsoft.com/office/powerpoint/2010/main" val="143630005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6BF2DE-C157-415F-9D9D-6D0F6F470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HARNESS ENGINEERING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132F6D-DCCE-4B78-824C-DC574AC1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B0F19"/>
                </a:solidFill>
              </a:defRPr>
            </a:pPr>
            <a:r>
              <a:rPr sz="2925" b="1">
                <a:solidFill>
                  <a:srgbClr val="0B0F19"/>
                </a:solidFill>
              </a:rPr>
              <a:t>Steering loops repair output without accepting regressions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96E957-4F9E-4BE7-AA34-45507D2B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F81D9D-CC5D-48AE-A214-D3310322F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57450"/>
            <a:ext cx="1333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3C2BC6-C98A-4EA3-9C7C-DFAF2C43F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7652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B0F19"/>
                </a:solidFill>
              </a:defRPr>
            </a:pPr>
            <a:r>
              <a:rPr sz="1425" b="1">
                <a:solidFill>
                  <a:srgbClr val="0B0F19"/>
                </a:solidFill>
              </a:rPr>
              <a:t>Generate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1E8D7B-2415-410D-95E7-4BAEFC33A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809875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92BFFC-C27A-47D8-BB72-EAAB24B12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457450"/>
            <a:ext cx="1333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C344E7-757C-49C9-82FB-E6ACA1B07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67652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B0F19"/>
                </a:solidFill>
              </a:defRPr>
            </a:pPr>
            <a:r>
              <a:rPr sz="1425" b="1">
                <a:solidFill>
                  <a:srgbClr val="0B0F19"/>
                </a:solidFill>
              </a:rPr>
              <a:t>Score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8D63D2-D554-4F6F-9140-9A3895D53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809875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C69A32-177F-4D69-87A5-A69C3B38C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457450"/>
            <a:ext cx="1333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140DBA-D5A8-4927-BB8A-F2F5805A9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7652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B0F19"/>
                </a:solidFill>
              </a:defRPr>
            </a:pPr>
            <a:r>
              <a:rPr sz="1425" b="1">
                <a:solidFill>
                  <a:srgbClr val="0B0F19"/>
                </a:solidFill>
              </a:rPr>
              <a:t>Critique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363A05-C7AA-404A-9A60-DED9C6DEA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809875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865E0C-2082-48B6-9F44-F10852F96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457450"/>
            <a:ext cx="1333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A2A1A3-A353-455C-905D-21F08D1BF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67652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B0F19"/>
                </a:solidFill>
              </a:defRPr>
            </a:pPr>
            <a:r>
              <a:rPr sz="1425" b="1">
                <a:solidFill>
                  <a:srgbClr val="0B0F19"/>
                </a:solidFill>
              </a:rPr>
              <a:t>Repair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4B8CD3-0DB8-420F-AAB1-D1D2BB494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09875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FBB1B1-475D-4FC8-9EF2-19C978E1F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457450"/>
            <a:ext cx="1333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7B8866-CB00-4BC2-916F-39C0DCDB8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7652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B0F19"/>
                </a:solidFill>
              </a:defRPr>
            </a:pPr>
            <a:r>
              <a:rPr sz="1425" b="1">
                <a:solidFill>
                  <a:srgbClr val="0B0F19"/>
                </a:solidFill>
              </a:rPr>
              <a:t>Re-score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6DF4CD-89BC-4460-A174-60DC17990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809875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218BBB-47BE-46C1-A73B-8C97A1C7C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457450"/>
            <a:ext cx="1333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A7F3D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6FB5DC-6C99-49CD-AA67-586AE2FF9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67652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59669"/>
                </a:solidFill>
              </a:defRPr>
            </a:pPr>
            <a:r>
              <a:rPr sz="1425" b="1">
                <a:solidFill>
                  <a:srgbClr val="059669"/>
                </a:solidFill>
              </a:rPr>
              <a:t>Accept / Escalate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92FD91-9BD8-444F-BC5A-0C19D27E1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386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B0F19"/>
                </a:solidFill>
              </a:defRPr>
            </a:pPr>
            <a:r>
              <a:rPr sz="2100" b="1">
                <a:solidFill>
                  <a:srgbClr val="0B0F19"/>
                </a:solidFill>
              </a:rPr>
              <a:t>Critical production rule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19966F-CCD0-49F5-81A6-F97537FF8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48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FBFEBB-D909-410E-B0E9-4E33FB361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572000"/>
            <a:ext cx="8362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F19"/>
                </a:solidFill>
              </a:defRPr>
            </a:pPr>
            <a:r>
              <a:rPr sz="1575" b="0">
                <a:solidFill>
                  <a:srgbClr val="0B0F19"/>
                </a:solidFill>
              </a:rPr>
              <a:t>The loop is not last-answer-wins.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299E1E-AF36-4A69-860C-1668C71F0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81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F96AA2-4B2C-4349-A3C5-56B1E23D5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9410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F19"/>
                </a:solidFill>
              </a:defRPr>
            </a:pPr>
            <a:r>
              <a:rPr sz="1575" b="0">
                <a:solidFill>
                  <a:srgbClr val="0B0F19"/>
                </a:solidFill>
              </a:rPr>
              <a:t>A later repair can get worse, so the harness keeps the best safe candidate and records failed repairs.</a:t>
            </a:r>
          </a:p>
        </p:txBody>
      </p:sp>
    </p:spTree>
    <p:extLst>
      <p:ext uri="{BB962C8B-B14F-4D97-AF65-F5344CB8AC3E}">
        <p14:creationId xmlns:p14="http://schemas.microsoft.com/office/powerpoint/2010/main" val="88587301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888038-44D5-4956-8C5B-90B42BF77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HARNESS ENGINEERING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2FEBDF-5DAF-4B39-9EC0-70D736553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B0F19"/>
                </a:solidFill>
              </a:defRPr>
            </a:pPr>
            <a:r>
              <a:rPr sz="2925" b="1">
                <a:solidFill>
                  <a:srgbClr val="0B0F19"/>
                </a:solidFill>
              </a:rPr>
              <a:t>Good memory is scoped, fresh, and compact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7387CF-B651-4E64-867C-557AEDB9C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83B0FF-399F-469D-8491-DC24469A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2381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A26979-1313-4FC9-A66E-C77817D9C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479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</a:defRPr>
            </a:pPr>
            <a:r>
              <a:rPr sz="1350" b="1">
                <a:solidFill>
                  <a:srgbClr val="2563EB"/>
                </a:solidFill>
              </a:rPr>
              <a:t>Conversation history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D45212-A0E7-43DE-BEBE-37EFE52E7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09850"/>
            <a:ext cx="2038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F19"/>
                </a:solidFill>
              </a:defRPr>
            </a:pPr>
            <a:r>
              <a:rPr sz="1500" b="0">
                <a:solidFill>
                  <a:srgbClr val="0B0F19"/>
                </a:solidFill>
              </a:rPr>
              <a:t>Recent turns needed for continuity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E9330A-3CA4-4822-92BF-F3022378A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95500"/>
            <a:ext cx="2381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C871FE-3058-4E76-A31E-AFA6E4F62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479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891B2"/>
                </a:solidFill>
              </a:defRPr>
            </a:pPr>
            <a:r>
              <a:rPr sz="1350" b="1">
                <a:solidFill>
                  <a:srgbClr val="0891B2"/>
                </a:solidFill>
              </a:rPr>
              <a:t>Persistent memory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BC1487-08BB-4A62-A409-A94BFC08C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09850"/>
            <a:ext cx="2038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F19"/>
                </a:solidFill>
              </a:defRPr>
            </a:pPr>
            <a:r>
              <a:rPr sz="1500" b="0">
                <a:solidFill>
                  <a:srgbClr val="0B0F19"/>
                </a:solidFill>
              </a:rPr>
              <a:t>Durable user, org, or domain facts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1FED97-A9DC-49B2-A066-B7816794A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95500"/>
            <a:ext cx="2381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AE4B87-C451-4D63-A0F9-147EDB181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2479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97706"/>
                </a:solidFill>
              </a:defRPr>
            </a:pPr>
            <a:r>
              <a:rPr sz="1350" b="1">
                <a:solidFill>
                  <a:srgbClr val="D97706"/>
                </a:solidFill>
              </a:rPr>
              <a:t>Compaction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990780-10DF-41C4-AAF3-221B42B62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609850"/>
            <a:ext cx="2038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F19"/>
                </a:solidFill>
              </a:defRPr>
            </a:pPr>
            <a:r>
              <a:rPr sz="1500" b="0">
                <a:solidFill>
                  <a:srgbClr val="0B0F19"/>
                </a:solidFill>
              </a:rPr>
              <a:t>Replace long history with a task handoff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456656-457F-4EE0-AA33-EDDED087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095500"/>
            <a:ext cx="2381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83B07E-E4BD-47BF-8250-CFDCAA7B4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479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59669"/>
                </a:solidFill>
              </a:defRPr>
            </a:pPr>
            <a:r>
              <a:rPr sz="1350" b="1">
                <a:solidFill>
                  <a:srgbClr val="059669"/>
                </a:solidFill>
              </a:rPr>
              <a:t>Retrieval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57DD18-DD6B-474C-9E64-5FB72B715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609850"/>
            <a:ext cx="2038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F19"/>
                </a:solidFill>
              </a:defRPr>
            </a:pPr>
            <a:r>
              <a:rPr sz="1500" b="0">
                <a:solidFill>
                  <a:srgbClr val="0B0F19"/>
                </a:solidFill>
              </a:rPr>
              <a:t>Bring back only relevant old facts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0156C9-E90E-44EF-9D72-744A35FA6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5290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B0F19"/>
                </a:solidFill>
              </a:defRPr>
            </a:pPr>
            <a:r>
              <a:rPr sz="2100" b="1">
                <a:solidFill>
                  <a:srgbClr val="0B0F19"/>
                </a:solidFill>
              </a:rPr>
              <a:t>Production principle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F7A4A9-C475-44AD-8740-3911325E5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625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710C36-B053-4800-8D55-2578E366C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86300"/>
            <a:ext cx="9505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F19"/>
                </a:solidFill>
              </a:defRPr>
            </a:pPr>
            <a:r>
              <a:rPr sz="1575" b="0">
                <a:solidFill>
                  <a:srgbClr val="0B0F19"/>
                </a:solidFill>
              </a:rPr>
              <a:t>Store history durably; do not resend all of it to the model.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12ABE4-1605-4350-B83F-26F3939EC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768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80F2AA-2911-4078-A32A-4DA606177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00650"/>
            <a:ext cx="9505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F19"/>
                </a:solidFill>
              </a:defRPr>
            </a:pPr>
            <a:r>
              <a:rPr sz="1575" b="0">
                <a:solidFill>
                  <a:srgbClr val="0B0F19"/>
                </a:solidFill>
              </a:rPr>
              <a:t>Compact at boundaries: long runs, large tool output, milestone handoff, pause/resume, or before escalation.</a:t>
            </a:r>
          </a:p>
        </p:txBody>
      </p:sp>
    </p:spTree>
    <p:extLst>
      <p:ext uri="{BB962C8B-B14F-4D97-AF65-F5344CB8AC3E}">
        <p14:creationId xmlns:p14="http://schemas.microsoft.com/office/powerpoint/2010/main" val="175158657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3B913B-8B83-4577-9E73-A53B5778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HARNESS ENGINEERING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0B0EF7-8989-4011-AE16-A36C8312C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B0F19"/>
                </a:solidFill>
              </a:defRPr>
            </a:pPr>
            <a:r>
              <a:rPr sz="2925" b="1">
                <a:solidFill>
                  <a:srgbClr val="0B0F19"/>
                </a:solidFill>
              </a:rPr>
              <a:t>HITL enables controlled autonomy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0DACDF-01B3-445B-A466-1549A437C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56E85F-59DE-4B43-84A5-44DA7EDBE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14550"/>
            <a:ext cx="2476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A2F1E4-0439-4DF6-A617-331694915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B0F19"/>
                </a:solidFill>
              </a:defRPr>
            </a:pPr>
            <a:r>
              <a:rPr sz="1800" b="1">
                <a:solidFill>
                  <a:srgbClr val="0B0F19"/>
                </a:solidFill>
              </a:rPr>
              <a:t>Model proposes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AAC300-598F-47C7-9E86-6664CF70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638425"/>
            <a:ext cx="123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B7E38F-0DCC-4AE3-8F23-FEA98E0E1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62150"/>
            <a:ext cx="29527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2F2"/>
          </a:solidFill>
          <a:ln xmlns:a="http://schemas.openxmlformats.org/drawingml/2006/main" w="9525">
            <a:solidFill>
              <a:srgbClr val="FECAC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DBE587-24E6-4FEB-9E6C-00AC29C8A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2098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DC2626"/>
                </a:solidFill>
              </a:defRPr>
            </a:pPr>
            <a:r>
              <a:rPr sz="1800" b="1">
                <a:solidFill>
                  <a:srgbClr val="DC2626"/>
                </a:solidFill>
              </a:rPr>
              <a:t>Policy gate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96C12C-DB00-4353-981D-92F08A5CB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90800"/>
            <a:ext cx="2095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0B0F19"/>
                </a:solidFill>
              </a:defRPr>
            </a:pPr>
            <a:r>
              <a:rPr sz="1425" b="0">
                <a:solidFill>
                  <a:srgbClr val="0B0F19"/>
                </a:solidFill>
              </a:rPr>
              <a:t>Forbidden action?</a:t>
            </a:r>
          </a:p>
          <a:p xmlns:a="http://schemas.openxmlformats.org/drawingml/2006/main">
            <a:pPr algn="ctr">
              <a:buNone/>
              <a:defRPr sz="1425" b="0">
                <a:solidFill>
                  <a:srgbClr val="0B0F19"/>
                </a:solidFill>
              </a:defRPr>
            </a:pPr>
            <a:r>
              <a:rPr sz="1425" b="0">
                <a:solidFill>
                  <a:srgbClr val="0B0F19"/>
                </a:solidFill>
              </a:rPr>
              <a:t>Missing runbook?</a:t>
            </a:r>
          </a:p>
          <a:p xmlns:a="http://schemas.openxmlformats.org/drawingml/2006/main">
            <a:pPr algn="ctr">
              <a:buNone/>
              <a:defRPr sz="1425" b="0">
                <a:solidFill>
                  <a:srgbClr val="0B0F19"/>
                </a:solidFill>
              </a:defRPr>
            </a:pPr>
            <a:r>
              <a:rPr sz="1425" b="0">
                <a:solidFill>
                  <a:srgbClr val="0B0F19"/>
                </a:solidFill>
              </a:rPr>
              <a:t>Low confidence?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14A675-C189-44E3-AAAF-087282C01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638425"/>
            <a:ext cx="121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0D79E3-20EE-4346-91B8-6B75FDE54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114550"/>
            <a:ext cx="2476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A7F3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0054E7-265C-40B4-A9E7-AD576152D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476500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59669"/>
                </a:solidFill>
              </a:defRPr>
            </a:pPr>
            <a:r>
              <a:rPr sz="1800" b="1">
                <a:solidFill>
                  <a:srgbClr val="059669"/>
                </a:solidFill>
              </a:rPr>
              <a:t>Approve or escalate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68E9B9-FE17-498D-9FAD-A75B4DD0B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386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926302-06B5-4FEC-96ED-4A27CA884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62450"/>
            <a:ext cx="9124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F19"/>
                </a:solidFill>
              </a:defRPr>
            </a:pPr>
            <a:r>
              <a:rPr sz="1575" b="0">
                <a:solidFill>
                  <a:srgbClr val="0B0F19"/>
                </a:solidFill>
              </a:rPr>
              <a:t>Humans are called when the workflow leaves the approved operating envelope.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DB92A8-7C60-4798-BC5D-BAE4FBFB7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72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FD199C-37D8-4236-ADB8-660DC9646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95850"/>
            <a:ext cx="9124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F19"/>
                </a:solidFill>
              </a:defRPr>
            </a:pPr>
            <a:r>
              <a:rPr sz="1575" b="0">
                <a:solidFill>
                  <a:srgbClr val="0B0F19"/>
                </a:solidFill>
              </a:rPr>
              <a:t>In the incident demo, restart/drop/payment-write actions trigger blocking review or escalation.</a:t>
            </a:r>
          </a:p>
        </p:txBody>
      </p:sp>
    </p:spTree>
    <p:extLst>
      <p:ext uri="{BB962C8B-B14F-4D97-AF65-F5344CB8AC3E}">
        <p14:creationId xmlns:p14="http://schemas.microsoft.com/office/powerpoint/2010/main" val="69334833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298FC3-113A-4A28-BE06-DB072CD4D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HARNESS ENGINEERING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A79AB0-B3D4-4A3F-8ED1-79D677BF8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B0F19"/>
                </a:solidFill>
              </a:defRPr>
            </a:pPr>
            <a:r>
              <a:rPr sz="2925" b="1">
                <a:solidFill>
                  <a:srgbClr val="0B0F19"/>
                </a:solidFill>
              </a:rPr>
              <a:t>The notebook shows the adoption spectrum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1FC538-6544-4EE5-9791-1AE232EF6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AB5935-F44D-423B-A903-563F41717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2F2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7A0201-D743-4303-B68F-A7420D951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431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DC2626"/>
                </a:solidFill>
              </a:defRPr>
            </a:pPr>
            <a:r>
              <a:rPr sz="1650" b="1">
                <a:solidFill>
                  <a:srgbClr val="DC2626"/>
                </a:solidFill>
              </a:rPr>
              <a:t>No harness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61B8BD-3A91-4DE1-A2E3-B7FAFB04E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857375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B0F19"/>
                </a:solidFill>
              </a:defRPr>
            </a:pPr>
            <a:r>
              <a:rPr sz="1500" b="1">
                <a:solidFill>
                  <a:srgbClr val="0B0F19"/>
                </a:solidFill>
              </a:rPr>
              <a:t>Strong model sees ticket only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088E4C-7DE0-468E-BE88-303E570F7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1145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B5563"/>
                </a:solidFill>
              </a:defRPr>
            </a:pPr>
            <a:r>
              <a:rPr sz="1350" b="0">
                <a:solidFill>
                  <a:srgbClr val="4B5563"/>
                </a:solidFill>
              </a:rPr>
              <a:t>Good writing; little governance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80CEAD-1A2E-40C9-9AD6-583A5CBA7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9080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2F2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34FFE1-0674-41CB-A186-4BA17B900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432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DC2626"/>
                </a:solidFill>
              </a:defRPr>
            </a:pPr>
            <a:r>
              <a:rPr sz="1650" b="1">
                <a:solidFill>
                  <a:srgbClr val="DC2626"/>
                </a:solidFill>
              </a:rPr>
              <a:t>Weak harness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AA6095-CB63-411A-BB3A-8651CCB3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657475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B0F19"/>
                </a:solidFill>
              </a:defRPr>
            </a:pPr>
            <a:r>
              <a:rPr sz="1500" b="1">
                <a:solidFill>
                  <a:srgbClr val="0B0F19"/>
                </a:solidFill>
              </a:rPr>
              <a:t>Shared scratchpad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23EA4A-62DD-4C5C-A52A-19FEC1B6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9146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B5563"/>
                </a:solidFill>
              </a:defRPr>
            </a:pPr>
            <a:r>
              <a:rPr sz="1350" b="0">
                <a:solidFill>
                  <a:srgbClr val="4B5563"/>
                </a:solidFill>
              </a:rPr>
              <a:t>Multi-agent shape, weak controls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FA4B14-1D09-4AD1-BF9A-92DF15AE4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9090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54C6AB-3107-44E7-B769-64A333744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433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Custom harness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E5A97E-A4E0-4C1E-B404-286B11A3C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457575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B0F19"/>
                </a:solidFill>
              </a:defRPr>
            </a:pPr>
            <a:r>
              <a:rPr sz="1500" b="1">
                <a:solidFill>
                  <a:srgbClr val="0B0F19"/>
                </a:solidFill>
              </a:rPr>
              <a:t>Typed memory + scorer + loop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3435C5-2AAC-480E-A8AC-FFFE23513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7147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B5563"/>
                </a:solidFill>
              </a:defRPr>
            </a:pPr>
            <a:r>
              <a:rPr sz="1350" b="0">
                <a:solidFill>
                  <a:srgbClr val="4B5563"/>
                </a:solidFill>
              </a:rPr>
              <a:t>Measurable and repairable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7A4818-D05C-447D-A283-DEFF1998B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9100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24D3AE-2456-4C08-A59F-D629B8ED0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434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9669"/>
                </a:solidFill>
              </a:defRPr>
            </a:pPr>
            <a:r>
              <a:rPr sz="1650" b="1">
                <a:solidFill>
                  <a:srgbClr val="059669"/>
                </a:solidFill>
              </a:rPr>
              <a:t>Strands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768094-649A-4AA6-AF1E-BA17D5208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257675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B0F19"/>
                </a:solidFill>
              </a:defRPr>
            </a:pPr>
            <a:r>
              <a:rPr sz="1500" b="1">
                <a:solidFill>
                  <a:srgbClr val="0B0F19"/>
                </a:solidFill>
              </a:rPr>
              <a:t>SDK agents + plugins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A5731D-4E2A-4E23-BDEA-B89687DD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5148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B5563"/>
                </a:solidFill>
              </a:defRPr>
            </a:pPr>
            <a:r>
              <a:rPr sz="1350" b="0">
                <a:solidFill>
                  <a:srgbClr val="4B5563"/>
                </a:solidFill>
              </a:rPr>
              <a:t>Adoption path for reusable controls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15184C-D001-402A-B2F4-67FA15809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9110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8D3463-58AB-4239-8524-5DE89BE90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435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9669"/>
                </a:solidFill>
              </a:defRPr>
            </a:pPr>
            <a:r>
              <a:rPr sz="1650" b="1">
                <a:solidFill>
                  <a:srgbClr val="059669"/>
                </a:solidFill>
              </a:rPr>
              <a:t>DeepSeek Harness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A95AAE-7D9A-4137-B9D9-BB9B45697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057775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B0F19"/>
                </a:solidFill>
              </a:defRPr>
            </a:pPr>
            <a:r>
              <a:rPr sz="1500" b="1">
                <a:solidFill>
                  <a:srgbClr val="0B0F19"/>
                </a:solidFill>
              </a:rPr>
              <a:t>Packaged runtime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1006AC-725E-4BBD-A8CC-E95166A5B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3149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B5563"/>
                </a:solidFill>
              </a:defRPr>
            </a:pPr>
            <a:r>
              <a:rPr sz="1350" b="0">
                <a:solidFill>
                  <a:srgbClr val="4B5563"/>
                </a:solidFill>
              </a:rPr>
              <a:t>Plug-and-play direction is emerging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5BFF79-F356-4DB4-9775-44231E542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7695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563EB"/>
                </a:solidFill>
              </a:defRPr>
            </a:pPr>
            <a:r>
              <a:rPr sz="1725" b="1">
                <a:solidFill>
                  <a:srgbClr val="2563EB"/>
                </a:solidFill>
              </a:rPr>
              <a:t>Demo thesis: stronger harnesses make model output more measurable, controllable, repairable, and auditable.</a:t>
            </a:r>
          </a:p>
        </p:txBody>
      </p:sp>
    </p:spTree>
    <p:extLst>
      <p:ext uri="{BB962C8B-B14F-4D97-AF65-F5344CB8AC3E}">
        <p14:creationId xmlns:p14="http://schemas.microsoft.com/office/powerpoint/2010/main" val="90971876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D1067A-0013-4283-AAF9-8D3368F1B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HARNESS ENGINEERING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27DE6C-7E92-4487-A1BB-D7B3B77F2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B0F19"/>
                </a:solidFill>
              </a:defRPr>
            </a:pPr>
            <a:r>
              <a:rPr sz="2925" b="1">
                <a:solidFill>
                  <a:srgbClr val="0B0F19"/>
                </a:solidFill>
              </a:rPr>
              <a:t>What management should take away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AE6C6F-41E4-43FE-8C52-E0C4F0CF0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D2CBF5-5C0E-43A5-A511-AF5CDCCE7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B0F19"/>
                </a:solidFill>
              </a:defRPr>
            </a:pPr>
            <a:r>
              <a:rPr sz="2250" b="1">
                <a:solidFill>
                  <a:srgbClr val="0B0F19"/>
                </a:solidFill>
              </a:rPr>
              <a:t>Harness engineering is how we move from impressive demos to production AI systems.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2BDA7B-3769-43EC-8451-E98E05542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9908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FACE94-1805-4ADF-A4A6-58A070A0C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914650"/>
            <a:ext cx="9124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F19"/>
                </a:solidFill>
              </a:defRPr>
            </a:pPr>
            <a:r>
              <a:rPr sz="1575" b="0">
                <a:solidFill>
                  <a:srgbClr val="0B0F19"/>
                </a:solidFill>
              </a:rPr>
              <a:t>Approve investment in reusable harness components: context builder, memory, tool routing, evals, guardrails, audit, and HITL.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C44EC1-6DAE-4C2B-9A9E-3B3B7DAE4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6766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A37EC6-7355-4DFC-87D7-37D18BC7C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00450"/>
            <a:ext cx="9124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F19"/>
                </a:solidFill>
              </a:defRPr>
            </a:pPr>
            <a:r>
              <a:rPr sz="1575" b="0">
                <a:solidFill>
                  <a:srgbClr val="0B0F19"/>
                </a:solidFill>
              </a:rPr>
              <a:t>Measure model choices inside the same harness; do not compare raw model demos to governed workflows.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972845-A671-41E9-8C0F-CAB481820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362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8E6792-CDC6-4575-B676-4902B4ACA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86250"/>
            <a:ext cx="9124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F19"/>
                </a:solidFill>
              </a:defRPr>
            </a:pPr>
            <a:r>
              <a:rPr sz="1575" b="0">
                <a:solidFill>
                  <a:srgbClr val="0B0F19"/>
                </a:solidFill>
              </a:rPr>
              <a:t>Adopt SDK/provider harnesses where they help, but keep application-level quality contracts and deterministic gates.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21D09F-56A7-4651-AFBD-BAF7D14F1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334000"/>
            <a:ext cx="9334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9"/>
          </a:solidFill>
          <a:ln xmlns:a="http://schemas.openxmlformats.org/drawingml/2006/main" w="9525">
            <a:solidFill>
              <a:srgbClr val="0B0F1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99E451-4446-4401-B95E-210C128B8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5245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A better model may improve answers. A better harness improves the operating system around every answer.</a:t>
            </a:r>
          </a:p>
        </p:txBody>
      </p:sp>
    </p:spTree>
    <p:extLst>
      <p:ext uri="{BB962C8B-B14F-4D97-AF65-F5344CB8AC3E}">
        <p14:creationId xmlns:p14="http://schemas.microsoft.com/office/powerpoint/2010/main" val="23627933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6674E05-0D0D-40AB-B478-077112DF7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PRODUCTION PLAYBOOK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7B23F4-7462-4FA7-B47A-7A57D8470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B0F19"/>
                </a:solidFill>
              </a:defRPr>
            </a:pPr>
            <a:r>
              <a:rPr sz="2925" b="1">
                <a:solidFill>
                  <a:srgbClr val="0B0F19"/>
                </a:solidFill>
              </a:rPr>
              <a:t>What a production agentic harness includes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3943D9-88E6-4950-919B-06A72583F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F16D15-523F-4A9C-A0F8-401A61BED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1019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4B5563"/>
                </a:solidFill>
              </a:defRPr>
            </a:pPr>
            <a:r>
              <a:rPr sz="1575" b="0">
                <a:solidFill>
                  <a:srgbClr val="4B5563"/>
                </a:solidFill>
              </a:rPr>
              <a:t>Use this as the build checklist after the demo: design the work, bound the autonomy, then add controls that make behavior measurable and recoverable.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8D84EB-B432-4DB1-A7B4-8E3B3645B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32861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CFADF2-6540-4EB4-ADA3-2196BECC6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0EF95C-E25B-49ED-AED0-6F490B0EB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0032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04AA46-9031-4586-9979-BA850B670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438400"/>
            <a:ext cx="2505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</a:defRPr>
            </a:pPr>
            <a:r>
              <a:rPr sz="1350" b="1">
                <a:solidFill>
                  <a:srgbClr val="2563EB"/>
                </a:solidFill>
              </a:rPr>
              <a:t>Decompose the work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1653C7-DCDB-424E-B15E-5E917A769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714625"/>
            <a:ext cx="25050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Stages, inputs, outputs, owners, and handoffs.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2A2F25-FEFC-497C-A186-D6C63CCEB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2286000"/>
            <a:ext cx="32861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591B10-64B4-4402-A674-DC6A40964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54317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37067D-C9E3-4B8A-8F10-10C5D7153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60032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DDF5B9-F72D-4AA6-8301-B9A35B481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2438400"/>
            <a:ext cx="2505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C2626"/>
                </a:solidFill>
              </a:defRPr>
            </a:pPr>
            <a:r>
              <a:rPr sz="1350" b="1">
                <a:solidFill>
                  <a:srgbClr val="DC2626"/>
                </a:solidFill>
              </a:rPr>
              <a:t>Set autonomy and risk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B458C1-7C35-4D33-A9F0-BBD0BD0A7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2714625"/>
            <a:ext cx="25050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Criticality, budget, latency, permissions, and stop conditions.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E782C8-023C-4653-A070-B1FD12B78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86000"/>
            <a:ext cx="32861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C030BF-5E1F-43DA-A46B-ED69A1DC5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4317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9525">
            <a:solidFill>
              <a:srgbClr val="0891B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4FC45A-AB83-4F6F-BCF4-83F967F53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60032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99D0DF-8581-4F3C-B449-44ECF3D67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438400"/>
            <a:ext cx="2505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891B2"/>
                </a:solidFill>
              </a:defRPr>
            </a:pPr>
            <a:r>
              <a:rPr sz="1350" b="1">
                <a:solidFill>
                  <a:srgbClr val="0891B2"/>
                </a:solidFill>
              </a:rPr>
              <a:t>Choose the pattern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E28F20-DAA4-400D-A6CA-93012DB89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14625"/>
            <a:ext cx="25050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Augmented LLM first; graph or swarm only when needed.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4B6148-21EE-42F4-B554-958EC5A3E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32861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4F0AAE-366E-4607-A06C-2967750EF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0997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B40F68-48FC-43EE-BB82-F4FE9BF08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6712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063533-08D6-40EA-B41B-66CB444B9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505200"/>
            <a:ext cx="2505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97706"/>
                </a:solidFill>
              </a:defRPr>
            </a:pPr>
            <a:r>
              <a:rPr sz="1350" b="1">
                <a:solidFill>
                  <a:srgbClr val="D97706"/>
                </a:solidFill>
              </a:rPr>
              <a:t>Mark critical stages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448C30-8F59-4313-A273-8A1BA7429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81425"/>
            <a:ext cx="25050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Decisions, writes, external actions, and irreversible steps.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644943-95EB-43DE-800C-9100CB69B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3352800"/>
            <a:ext cx="32861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5E3CF1-F43D-42DB-A871-FB442DC7D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60997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9091EED-4083-4002-B864-38B929D07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66712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96E4E3-43E6-45F4-BD2F-29DC88A51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3505200"/>
            <a:ext cx="2505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59669"/>
                </a:solidFill>
              </a:defRPr>
            </a:pPr>
            <a:r>
              <a:rPr sz="1350" b="1">
                <a:solidFill>
                  <a:srgbClr val="059669"/>
                </a:solidFill>
              </a:rPr>
              <a:t>Install guardrails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BD3C77-EAB3-4EC4-B58D-8B0397FBB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3781425"/>
            <a:ext cx="25050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Steering, hooks, policy checks, and HITL for high-risk steps.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C5FD469-07FB-4B63-B345-31F4287ED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352800"/>
            <a:ext cx="32861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14F48C4-CFE2-4AB4-BCAE-8F4EEC881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0997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AA50D6D-A8F7-4435-8CFB-B4DEAEBB2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6712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36C4969-9AB9-4B83-84D7-1BC6DCAFF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505200"/>
            <a:ext cx="2505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</a:defRPr>
            </a:pPr>
            <a:r>
              <a:rPr sz="1350" b="1">
                <a:solidFill>
                  <a:srgbClr val="2563EB"/>
                </a:solidFill>
              </a:rPr>
              <a:t>Control context and tools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17896D7-FD0D-48F6-8493-F7904D5F2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781425"/>
            <a:ext cx="25050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Tool filters, skills, retrieval, and progressive disclosure.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B4DD677-18CB-4997-9300-9732F36EB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19600"/>
            <a:ext cx="32861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54001CC-8A79-4916-8DAE-B93C4E2C6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7677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9525">
            <a:solidFill>
              <a:srgbClr val="0891B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6308364-9CFE-415E-9435-F72ED7F30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3392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834576E-5A92-4F66-945D-A782A998B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572000"/>
            <a:ext cx="2505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891B2"/>
                </a:solidFill>
              </a:defRPr>
            </a:pPr>
            <a:r>
              <a:rPr sz="1350" b="1">
                <a:solidFill>
                  <a:srgbClr val="0891B2"/>
                </a:solidFill>
              </a:rPr>
              <a:t>Evaluate every stage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1AB0072-43D3-480C-9608-5DA17E252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48225"/>
            <a:ext cx="25050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Deterministic and LLM evals in CI/CD regression suites.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69F24F8-185B-45AA-9F6C-92871D4E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4419600"/>
            <a:ext cx="32861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8A5A6D7-93FD-41DD-8B50-048410872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467677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04C645A-40B9-4438-89BE-81F76575C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473392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F456FB4-1973-4593-9B76-74D1B5705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4572000"/>
            <a:ext cx="2505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59669"/>
                </a:solidFill>
              </a:defRPr>
            </a:pPr>
            <a:r>
              <a:rPr sz="1350" b="1">
                <a:solidFill>
                  <a:srgbClr val="059669"/>
                </a:solidFill>
              </a:rPr>
              <a:t>Define done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FFAFE47-A1DD-4418-B326-3FF720197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4848225"/>
            <a:ext cx="25050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Goal loops, schemas, acceptance criteria, and attempt budgets.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AF5F084-9E08-4626-BF03-580B0EA49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419600"/>
            <a:ext cx="32861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161E5EB-1126-490B-953B-AFBD02B89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7677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5F66129-4CBF-4F8C-A1D6-F37BACAC4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73392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B3CD872-B785-40FB-9838-A6F9D0780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572000"/>
            <a:ext cx="2505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97706"/>
                </a:solidFill>
              </a:defRPr>
            </a:pPr>
            <a:r>
              <a:rPr sz="1350" b="1">
                <a:solidFill>
                  <a:srgbClr val="D97706"/>
                </a:solidFill>
              </a:rPr>
              <a:t>Observe and improve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2556DAD-6171-40C3-B2AA-3CEC32FB9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848225"/>
            <a:ext cx="25050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Traces, decisions, tool calls, misses, and rejected attempts.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357D9D8-B968-416C-9AB6-40CA3D09D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6096000"/>
            <a:ext cx="994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6CB9757-340A-450A-B8E5-51670A391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191250"/>
            <a:ext cx="933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563EB"/>
                </a:solidFill>
              </a:defRPr>
            </a:pPr>
            <a:r>
              <a:rPr sz="1350" b="1">
                <a:solidFill>
                  <a:srgbClr val="2563EB"/>
                </a:solidFill>
              </a:rPr>
              <a:t>Principle: autonomy is earned by adding evidence, boundaries, evaluation, recovery, and human escalation.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9022453-0941-48CA-BCBE-5F2C4F825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F07F312-8E04-4595-9DC0-5F13209A6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PRODUCTION PLAYBOOK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1324E7E-F5DE-4823-84FF-D8DA91276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B0F19"/>
                </a:solidFill>
              </a:defRPr>
            </a:pPr>
            <a:r>
              <a:rPr sz="2925" b="1">
                <a:solidFill>
                  <a:srgbClr val="0B0F19"/>
                </a:solidFill>
              </a:rPr>
              <a:t>Production harness build checklist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80DD5FA-915A-4EB5-86CF-4B7CBC895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56F0F1D-C5A1-4B9F-95D7-F6CAC5066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4B5563"/>
                </a:solidFill>
              </a:defRPr>
            </a:pPr>
            <a:r>
              <a:rPr sz="1575" b="0">
                <a:solidFill>
                  <a:srgbClr val="4B5563"/>
                </a:solidFill>
              </a:rPr>
              <a:t>Design the work, bound autonomy, decide memory/session policy, then add controls that make behavior measurable and recoverable.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F31555C-D854-42C3-AA75-DB803295F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0F19"/>
                </a:solidFill>
              </a:defRPr>
            </a:pPr>
            <a:r>
              <a:rPr sz="1725" b="1">
                <a:solidFill>
                  <a:srgbClr val="0B0F19"/>
                </a:solidFill>
              </a:rPr>
              <a:t>Design the agentic system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4DAA8B6-51B4-4F97-BDE2-2F7AB6992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1907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0F19"/>
                </a:solidFill>
              </a:defRPr>
            </a:pPr>
            <a:r>
              <a:rPr sz="1725" b="1">
                <a:solidFill>
                  <a:srgbClr val="0B0F19"/>
                </a:solidFill>
              </a:rPr>
              <a:t>Manage context and memory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1AF1F64-EA5E-478E-9210-26BFF6149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4762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8E5CCD7-74FB-4248-840C-56B480613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09875"/>
            <a:ext cx="381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30B27ED-177C-4838-9D77-9496BEA7A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FC1EE21-64DD-4039-957A-80A094718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705100"/>
            <a:ext cx="3962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Decompose the work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34CA817-56D3-4457-B6BE-96C39DBA4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952750"/>
            <a:ext cx="3962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B5563"/>
                </a:solidFill>
              </a:defRPr>
            </a:pPr>
            <a:r>
              <a:rPr sz="1050" b="0">
                <a:solidFill>
                  <a:srgbClr val="4B5563"/>
                </a:solidFill>
              </a:rPr>
              <a:t>Stages, inputs, outputs, owners, and handoffs.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1F37129-A967-4A3C-B770-B6210B20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95650"/>
            <a:ext cx="4762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06AE7E6-4139-4A85-8292-C80C6C121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33775"/>
            <a:ext cx="381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751AA76-7A02-493F-8A1F-E3BC416AF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E1C1A40-4DE0-4DE1-95AA-DE8C038A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429000"/>
            <a:ext cx="3962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C2626"/>
                </a:solidFill>
              </a:defRPr>
            </a:pPr>
            <a:r>
              <a:rPr sz="1275" b="1">
                <a:solidFill>
                  <a:srgbClr val="DC2626"/>
                </a:solidFill>
              </a:rPr>
              <a:t>Set autonomy and risk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892E9CE-E9E2-41AB-8BCA-94D1FE1D6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676650"/>
            <a:ext cx="3962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B5563"/>
                </a:solidFill>
              </a:defRPr>
            </a:pPr>
            <a:r>
              <a:rPr sz="1050" b="0">
                <a:solidFill>
                  <a:srgbClr val="4B5563"/>
                </a:solidFill>
              </a:rPr>
              <a:t>Criticality, budget, latency, permissions, and stop conditions.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9AFA902-2EAB-41AA-A9F1-3D56A42C4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19550"/>
            <a:ext cx="4762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86FC190-98DC-4BD7-9438-3B659EB9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57675"/>
            <a:ext cx="381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9525">
            <a:solidFill>
              <a:srgbClr val="0891B2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906E3C6-0722-49D4-B330-902A2C6C9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018D392-E6EE-45EB-ADCE-284840457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52900"/>
            <a:ext cx="3962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891B2"/>
                </a:solidFill>
              </a:defRPr>
            </a:pPr>
            <a:r>
              <a:rPr sz="1275" b="1">
                <a:solidFill>
                  <a:srgbClr val="0891B2"/>
                </a:solidFill>
              </a:rPr>
              <a:t>Choose the pattern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5A79A59-B9AD-48D2-A9C9-EE167E5A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400550"/>
            <a:ext cx="3962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B5563"/>
                </a:solidFill>
              </a:defRPr>
            </a:pPr>
            <a:r>
              <a:rPr sz="1050" b="0">
                <a:solidFill>
                  <a:srgbClr val="4B5563"/>
                </a:solidFill>
              </a:rPr>
              <a:t>Augmented LLM first; graph or swarm only when needed.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B0CB75E-B4B7-4B45-93C8-4CFA90C21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43450"/>
            <a:ext cx="4762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DC54694E-97BC-42E7-9AA2-D25C60702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981575"/>
            <a:ext cx="381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A234338-0BE0-4A4F-8FA2-8B53028D3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29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D3F6607-FEAA-4F11-BD4A-644F8CBD8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876800"/>
            <a:ext cx="3962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97706"/>
                </a:solidFill>
              </a:defRPr>
            </a:pPr>
            <a:r>
              <a:rPr sz="1275" b="1">
                <a:solidFill>
                  <a:srgbClr val="D97706"/>
                </a:solidFill>
              </a:rPr>
              <a:t>Mark critical stages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F38277A-E6C7-431B-B0C5-721E83D1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124450"/>
            <a:ext cx="3962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B5563"/>
                </a:solidFill>
              </a:defRPr>
            </a:pPr>
            <a:r>
              <a:rPr sz="1050" b="0">
                <a:solidFill>
                  <a:srgbClr val="4B5563"/>
                </a:solidFill>
              </a:rPr>
              <a:t>Decisions, writes, external actions, and irreversible steps.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ACFE27B7-29FC-410E-A8DB-E6A17FC4E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67350"/>
            <a:ext cx="4762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ADDC9CD-F7BF-4FD7-8E14-40ABDC784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05475"/>
            <a:ext cx="381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2741CCC-1C56-47C6-AF43-300E3E4C1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531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39BD8BA2-AE4B-478D-8BB8-3B0583F61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600700"/>
            <a:ext cx="3962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59669"/>
                </a:solidFill>
              </a:defRPr>
            </a:pPr>
            <a:r>
              <a:rPr sz="1275" b="1">
                <a:solidFill>
                  <a:srgbClr val="059669"/>
                </a:solidFill>
              </a:rPr>
              <a:t>Install guardrails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1EABA12E-3187-4171-9CCC-062CA42F0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848350"/>
            <a:ext cx="3962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B5563"/>
                </a:solidFill>
              </a:defRPr>
            </a:pPr>
            <a:r>
              <a:rPr sz="1050" b="0">
                <a:solidFill>
                  <a:srgbClr val="4B5563"/>
                </a:solidFill>
              </a:rPr>
              <a:t>Steering, hooks, policy checks, and HITL for high-risk steps.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A8CA9A5-AD28-4118-8D20-2A3960551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71750"/>
            <a:ext cx="495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EAE33B59-A67C-44E9-ABFB-3752BB3AE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09875"/>
            <a:ext cx="381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980A4DA-87CF-44C6-8638-ECA9B2BCB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575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8ED16A8-12CC-4422-838C-D233E49DE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05100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Decide session scope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27A3C457-7AEF-43A3-A35F-7DEB31104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952750"/>
            <a:ext cx="415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B5563"/>
                </a:solidFill>
              </a:defRPr>
            </a:pPr>
            <a:r>
              <a:rPr sz="1050" b="0">
                <a:solidFill>
                  <a:srgbClr val="4B5563"/>
                </a:solidFill>
              </a:rPr>
              <a:t>In-session scratchpad vs durable across-session state.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B5CCB383-15C7-4866-9228-841A25135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95650"/>
            <a:ext cx="495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CB829D1A-8DDE-425C-A954-5BB769D04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33775"/>
            <a:ext cx="381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9525">
            <a:solidFill>
              <a:srgbClr val="0891B2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F7B82DAF-4A65-4A8D-B7FC-48B1A17BB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814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9D27183F-45AC-4FC9-BA17-F7ADE1801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429000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891B2"/>
                </a:solidFill>
              </a:defRPr>
            </a:pPr>
            <a:r>
              <a:rPr sz="1275" b="1">
                <a:solidFill>
                  <a:srgbClr val="0891B2"/>
                </a:solidFill>
              </a:rPr>
              <a:t>Choose history ownership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5AD32C17-5D43-4BD9-A637-3AECD38F8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76650"/>
            <a:ext cx="415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B5563"/>
                </a:solidFill>
              </a:defRPr>
            </a:pPr>
            <a:r>
              <a:rPr sz="1050" b="0">
                <a:solidFill>
                  <a:srgbClr val="4B5563"/>
                </a:solidFill>
              </a:rPr>
              <a:t>Service-managed, client-managed, or hybrid audit store.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810018A7-97F2-4468-8AE5-BDDCAAE6B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19550"/>
            <a:ext cx="495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18F803CD-248E-478D-937E-BBDF32366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257675"/>
            <a:ext cx="381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1471B04F-678F-4800-A97C-2F399290D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053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069BBB84-F175-4CBE-A018-F5E0BFEB3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152900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59669"/>
                </a:solidFill>
              </a:defRPr>
            </a:pPr>
            <a:r>
              <a:rPr sz="1275" b="1">
                <a:solidFill>
                  <a:srgbClr val="059669"/>
                </a:solidFill>
              </a:rPr>
              <a:t>Persist useful memory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2CFE8B82-86AE-42EE-8734-188B2B736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00550"/>
            <a:ext cx="415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B5563"/>
                </a:solidFill>
              </a:defRPr>
            </a:pPr>
            <a:r>
              <a:rPr sz="1050" b="0">
                <a:solidFill>
                  <a:srgbClr val="4B5563"/>
                </a:solidFill>
              </a:rPr>
              <a:t>Save facts, decisions, preferences, and lessons with provenance.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62945549-245C-4C3B-A802-51605DA7E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43450"/>
            <a:ext cx="495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7DDDD938-20FE-4274-8794-770CE6B58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981575"/>
            <a:ext cx="381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0C53C498-E2DF-4BCF-A9D7-E5EDC303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029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1B36F185-54A1-47DE-9D94-3826564D3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876800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97706"/>
                </a:solidFill>
              </a:defRPr>
            </a:pPr>
            <a:r>
              <a:rPr sz="1275" b="1">
                <a:solidFill>
                  <a:srgbClr val="D97706"/>
                </a:solidFill>
              </a:rPr>
              <a:t>Compact and offload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1A9B1808-FE7F-459B-B2B3-2EC381FFB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124450"/>
            <a:ext cx="415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B5563"/>
                </a:solidFill>
              </a:defRPr>
            </a:pPr>
            <a:r>
              <a:rPr sz="1050" b="0">
                <a:solidFill>
                  <a:srgbClr val="4B5563"/>
                </a:solidFill>
              </a:rPr>
              <a:t>Summarize old turns; clear/re-fetch bulky tool results.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306053FF-0BD2-4956-B64C-9E413C7C1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467350"/>
            <a:ext cx="495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3176D209-7522-44DA-B062-DCFB4B468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705475"/>
            <a:ext cx="381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2D872EA0-6A7F-4C67-9629-7AF97DE4C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7531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0799A9E7-FF5E-4438-9052-CC146B97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600700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C2626"/>
                </a:solidFill>
              </a:defRPr>
            </a:pPr>
            <a:r>
              <a:rPr sz="1275" b="1">
                <a:solidFill>
                  <a:srgbClr val="DC2626"/>
                </a:solidFill>
              </a:rPr>
              <a:t>Evaluate and observe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262BCE88-E555-4BC2-9692-7BF476D03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48350"/>
            <a:ext cx="415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B5563"/>
                </a:solidFill>
              </a:defRPr>
            </a:pPr>
            <a:r>
              <a:rPr sz="1050" b="0">
                <a:solidFill>
                  <a:srgbClr val="4B5563"/>
                </a:solidFill>
              </a:rPr>
              <a:t>Goal loops, CI/CD evals, traces, misses, and rejected attempts.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5B8F9E98-43F2-4645-A0B8-B91B21375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248400"/>
            <a:ext cx="9753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82595DBC-E930-454A-A95C-0DA70C2ED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6334125"/>
            <a:ext cx="923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Principle: preserve the right state, retrieve it deliberately, and keep active context lean.</a:t>
            </a:r>
          </a:p>
        </p:txBody>
      </p:sp>
    </p:spTree>
    <p:extLst>
      <p:ext uri="{BB962C8B-B14F-4D97-AF65-F5344CB8AC3E}">
        <p14:creationId xmlns:p14="http://schemas.microsoft.com/office/powerpoint/2010/main" val="79547572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B6A23A-0764-4156-A386-02028A6FA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APPENDIX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C93461-B644-4A51-989C-53BC07347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B0F19"/>
                </a:solidFill>
              </a:defRPr>
            </a:pPr>
            <a:r>
              <a:rPr sz="2925" b="1">
                <a:solidFill>
                  <a:srgbClr val="0B0F19"/>
                </a:solidFill>
              </a:rPr>
              <a:t>Appendix: harness, loop, and workflow are different lenses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6B401A-A908-4235-8A92-06DC0C3F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62AB74-0BA0-46F4-BBE6-C22EC326C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62150"/>
            <a:ext cx="10477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983038-DEC1-41F6-A694-4D5BC9F9E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336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563EB"/>
                </a:solidFill>
              </a:defRPr>
            </a:pPr>
            <a:r>
              <a:rPr sz="1725" b="1">
                <a:solidFill>
                  <a:srgbClr val="2563EB"/>
                </a:solidFill>
              </a:rPr>
              <a:t>Harness engineering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2491B2-3B23-4215-A33B-681BCB366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1336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B0F19"/>
                </a:solidFill>
              </a:defRPr>
            </a:pPr>
            <a:r>
              <a:rPr sz="1575" b="1">
                <a:solidFill>
                  <a:srgbClr val="0B0F19"/>
                </a:solidFill>
              </a:rPr>
              <a:t>What controls the agent?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F82227-1E79-48D9-A5BA-F2600AF1E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13360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4B5563"/>
                </a:solidFill>
              </a:defRPr>
            </a:pPr>
            <a:r>
              <a:rPr sz="1425" b="0">
                <a:solidFill>
                  <a:srgbClr val="4B5563"/>
                </a:solidFill>
              </a:rPr>
              <a:t>Context, memory, tools, permissions, guardrails, evals, audit, HITL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F014E4-7890-49DD-BEE0-974F511FB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62300"/>
            <a:ext cx="10477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931165-DB9C-4A89-9BAE-BADC3C6F8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337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B0F19"/>
                </a:solidFill>
              </a:defRPr>
            </a:pPr>
            <a:r>
              <a:rPr sz="1725" b="1">
                <a:solidFill>
                  <a:srgbClr val="0B0F19"/>
                </a:solidFill>
              </a:rPr>
              <a:t>Loop engineering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520199-5FBD-4E31-BC03-B48E2DD7F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3337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B0F19"/>
                </a:solidFill>
              </a:defRPr>
            </a:pPr>
            <a:r>
              <a:rPr sz="1575" b="1">
                <a:solidFill>
                  <a:srgbClr val="0B0F19"/>
                </a:solidFill>
              </a:rPr>
              <a:t>How does the agent iterate?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9373F8-F500-4546-B23B-D5F6388DE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3375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4B5563"/>
                </a:solidFill>
              </a:defRPr>
            </a:pPr>
            <a:r>
              <a:rPr sz="1425" b="0">
                <a:solidFill>
                  <a:srgbClr val="4B5563"/>
                </a:solidFill>
              </a:rPr>
              <a:t>Plan, act, observe, retry, terminate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BA0B21-873D-4438-9DCB-EC9039959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62450"/>
            <a:ext cx="10477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5AD5EC-93A0-4641-A171-6A91BFCFC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339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B0F19"/>
                </a:solidFill>
              </a:defRPr>
            </a:pPr>
            <a:r>
              <a:rPr sz="1725" b="1">
                <a:solidFill>
                  <a:srgbClr val="0B0F19"/>
                </a:solidFill>
              </a:rPr>
              <a:t>Workflow / graph engineering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D36865-8389-4AF9-848C-9C9216DF9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5339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B0F19"/>
                </a:solidFill>
              </a:defRPr>
            </a:pPr>
            <a:r>
              <a:rPr sz="1575" b="1">
                <a:solidFill>
                  <a:srgbClr val="0B0F19"/>
                </a:solidFill>
              </a:rPr>
              <a:t>How is work routed?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E6DFCD-C703-47C8-B929-AEBC63043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53390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4B5563"/>
                </a:solidFill>
              </a:defRPr>
            </a:pPr>
            <a:r>
              <a:rPr sz="1425" b="0">
                <a:solidFill>
                  <a:srgbClr val="4B5563"/>
                </a:solidFill>
              </a:rPr>
              <a:t>Sequential, parallel, orchestrator-worker, evaluator-optimizer</a:t>
            </a:r>
          </a:p>
        </p:txBody>
      </p:sp>
    </p:spTree>
    <p:extLst>
      <p:ext uri="{BB962C8B-B14F-4D97-AF65-F5344CB8AC3E}">
        <p14:creationId xmlns:p14="http://schemas.microsoft.com/office/powerpoint/2010/main" val="29095841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2026-08-27T02:15:39.1660000Z</dcterms:created>
  <dcterms:modified xsi:type="dcterms:W3CDTF">2026-08-27T02:15:39.1660000Z</dcterms:modified>
</coreProperties>
</file>