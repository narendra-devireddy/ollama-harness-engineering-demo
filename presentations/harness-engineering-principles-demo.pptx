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934ae92f524ad3" /><Relationship Type="http://schemas.openxmlformats.org/officeDocument/2006/relationships/extended-properties" Target="/docProps/app.xml" Id="Rddac6388868f4b6c" /><Relationship Type="http://schemas.openxmlformats.org/officeDocument/2006/relationships/officeDocument" Target="/ppt/presentation.xml" Id="Rf44c25252e964b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0b50ff0a6c4c31"/>
  </p:sldMasterIdLst>
  <p:notesMasterIdLst>
    <p:notesMasterId xmlns:r="http://schemas.openxmlformats.org/officeDocument/2006/relationships" r:id="R1600068b2b69495e"/>
  </p:notesMasterIdLst>
  <p:sldIdLst>
    <p:sldId xmlns:r="http://schemas.openxmlformats.org/officeDocument/2006/relationships" id="256" r:id="Rfb70ee02793c4ec7"/>
    <p:sldId xmlns:r="http://schemas.openxmlformats.org/officeDocument/2006/relationships" id="257" r:id="R3674bf842a3a477d"/>
    <p:sldId xmlns:r="http://schemas.openxmlformats.org/officeDocument/2006/relationships" id="258" r:id="Rc2d350bec8ba4c2a"/>
    <p:sldId xmlns:r="http://schemas.openxmlformats.org/officeDocument/2006/relationships" id="259" r:id="R108912014e68470b"/>
    <p:sldId xmlns:r="http://schemas.openxmlformats.org/officeDocument/2006/relationships" id="260" r:id="R4e3ded8d24bc4a3d"/>
    <p:sldId xmlns:r="http://schemas.openxmlformats.org/officeDocument/2006/relationships" id="261" r:id="R093dc570ee864c33"/>
    <p:sldId xmlns:r="http://schemas.openxmlformats.org/officeDocument/2006/relationships" id="262" r:id="R0c785990050346a8"/>
    <p:sldId xmlns:r="http://schemas.openxmlformats.org/officeDocument/2006/relationships" id="263" r:id="R6c94f5538d0e4788"/>
    <p:sldId xmlns:r="http://schemas.openxmlformats.org/officeDocument/2006/relationships" id="264" r:id="R48546a2b44a34abd"/>
    <p:sldId xmlns:r="http://schemas.openxmlformats.org/officeDocument/2006/relationships" id="265" r:id="Rddf340b10422409c"/>
    <p:sldId xmlns:r="http://schemas.openxmlformats.org/officeDocument/2006/relationships" id="266" r:id="R5a161ac275d04c33"/>
    <p:sldId xmlns:r="http://schemas.openxmlformats.org/officeDocument/2006/relationships" id="267" r:id="R9fa65c44081b41bd"/>
    <p:sldId xmlns:r="http://schemas.openxmlformats.org/officeDocument/2006/relationships" id="268" r:id="Rf938a4b60fb7448a"/>
    <p:sldId xmlns:r="http://schemas.openxmlformats.org/officeDocument/2006/relationships" id="269" r:id="R2d908ad0572c4d7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965aa393724b27" /><Relationship Type="http://schemas.openxmlformats.org/officeDocument/2006/relationships/slideMaster" Target="/ppt/slideMasters/slideMaster1.xml" Id="R540b50ff0a6c4c31" /><Relationship Type="http://schemas.openxmlformats.org/officeDocument/2006/relationships/notesMaster" Target="/ppt/notesMasters/notesMaster1.xml" Id="R1600068b2b69495e" /><Relationship Type="http://schemas.openxmlformats.org/officeDocument/2006/relationships/presProps" Target="/ppt/presProps.xml" Id="Reb95ac800cbc4aa0" /><Relationship Type="http://schemas.openxmlformats.org/officeDocument/2006/relationships/tableStyles" Target="/ppt/tableStyles.xml" Id="R6ce78ba52bb44310" /><Relationship Type="http://schemas.openxmlformats.org/officeDocument/2006/relationships/slide" Target="/ppt/slides/slide1.xml" Id="Rfb70ee02793c4ec7" /><Relationship Type="http://schemas.openxmlformats.org/officeDocument/2006/relationships/slide" Target="/ppt/slides/slide2.xml" Id="R3674bf842a3a477d" /><Relationship Type="http://schemas.openxmlformats.org/officeDocument/2006/relationships/slide" Target="/ppt/slides/slide3.xml" Id="Rc2d350bec8ba4c2a" /><Relationship Type="http://schemas.openxmlformats.org/officeDocument/2006/relationships/slide" Target="/ppt/slides/slide4.xml" Id="R108912014e68470b" /><Relationship Type="http://schemas.openxmlformats.org/officeDocument/2006/relationships/slide" Target="/ppt/slides/slide5.xml" Id="R4e3ded8d24bc4a3d" /><Relationship Type="http://schemas.openxmlformats.org/officeDocument/2006/relationships/slide" Target="/ppt/slides/slide6.xml" Id="R093dc570ee864c33" /><Relationship Type="http://schemas.openxmlformats.org/officeDocument/2006/relationships/slide" Target="/ppt/slides/slide7.xml" Id="R0c785990050346a8" /><Relationship Type="http://schemas.openxmlformats.org/officeDocument/2006/relationships/slide" Target="/ppt/slides/slide8.xml" Id="R6c94f5538d0e4788" /><Relationship Type="http://schemas.openxmlformats.org/officeDocument/2006/relationships/slide" Target="/ppt/slides/slide9.xml" Id="R48546a2b44a34abd" /><Relationship Type="http://schemas.openxmlformats.org/officeDocument/2006/relationships/slide" Target="/ppt/slides/slide10.xml" Id="Rddf340b10422409c" /><Relationship Type="http://schemas.openxmlformats.org/officeDocument/2006/relationships/slide" Target="/ppt/slides/slide11.xml" Id="R5a161ac275d04c33" /><Relationship Type="http://schemas.openxmlformats.org/officeDocument/2006/relationships/slide" Target="/ppt/slides/slide12.xml" Id="R9fa65c44081b41bd" /><Relationship Type="http://schemas.openxmlformats.org/officeDocument/2006/relationships/slide" Target="/ppt/slides/slide13.xml" Id="Rf938a4b60fb7448a" /><Relationship Type="http://schemas.openxmlformats.org/officeDocument/2006/relationships/slide" Target="/ppt/slides/slide14.xml" Id="R2d908ad0572c4d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1486deb0d8246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f15917fcb164045" /><Relationship Type="http://schemas.openxmlformats.org/officeDocument/2006/relationships/notesMaster" Target="/ppt/notesMasters/notesMaster1.xml" Id="R2a100ab76ebe4d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535b00163b4423" /><Relationship Type="http://schemas.openxmlformats.org/officeDocument/2006/relationships/notesMaster" Target="/ppt/notesMasters/notesMaster1.xml" Id="Ra6cf785fc00241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ab8ce3f1411473d" /><Relationship Type="http://schemas.openxmlformats.org/officeDocument/2006/relationships/notesMaster" Target="/ppt/notesMasters/notesMaster1.xml" Id="Rb3af64d4aacb4c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323e7cacff4b7d" /><Relationship Type="http://schemas.openxmlformats.org/officeDocument/2006/relationships/notesMaster" Target="/ppt/notesMasters/notesMaster1.xml" Id="R97e1a12b20d242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999a664cd1f4376" /><Relationship Type="http://schemas.openxmlformats.org/officeDocument/2006/relationships/notesMaster" Target="/ppt/notesMasters/notesMaster1.xml" Id="Rc63544272af443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c3ce3bb3304816" /><Relationship Type="http://schemas.openxmlformats.org/officeDocument/2006/relationships/notesMaster" Target="/ppt/notesMasters/notesMaster1.xml" Id="R5621fc254d3546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00aaa464ba4354" /><Relationship Type="http://schemas.openxmlformats.org/officeDocument/2006/relationships/notesMaster" Target="/ppt/notesMasters/notesMaster1.xml" Id="R0dd25bc0e46a4bd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40d15a920d423e" /><Relationship Type="http://schemas.openxmlformats.org/officeDocument/2006/relationships/notesMaster" Target="/ppt/notesMasters/notesMaster1.xml" Id="Reb7c2624113b42e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ca51071b8334830" /><Relationship Type="http://schemas.openxmlformats.org/officeDocument/2006/relationships/notesMaster" Target="/ppt/notesMasters/notesMaster1.xml" Id="R3133c25e8d64429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e45324c71dc4114" /><Relationship Type="http://schemas.openxmlformats.org/officeDocument/2006/relationships/notesMaster" Target="/ppt/notesMasters/notesMaster1.xml" Id="R5245bbadd61f4bf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e6a14dc7c2c42bf" /><Relationship Type="http://schemas.openxmlformats.org/officeDocument/2006/relationships/notesMaster" Target="/ppt/notesMasters/notesMaster1.xml" Id="Re55ca8ffbc23492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cae6bebd96945ba" /><Relationship Type="http://schemas.openxmlformats.org/officeDocument/2006/relationships/notesMaster" Target="/ppt/notesMasters/notesMaster1.xml" Id="R265af8391b2e41f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45be9791e4b42e6" /><Relationship Type="http://schemas.openxmlformats.org/officeDocument/2006/relationships/notesMaster" Target="/ppt/notesMasters/notesMaster1.xml" Id="R68cca8cc00cf487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7cfb1be5ce3416f" /><Relationship Type="http://schemas.openxmlformats.org/officeDocument/2006/relationships/notesMaster" Target="/ppt/notesMasters/notesMaster1.xml" Id="R87bcd817a31142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 point: a model is only one component of a production AI system. The harness is the engineering around it: context guides, tools, memory, sensors, safety gates, observability, and repair loops.</a:t>
            </a:r>
          </a:p>
          <a:p xmlns:a="http://schemas.openxmlformats.org/drawingml/2006/main">
            <a:r>
              <a:t>Use the game-editor example as the mental picture: same prompt and same model, but the supported run had a planner, generator, evaluator architecture and produced a usable result.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User-provided course excerpt in the Codex task: Anthropic controlled experiment snippet with Opus 4.5 game-editor example; used as supplied by user, not independently verified in this edit.</a:t>
            </a:r>
          </a:p>
          <a:p xmlns:a="http://schemas.openxmlformats.org/drawingml/2006/main">
            <a:r>
              <a:t>User-provided reference image in the Codex task: model + harness + agent diagram; recreated as editable PowerPoint shapes rather than copied as an image.</a:t>
            </a:r>
          </a:p>
          <a:p xmlns:a="http://schemas.openxmlformats.org/drawingml/2006/main">
            <a:r>
              <a:t>Martin Fowler, Harness Engineering article: https://martinfowler.com/articles/harness-engineering.html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explicitly answers why three boxes were insufficient.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 table of contents includes Feedforward and Feedback, Computational vs Inferential, The steering loop, Timing, Regulation categories, Harnessability, Harness templates, Role of the human.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Guides/feedforward controls.</a:t>
            </a:r>
          </a:p>
          <a:p xmlns:a="http://schemas.openxmlformats.org/drawingml/2006/main">
            <a:r>
              <a:t>Repo: src/harness_demo/live.py, planner_input in run_live_hand_built_lane.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Sensors/feedback controls.</a:t>
            </a:r>
          </a:p>
          <a:p xmlns:a="http://schemas.openxmlformats.org/drawingml/2006/main">
            <a:r>
              <a:t>Repo: src/harness_demo/scoring.py, score_memory.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Computational controls are deterministic and reliable.</a:t>
            </a:r>
          </a:p>
          <a:p xmlns:a="http://schemas.openxmlformats.org/drawingml/2006/main">
            <a:r>
              <a:t>Repo: src/harness_demo/scoring.py.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Computational vs Inferential section.</a:t>
            </a:r>
          </a:p>
          <a:p xmlns:a="http://schemas.openxmlformats.org/drawingml/2006/main">
            <a:r>
              <a:t>Repo: src/harness_demo/summarizer.py.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The steering loop.</a:t>
            </a:r>
          </a:p>
          <a:p xmlns:a="http://schemas.openxmlformats.org/drawingml/2006/main">
            <a:r>
              <a:t>Repo: src/harness_demo/live.py, _review_plan and repair agent path.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Timing: Keep quality left.</a:t>
            </a:r>
          </a:p>
          <a:p xmlns:a="http://schemas.openxmlformats.org/drawingml/2006/main">
            <a:r>
              <a:t>Repo: notebooks/harness_engineering_colab_demo.ipynb.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Regulation categories.</a:t>
            </a:r>
          </a:p>
          <a:p xmlns:a="http://schemas.openxmlformats.org/drawingml/2006/main">
            <a:r>
              <a:t>Repo: cases/incident-response and src/harness_demo/scenarios.py.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Harnessability and ambient affordances.</a:t>
            </a:r>
          </a:p>
          <a:p xmlns:a="http://schemas.openxmlformats.org/drawingml/2006/main">
            <a:r>
              <a:t>Repo: cases/incident-response/*.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The role of the human.</a:t>
            </a:r>
          </a:p>
          <a:p xmlns:a="http://schemas.openxmlformats.org/drawingml/2006/main">
            <a:r>
              <a:t>Repo: src/harness_demo/rules.py.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Repo: src/harness_demo/live.py, domain.py, scoring.py, rules.py, summarizer.py,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before switching into Colab.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Repo notebook: no/weak/strong/Strands/DeepSeek sections.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asking for platform investment and time to harden the harness.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Harness templates and role of the human.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f18c6fd79b411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91591d57074081" /><Relationship Type="http://schemas.openxmlformats.org/officeDocument/2006/relationships/slideLayout" Target="/ppt/slideLayouts/slideLayout1.xml" Id="Rdfbe993324bc4d4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be993324bc4d4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ce08abaa214166" /><Relationship Type="http://schemas.openxmlformats.org/officeDocument/2006/relationships/notesSlide" Target="/ppt/notesSlides/notesSlide1.xml" Id="R9d8df4e7e61246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8cff5c760d41ea" /><Relationship Type="http://schemas.openxmlformats.org/officeDocument/2006/relationships/notesSlide" Target="/ppt/notesSlides/notesSlide2.xml" Id="R6dd1aad399d14c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ca3b8d125d4c04" /><Relationship Type="http://schemas.openxmlformats.org/officeDocument/2006/relationships/notesSlide" Target="/ppt/notesSlides/notesSlide3.xml" Id="R0cbe613b5c7641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a03fc42454a49" /><Relationship Type="http://schemas.openxmlformats.org/officeDocument/2006/relationships/notesSlide" Target="/ppt/notesSlides/notesSlide4.xml" Id="R53b79d88a19a442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956f92a8e04e57" /><Relationship Type="http://schemas.openxmlformats.org/officeDocument/2006/relationships/notesSlide" Target="/ppt/notesSlides/notesSlide5.xml" Id="Rc796649396f846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ad4d8ae6404ccd" /><Relationship Type="http://schemas.openxmlformats.org/officeDocument/2006/relationships/notesSlide" Target="/ppt/notesSlides/notesSlide6.xml" Id="R270d12e8ab8646b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2fc3401bcb4c65" /><Relationship Type="http://schemas.openxmlformats.org/officeDocument/2006/relationships/notesSlide" Target="/ppt/notesSlides/notesSlide7.xml" Id="R15ac16aa22c841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19c9ce4f6f4759" /><Relationship Type="http://schemas.openxmlformats.org/officeDocument/2006/relationships/notesSlide" Target="/ppt/notesSlides/notesSlide8.xml" Id="Rded44ee2860e490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f70727a6734d0e" /><Relationship Type="http://schemas.openxmlformats.org/officeDocument/2006/relationships/notesSlide" Target="/ppt/notesSlides/notesSlide9.xml" Id="R23d92db264bd4bf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89be2cdc7a4669" /><Relationship Type="http://schemas.openxmlformats.org/officeDocument/2006/relationships/notesSlide" Target="/ppt/notesSlides/notesSlide10.xml" Id="R6158385422eb42b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141898218b465a" /><Relationship Type="http://schemas.openxmlformats.org/officeDocument/2006/relationships/notesSlide" Target="/ppt/notesSlides/notesSlide11.xml" Id="R4b95b9d3f8e04aa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ef826a65f148c9" /><Relationship Type="http://schemas.openxmlformats.org/officeDocument/2006/relationships/notesSlide" Target="/ppt/notesSlides/notesSlide12.xml" Id="R5b4037378834481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0ae1b969a04984" /><Relationship Type="http://schemas.openxmlformats.org/officeDocument/2006/relationships/notesSlide" Target="/ppt/notesSlides/notesSlide13.xml" Id="R0167e095aa8a47e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fa88b335204f4e" /><Relationship Type="http://schemas.openxmlformats.org/officeDocument/2006/relationships/notesSlide" Target="/ppt/notesSlides/notesSlide14.xml" Id="R79dfc11c49754d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">
            <a:extLst xmlns:a="http://schemas.openxmlformats.org/drawingml/2006/main">
              <a:ext uri="{FF2B5EF4-FFF2-40B4-BE49-F238E27FC236}">
                <a16:creationId xmlns:a16="http://schemas.microsoft.com/office/drawing/2014/main" id="{95B9CB0B-634F-40D7-AFB1-4E2BCDFA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2748E"/>
                </a:solidFill>
              </a:defRPr>
            </a:pPr>
            <a:r>
              <a:rPr sz="1050" b="1">
                <a:solidFill>
                  <a:srgbClr val="62748E"/>
                </a:solidFill>
              </a:rPr>
              <a:t>MANAGEMENT LEARNING DECK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29B84CB-57E0-4CD9-8652-8C67C5A1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80962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20618"/>
                </a:solidFill>
              </a:defRPr>
            </a:pPr>
            <a:r>
              <a:rPr sz="3750" b="1">
                <a:solidFill>
                  <a:srgbClr val="020618"/>
                </a:solidFill>
              </a:rPr>
              <a:t>Harness engineering is the system around the model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68915E1-425B-4590-9A33-288606849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5556C"/>
                </a:solidFill>
              </a:defRPr>
            </a:pPr>
            <a:r>
              <a:rPr sz="1425">
                <a:solidFill>
                  <a:srgbClr val="45556C"/>
                </a:solidFill>
              </a:rPr>
              <a:t>The model supplies reasoning. The harness supplies guides, tools, memory, sensors, safety gates, and repair loops that turn reasoning into a governed workflow.</a:t>
            </a:r>
          </a:p>
        </p:txBody>
      </p:sp>
      <p:sp>
        <p:nvSpPr>
          <p:cNvPr id="4" name="example-heading">
            <a:extLst xmlns:a="http://schemas.openxmlformats.org/drawingml/2006/main">
              <a:ext uri="{FF2B5EF4-FFF2-40B4-BE49-F238E27FC236}">
                <a16:creationId xmlns:a16="http://schemas.microsoft.com/office/drawing/2014/main" id="{C97F5CA1-09F5-4A98-BDC3-5D7A9D23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F172B"/>
                </a:solidFill>
              </a:defRPr>
            </a:pPr>
            <a:r>
              <a:rPr sz="1875" b="1">
                <a:solidFill>
                  <a:srgbClr val="0F172B"/>
                </a:solidFill>
              </a:rPr>
              <a:t>Same model, different tack</a:t>
            </a:r>
          </a:p>
        </p:txBody>
      </p:sp>
      <p:sp>
        <p:nvSpPr>
          <p:cNvPr id="5" name="bare-run">
            <a:extLst xmlns:a="http://schemas.openxmlformats.org/drawingml/2006/main">
              <a:ext uri="{FF2B5EF4-FFF2-40B4-BE49-F238E27FC236}">
                <a16:creationId xmlns:a16="http://schemas.microsoft.com/office/drawing/2014/main" id="{EDD61196-CBCD-4DA6-B7AF-475E5F5E4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23812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13335">
            <a:solidFill>
              <a:srgbClr val="FFCCD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8B0836"/>
                </a:solidFill>
              </a:defRPr>
            </a:pPr>
            <a:r>
              <a:rPr sz="1500" b="1">
                <a:solidFill>
                  <a:srgbClr val="8B0836"/>
                </a:solidFill>
              </a:rPr>
              <a:t>Bare run</a:t>
            </a:r>
          </a:p>
          <a:p xmlns:a="http://schemas.openxmlformats.org/drawingml/2006/main">
            <a:pPr algn="ctr">
              <a:defRPr sz="1500" b="1">
                <a:solidFill>
                  <a:srgbClr val="8B0836"/>
                </a:solidFill>
              </a:defRPr>
            </a:pPr>
            <a:r>
              <a:rPr sz="1500" b="1">
                <a:solidFill>
                  <a:srgbClr val="8B0836"/>
                </a:solidFill>
              </a:rPr>
              <a:t>20 min / $9</a:t>
            </a:r>
          </a:p>
          <a:p xmlns:a="http://schemas.openxmlformats.org/drawingml/2006/main">
            <a:pPr algn="ctr">
              <a:defRPr sz="1500" b="1">
                <a:solidFill>
                  <a:srgbClr val="8B0836"/>
                </a:solidFill>
              </a:defRPr>
            </a:pPr>
            <a:r>
              <a:rPr sz="1500" b="1">
                <a:solidFill>
                  <a:srgbClr val="8B0836"/>
                </a:solidFill>
              </a:rPr>
              <a:t>Core features failed</a:t>
            </a:r>
          </a:p>
        </p:txBody>
      </p:sp>
      <p:sp>
        <p:nvSpPr>
          <p:cNvPr id="6" name="full-harness-run">
            <a:extLst xmlns:a="http://schemas.openxmlformats.org/drawingml/2006/main">
              <a:ext uri="{FF2B5EF4-FFF2-40B4-BE49-F238E27FC236}">
                <a16:creationId xmlns:a16="http://schemas.microsoft.com/office/drawing/2014/main" id="{B02BE936-FB70-42B8-9798-2E56EFA2C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90900"/>
            <a:ext cx="32194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13335">
            <a:solidFill>
              <a:srgbClr val="A4F4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4F3B"/>
                </a:solidFill>
              </a:defRPr>
            </a:pPr>
            <a:r>
              <a:rPr sz="1425" b="1">
                <a:solidFill>
                  <a:srgbClr val="004F3B"/>
                </a:solidFill>
              </a:rPr>
              <a:t>Full harness</a:t>
            </a:r>
          </a:p>
          <a:p xmlns:a="http://schemas.openxmlformats.org/drawingml/2006/main">
            <a:pPr algn="ctr">
              <a:defRPr sz="1425" b="1">
                <a:solidFill>
                  <a:srgbClr val="004F3B"/>
                </a:solidFill>
              </a:defRPr>
            </a:pPr>
            <a:r>
              <a:rPr sz="1425" b="1">
                <a:solidFill>
                  <a:srgbClr val="004F3B"/>
                </a:solidFill>
              </a:rPr>
              <a:t>Planner + generator + evaluator</a:t>
            </a:r>
          </a:p>
          <a:p xmlns:a="http://schemas.openxmlformats.org/drawingml/2006/main">
            <a:pPr algn="ctr">
              <a:defRPr sz="1425" b="1">
                <a:solidFill>
                  <a:srgbClr val="004F3B"/>
                </a:solidFill>
              </a:defRPr>
            </a:pPr>
            <a:r>
              <a:rPr sz="1425" b="1">
                <a:solidFill>
                  <a:srgbClr val="004F3B"/>
                </a:solidFill>
              </a:rPr>
              <a:t>6 hr / $200 / playable</a:t>
            </a:r>
          </a:p>
        </p:txBody>
      </p:sp>
      <p:cxnSp>
        <p:nvCxnSpPr>
          <p:cNvPr id="26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67050" y="40195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0A1B9"/>
            </a:solidFill>
            <a:prstDash val="solid"/>
            <a:tailEnd type="arrow" w="med" len="med"/>
          </a:ln>
        </p:spPr>
      </p:cxnSp>
      <p:sp>
        <p:nvSpPr>
          <p:cNvPr id="8" name="example-note">
            <a:extLst xmlns:a="http://schemas.openxmlformats.org/drawingml/2006/main">
              <a:ext uri="{FF2B5EF4-FFF2-40B4-BE49-F238E27FC236}">
                <a16:creationId xmlns:a16="http://schemas.microsoft.com/office/drawing/2014/main" id="{F53D7D00-AE4A-46EF-A53D-7D687980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590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D293D"/>
                </a:solidFill>
              </a:defRPr>
            </a:pPr>
            <a:r>
              <a:rPr sz="1500" b="1">
                <a:solidFill>
                  <a:srgbClr val="1D293D"/>
                </a:solidFill>
              </a:rPr>
              <a:t>What changed was not the model weights. It was the engineering infrastructure around the model.</a:t>
            </a:r>
          </a:p>
        </p:txBody>
      </p:sp>
      <p:sp>
        <p:nvSpPr>
          <p:cNvPr id="9" name="diagram-frame">
            <a:extLst xmlns:a="http://schemas.openxmlformats.org/drawingml/2006/main">
              <a:ext uri="{FF2B5EF4-FFF2-40B4-BE49-F238E27FC236}">
                <a16:creationId xmlns:a16="http://schemas.microsoft.com/office/drawing/2014/main" id="{FD2E1E68-E937-49C8-A796-D34F05FF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819400"/>
            <a:ext cx="4438650" cy="2724150"/>
          </a:xfrm>
          <a:prstGeom xmlns:a="http://schemas.openxmlformats.org/drawingml/2006/main" prst="roundRect">
            <a:avLst>
              <a:gd name="adj" fmla="val 4895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0" name="diagram-title">
            <a:extLst xmlns:a="http://schemas.openxmlformats.org/drawingml/2006/main">
              <a:ext uri="{FF2B5EF4-FFF2-40B4-BE49-F238E27FC236}">
                <a16:creationId xmlns:a16="http://schemas.microsoft.com/office/drawing/2014/main" id="{051D4549-3245-461D-AC25-28B62ECA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9908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F172B"/>
                </a:solidFill>
              </a:defRPr>
            </a:pPr>
            <a:r>
              <a:rPr sz="1650" b="1">
                <a:solidFill>
                  <a:srgbClr val="0F172B"/>
                </a:solidFill>
              </a:rPr>
              <a:t>What constitutes a harness</a:t>
            </a:r>
          </a:p>
        </p:txBody>
      </p:sp>
      <p:sp>
        <p:nvSpPr>
          <p:cNvPr id="11" name="diagram-model">
            <a:extLst xmlns:a="http://schemas.openxmlformats.org/drawingml/2006/main">
              <a:ext uri="{FF2B5EF4-FFF2-40B4-BE49-F238E27FC236}">
                <a16:creationId xmlns:a16="http://schemas.microsoft.com/office/drawing/2014/main" id="{D7DB0B95-BE14-44D9-8840-B8EF0D0F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43300"/>
            <a:ext cx="11049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13335">
            <a:solidFill>
              <a:srgbClr val="DDD6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4D179A"/>
                </a:solidFill>
              </a:defRPr>
            </a:pPr>
            <a:r>
              <a:rPr sz="1050" b="1">
                <a:solidFill>
                  <a:srgbClr val="4D179A"/>
                </a:solidFill>
              </a:rPr>
              <a:t>MODEL</a:t>
            </a:r>
          </a:p>
          <a:p xmlns:a="http://schemas.openxmlformats.org/drawingml/2006/main">
            <a:pPr algn="ctr">
              <a:defRPr sz="1050" b="1">
                <a:solidFill>
                  <a:srgbClr val="4D179A"/>
                </a:solidFill>
              </a:defRPr>
            </a:pPr>
            <a:r>
              <a:rPr sz="1050" b="1">
                <a:solidFill>
                  <a:srgbClr val="4D179A"/>
                </a:solidFill>
              </a:rPr>
              <a:t>LLM reasoning engine</a:t>
            </a:r>
          </a:p>
        </p:txBody>
      </p:sp>
      <p:sp>
        <p:nvSpPr>
          <p:cNvPr id="12" name="diagram-harness">
            <a:extLst xmlns:a="http://schemas.openxmlformats.org/drawingml/2006/main">
              <a:ext uri="{FF2B5EF4-FFF2-40B4-BE49-F238E27FC236}">
                <a16:creationId xmlns:a16="http://schemas.microsoft.com/office/drawing/2014/main" id="{89345492-FE85-4D25-A2D6-E23669167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90900"/>
            <a:ext cx="2286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3335">
            <a:solidFill>
              <a:srgbClr val="BEDB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C398E"/>
                </a:solidFill>
              </a:defRPr>
            </a:pPr>
            <a:r>
              <a:rPr sz="1050" b="1">
                <a:solidFill>
                  <a:srgbClr val="1C398E"/>
                </a:solidFill>
              </a:rPr>
              <a:t>HARNESS</a:t>
            </a:r>
          </a:p>
          <a:p xmlns:a="http://schemas.openxmlformats.org/drawingml/2006/main">
            <a:pPr algn="ctr">
              <a:defRPr sz="1050" b="1">
                <a:solidFill>
                  <a:srgbClr val="1C398E"/>
                </a:solidFill>
              </a:defRPr>
            </a:pPr>
            <a:r>
              <a:rPr sz="1050" b="1">
                <a:solidFill>
                  <a:srgbClr val="1C398E"/>
                </a:solidFill>
              </a:rPr>
              <a:t>Guides • Tools • Memory</a:t>
            </a:r>
          </a:p>
          <a:p xmlns:a="http://schemas.openxmlformats.org/drawingml/2006/main">
            <a:pPr algn="ctr">
              <a:defRPr sz="1050" b="1">
                <a:solidFill>
                  <a:srgbClr val="1C398E"/>
                </a:solidFill>
              </a:defRPr>
            </a:pPr>
            <a:r>
              <a:rPr sz="1050" b="1">
                <a:solidFill>
                  <a:srgbClr val="1C398E"/>
                </a:solidFill>
              </a:rPr>
              <a:t>Sensors • Safety • Repair</a:t>
            </a:r>
          </a:p>
        </p:txBody>
      </p:sp>
      <p:sp>
        <p:nvSpPr>
          <p:cNvPr id="13" name="diagram-agent">
            <a:extLst xmlns:a="http://schemas.openxmlformats.org/drawingml/2006/main">
              <a:ext uri="{FF2B5EF4-FFF2-40B4-BE49-F238E27FC236}">
                <a16:creationId xmlns:a16="http://schemas.microsoft.com/office/drawing/2014/main" id="{40674F3F-5CED-4D85-B0E2-968B83D4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62500"/>
            <a:ext cx="23431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13335">
            <a:solidFill>
              <a:srgbClr val="A4F4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4F3B"/>
                </a:solidFill>
              </a:defRPr>
            </a:pPr>
            <a:r>
              <a:rPr sz="1125" b="1">
                <a:solidFill>
                  <a:srgbClr val="004F3B"/>
                </a:solidFill>
              </a:rPr>
              <a:t>AGENTIC WORKFLOW</a:t>
            </a:r>
          </a:p>
          <a:p xmlns:a="http://schemas.openxmlformats.org/drawingml/2006/main">
            <a:pPr algn="ctr">
              <a:defRPr sz="1125" b="1">
                <a:solidFill>
                  <a:srgbClr val="004F3B"/>
                </a:solidFill>
              </a:defRPr>
            </a:pPr>
            <a:r>
              <a:rPr sz="1125" b="1">
                <a:solidFill>
                  <a:srgbClr val="004F3B"/>
                </a:solidFill>
              </a:rPr>
              <a:t>Perceive → decide → act → learn</a:t>
            </a:r>
          </a:p>
        </p:txBody>
      </p:sp>
      <p:cxnSp>
        <p:nvCxnSpPr>
          <p:cNvPr id="33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477250" y="39147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748E"/>
            </a:solidFill>
            <a:prstDash val="solid"/>
            <a:tailEnd type="arrow" w="med" len="med"/>
          </a:ln>
        </p:spPr>
      </p:cxnSp>
      <p:cxnSp>
        <p:nvCxnSpPr>
          <p:cNvPr id="34" name=""/>
          <p:cNvCxnSpPr>
            <a:stCxn xmlns:a="http://schemas.openxmlformats.org/drawingml/2006/main" id="12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 flipH="1">
            <a:off x="9344025" y="4438650"/>
            <a:ext cx="657225" cy="323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62748E"/>
            </a:solidFill>
            <a:prstDash val="solid"/>
            <a:tailEnd type="arrow" w="med" len="med"/>
          </a:ln>
        </p:spPr>
      </p:cxnSp>
      <p:cxnSp>
        <p:nvCxnSpPr>
          <p:cNvPr id="35" name=""/>
          <p:cNvCxnSpPr>
            <a:stCxn xmlns:a="http://schemas.openxmlformats.org/drawingml/2006/main" id="11" idx="2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924800" y="4286250"/>
            <a:ext cx="247650" cy="752475"/>
          </a:xfrm>
          <a:prstGeom xmlns:a="http://schemas.openxmlformats.org/drawingml/2006/main" prst="bentConnector3">
            <a:avLst>
              <a:gd name="adj1" fmla="val 0"/>
            </a:avLst>
          </a:prstGeom>
          <a:ln xmlns:a="http://schemas.openxmlformats.org/drawingml/2006/main" w="14288">
            <a:solidFill>
              <a:srgbClr val="90A1B9"/>
            </a:solidFill>
            <a:prstDash val="dash"/>
            <a:tailEnd type="arrow" w="sm" len="sm"/>
          </a:ln>
        </p:spPr>
      </p:cxnSp>
      <p:sp>
        <p:nvSpPr>
          <p:cNvPr id="17" name="bottom-callout">
            <a:extLst xmlns:a="http://schemas.openxmlformats.org/drawingml/2006/main">
              <a:ext uri="{FF2B5EF4-FFF2-40B4-BE49-F238E27FC236}">
                <a16:creationId xmlns:a16="http://schemas.microsoft.com/office/drawing/2014/main" id="{3C45EFB3-E18C-4B2C-B7AC-BBD132EB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981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Demo hypothesis: a medium model in a strong harness can beat a stronger model in a weak or missing harness.</a:t>
            </a:r>
          </a:p>
        </p:txBody>
      </p:sp>
      <p:sp>
        <p:nvSpPr>
          <p:cNvPr id="18" name="footer">
            <a:extLst xmlns:a="http://schemas.openxmlformats.org/drawingml/2006/main">
              <a:ext uri="{FF2B5EF4-FFF2-40B4-BE49-F238E27FC236}">
                <a16:creationId xmlns:a16="http://schemas.microsoft.com/office/drawing/2014/main" id="{0AF5A810-BBE3-4659-9DBB-B8BAE4DF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341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2748E"/>
                </a:solidFill>
              </a:defRPr>
            </a:pPr>
            <a:r>
              <a:rPr sz="825">
                <a:solidFill>
                  <a:srgbClr val="62748E"/>
                </a:solidFill>
              </a:rPr>
              <a:t>Ollama Harness Engineering Demo</a:t>
            </a:r>
          </a:p>
        </p:txBody>
      </p:sp>
      <p:sp>
        <p:nvSpPr>
          <p:cNvPr id="1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66F437F-6965-41FB-A054-73CDB74B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19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2748E"/>
                </a:solidFill>
              </a:defRPr>
            </a:pPr>
            <a:r>
              <a:rPr sz="825">
                <a:solidFill>
                  <a:srgbClr val="62748E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469772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eyebrow">
            <a:extLst xmlns:a="http://schemas.openxmlformats.org/drawingml/2006/main">
              <a:ext uri="{FF2B5EF4-FFF2-40B4-BE49-F238E27FC236}">
                <a16:creationId xmlns:a16="http://schemas.microsoft.com/office/drawing/2014/main" id="{181133B2-B04E-4A8E-BA90-B64B85724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48101DF-239C-4A6A-89EA-6BC59BA3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The framework has more than three ideas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76197D16-7BC5-4298-9B60-C0EB2788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idea-0">
            <a:extLst xmlns:a="http://schemas.openxmlformats.org/drawingml/2006/main">
              <a:ext uri="{FF2B5EF4-FFF2-40B4-BE49-F238E27FC236}">
                <a16:creationId xmlns:a16="http://schemas.microsoft.com/office/drawing/2014/main" id="{D9011D38-7780-4934-8810-EAD38407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5" name="idea-h-0">
            <a:extLst xmlns:a="http://schemas.openxmlformats.org/drawingml/2006/main">
              <a:ext uri="{FF2B5EF4-FFF2-40B4-BE49-F238E27FC236}">
                <a16:creationId xmlns:a16="http://schemas.microsoft.com/office/drawing/2014/main" id="{A4A98656-1BA8-4E6A-9052-9B0EC751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Guides</a:t>
            </a:r>
          </a:p>
        </p:txBody>
      </p:sp>
      <p:sp>
        <p:nvSpPr>
          <p:cNvPr id="6" name="idea-b-0">
            <a:extLst xmlns:a="http://schemas.openxmlformats.org/drawingml/2006/main">
              <a:ext uri="{FF2B5EF4-FFF2-40B4-BE49-F238E27FC236}">
                <a16:creationId xmlns:a16="http://schemas.microsoft.com/office/drawing/2014/main" id="{D6620A70-D4A4-44CB-854A-F0A31AF7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527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Prevent bad output before generation</a:t>
            </a:r>
          </a:p>
        </p:txBody>
      </p:sp>
      <p:sp>
        <p:nvSpPr>
          <p:cNvPr id="7" name="idea-1">
            <a:extLst xmlns:a="http://schemas.openxmlformats.org/drawingml/2006/main">
              <a:ext uri="{FF2B5EF4-FFF2-40B4-BE49-F238E27FC236}">
                <a16:creationId xmlns:a16="http://schemas.microsoft.com/office/drawing/2014/main" id="{A59B7AB4-5140-4F07-ADE0-CB0D137B4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3360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idea-h-1">
            <a:extLst xmlns:a="http://schemas.openxmlformats.org/drawingml/2006/main">
              <a:ext uri="{FF2B5EF4-FFF2-40B4-BE49-F238E27FC236}">
                <a16:creationId xmlns:a16="http://schemas.microsoft.com/office/drawing/2014/main" id="{F9F1CB4E-9F71-4105-B653-8B3419202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669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Sensors</a:t>
            </a:r>
          </a:p>
        </p:txBody>
      </p:sp>
      <p:sp>
        <p:nvSpPr>
          <p:cNvPr id="9" name="idea-b-1">
            <a:extLst xmlns:a="http://schemas.openxmlformats.org/drawingml/2006/main">
              <a:ext uri="{FF2B5EF4-FFF2-40B4-BE49-F238E27FC236}">
                <a16:creationId xmlns:a16="http://schemas.microsoft.com/office/drawing/2014/main" id="{7AF6B664-B32A-4B13-8308-35D08A92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527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Detect problems after generation</a:t>
            </a:r>
          </a:p>
        </p:txBody>
      </p:sp>
      <p:sp>
        <p:nvSpPr>
          <p:cNvPr id="10" name="idea-2">
            <a:extLst xmlns:a="http://schemas.openxmlformats.org/drawingml/2006/main">
              <a:ext uri="{FF2B5EF4-FFF2-40B4-BE49-F238E27FC236}">
                <a16:creationId xmlns:a16="http://schemas.microsoft.com/office/drawing/2014/main" id="{43B2A3F1-8DCB-44EF-908F-3CD3FA86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3360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idea-h-2">
            <a:extLst xmlns:a="http://schemas.openxmlformats.org/drawingml/2006/main">
              <a:ext uri="{FF2B5EF4-FFF2-40B4-BE49-F238E27FC236}">
                <a16:creationId xmlns:a16="http://schemas.microsoft.com/office/drawing/2014/main" id="{D7336A99-6197-42B6-AC3F-C58087A7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669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Computational</a:t>
            </a:r>
          </a:p>
        </p:txBody>
      </p:sp>
      <p:sp>
        <p:nvSpPr>
          <p:cNvPr id="12" name="idea-b-2">
            <a:extLst xmlns:a="http://schemas.openxmlformats.org/drawingml/2006/main">
              <a:ext uri="{FF2B5EF4-FFF2-40B4-BE49-F238E27FC236}">
                <a16:creationId xmlns:a16="http://schemas.microsoft.com/office/drawing/2014/main" id="{13B89C33-6831-4370-89EF-E9054CE8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527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Deterministic controls</a:t>
            </a:r>
          </a:p>
        </p:txBody>
      </p:sp>
      <p:sp>
        <p:nvSpPr>
          <p:cNvPr id="13" name="idea-3">
            <a:extLst xmlns:a="http://schemas.openxmlformats.org/drawingml/2006/main">
              <a:ext uri="{FF2B5EF4-FFF2-40B4-BE49-F238E27FC236}">
                <a16:creationId xmlns:a16="http://schemas.microsoft.com/office/drawing/2014/main" id="{C82451EA-C9F2-4F09-8AD3-AFE53445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idea-h-3">
            <a:extLst xmlns:a="http://schemas.openxmlformats.org/drawingml/2006/main">
              <a:ext uri="{FF2B5EF4-FFF2-40B4-BE49-F238E27FC236}">
                <a16:creationId xmlns:a16="http://schemas.microsoft.com/office/drawing/2014/main" id="{EF4D2E33-7DB3-4FA0-B977-F00C694B8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909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Inferential</a:t>
            </a:r>
          </a:p>
        </p:txBody>
      </p:sp>
      <p:sp>
        <p:nvSpPr>
          <p:cNvPr id="15" name="idea-b-3">
            <a:extLst xmlns:a="http://schemas.openxmlformats.org/drawingml/2006/main">
              <a:ext uri="{FF2B5EF4-FFF2-40B4-BE49-F238E27FC236}">
                <a16:creationId xmlns:a16="http://schemas.microsoft.com/office/drawing/2014/main" id="{5107E866-024D-46F6-B375-D6C42DED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Semantic controls</a:t>
            </a:r>
          </a:p>
        </p:txBody>
      </p:sp>
      <p:sp>
        <p:nvSpPr>
          <p:cNvPr id="16" name="idea-4">
            <a:extLst xmlns:a="http://schemas.openxmlformats.org/drawingml/2006/main">
              <a:ext uri="{FF2B5EF4-FFF2-40B4-BE49-F238E27FC236}">
                <a16:creationId xmlns:a16="http://schemas.microsoft.com/office/drawing/2014/main" id="{1A3239A7-448A-4A98-A3FB-76328A1E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5755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7" name="idea-h-4">
            <a:extLst xmlns:a="http://schemas.openxmlformats.org/drawingml/2006/main">
              <a:ext uri="{FF2B5EF4-FFF2-40B4-BE49-F238E27FC236}">
                <a16:creationId xmlns:a16="http://schemas.microsoft.com/office/drawing/2014/main" id="{B0179F55-3389-4692-AC90-2B45E13A5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909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Steering loop</a:t>
            </a:r>
          </a:p>
        </p:txBody>
      </p:sp>
      <p:sp>
        <p:nvSpPr>
          <p:cNvPr id="18" name="idea-b-4">
            <a:extLst xmlns:a="http://schemas.openxmlformats.org/drawingml/2006/main">
              <a:ext uri="{FF2B5EF4-FFF2-40B4-BE49-F238E27FC236}">
                <a16:creationId xmlns:a16="http://schemas.microsoft.com/office/drawing/2014/main" id="{ED6AA419-3E0C-47C6-A26C-79F10B24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766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Improve harness after misses</a:t>
            </a:r>
          </a:p>
        </p:txBody>
      </p:sp>
      <p:sp>
        <p:nvSpPr>
          <p:cNvPr id="19" name="idea-5">
            <a:extLst xmlns:a="http://schemas.openxmlformats.org/drawingml/2006/main">
              <a:ext uri="{FF2B5EF4-FFF2-40B4-BE49-F238E27FC236}">
                <a16:creationId xmlns:a16="http://schemas.microsoft.com/office/drawing/2014/main" id="{FF8674E9-1815-4AC7-84C4-D196A49F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25755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idea-h-5">
            <a:extLst xmlns:a="http://schemas.openxmlformats.org/drawingml/2006/main">
              <a:ext uri="{FF2B5EF4-FFF2-40B4-BE49-F238E27FC236}">
                <a16:creationId xmlns:a16="http://schemas.microsoft.com/office/drawing/2014/main" id="{11EEAF70-56E4-4C7C-9774-4318C36F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909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Keep quality left</a:t>
            </a:r>
          </a:p>
        </p:txBody>
      </p:sp>
      <p:sp>
        <p:nvSpPr>
          <p:cNvPr id="21" name="idea-b-5">
            <a:extLst xmlns:a="http://schemas.openxmlformats.org/drawingml/2006/main">
              <a:ext uri="{FF2B5EF4-FFF2-40B4-BE49-F238E27FC236}">
                <a16:creationId xmlns:a16="http://schemas.microsoft.com/office/drawing/2014/main" id="{39CB064F-3161-4ACB-A119-FDE772936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766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Catch errors early</a:t>
            </a:r>
          </a:p>
        </p:txBody>
      </p:sp>
      <p:sp>
        <p:nvSpPr>
          <p:cNvPr id="22" name="idea-6">
            <a:extLst xmlns:a="http://schemas.openxmlformats.org/drawingml/2006/main">
              <a:ext uri="{FF2B5EF4-FFF2-40B4-BE49-F238E27FC236}">
                <a16:creationId xmlns:a16="http://schemas.microsoft.com/office/drawing/2014/main" id="{56BCF1CE-0E82-408A-A4E2-8091204E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idea-h-6">
            <a:extLst xmlns:a="http://schemas.openxmlformats.org/drawingml/2006/main">
              <a:ext uri="{FF2B5EF4-FFF2-40B4-BE49-F238E27FC236}">
                <a16:creationId xmlns:a16="http://schemas.microsoft.com/office/drawing/2014/main" id="{DCEB8EB7-1787-4165-9577-8B823C2D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148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Regulation type</a:t>
            </a:r>
          </a:p>
        </p:txBody>
      </p:sp>
      <p:sp>
        <p:nvSpPr>
          <p:cNvPr id="24" name="idea-b-6">
            <a:extLst xmlns:a="http://schemas.openxmlformats.org/drawingml/2006/main">
              <a:ext uri="{FF2B5EF4-FFF2-40B4-BE49-F238E27FC236}">
                <a16:creationId xmlns:a16="http://schemas.microsoft.com/office/drawing/2014/main" id="{13CB18B4-5B6A-45B9-AEF2-640F0A00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8006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Know what quality means</a:t>
            </a:r>
          </a:p>
        </p:txBody>
      </p:sp>
      <p:sp>
        <p:nvSpPr>
          <p:cNvPr id="25" name="idea-7">
            <a:extLst xmlns:a="http://schemas.openxmlformats.org/drawingml/2006/main">
              <a:ext uri="{FF2B5EF4-FFF2-40B4-BE49-F238E27FC236}">
                <a16:creationId xmlns:a16="http://schemas.microsoft.com/office/drawing/2014/main" id="{C0096A46-FD66-4552-87DB-646176DC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8150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idea-h-7">
            <a:extLst xmlns:a="http://schemas.openxmlformats.org/drawingml/2006/main">
              <a:ext uri="{FF2B5EF4-FFF2-40B4-BE49-F238E27FC236}">
                <a16:creationId xmlns:a16="http://schemas.microsoft.com/office/drawing/2014/main" id="{CDC536E3-DEB9-4002-946C-6CB6E7F2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Harnessability</a:t>
            </a:r>
          </a:p>
        </p:txBody>
      </p:sp>
      <p:sp>
        <p:nvSpPr>
          <p:cNvPr id="27" name="idea-b-7">
            <a:extLst xmlns:a="http://schemas.openxmlformats.org/drawingml/2006/main">
              <a:ext uri="{FF2B5EF4-FFF2-40B4-BE49-F238E27FC236}">
                <a16:creationId xmlns:a16="http://schemas.microsoft.com/office/drawing/2014/main" id="{D6581C4D-A618-4FAF-8871-F3F591DE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8006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Design systems that are governable</a:t>
            </a:r>
          </a:p>
        </p:txBody>
      </p:sp>
      <p:sp>
        <p:nvSpPr>
          <p:cNvPr id="28" name="idea-8">
            <a:extLst xmlns:a="http://schemas.openxmlformats.org/drawingml/2006/main">
              <a:ext uri="{FF2B5EF4-FFF2-40B4-BE49-F238E27FC236}">
                <a16:creationId xmlns:a16="http://schemas.microsoft.com/office/drawing/2014/main" id="{8A43338F-E52B-4423-8536-09B751DEC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150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9" name="idea-h-8">
            <a:extLst xmlns:a="http://schemas.openxmlformats.org/drawingml/2006/main">
              <a:ext uri="{FF2B5EF4-FFF2-40B4-BE49-F238E27FC236}">
                <a16:creationId xmlns:a16="http://schemas.microsoft.com/office/drawing/2014/main" id="{21BF7E75-83A4-46E3-B4BD-A3CEAFA7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148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Human role</a:t>
            </a:r>
          </a:p>
        </p:txBody>
      </p:sp>
      <p:sp>
        <p:nvSpPr>
          <p:cNvPr id="30" name="idea-b-8">
            <a:extLst xmlns:a="http://schemas.openxmlformats.org/drawingml/2006/main">
              <a:ext uri="{FF2B5EF4-FFF2-40B4-BE49-F238E27FC236}">
                <a16:creationId xmlns:a16="http://schemas.microsoft.com/office/drawing/2014/main" id="{1F38BD51-D952-4E6F-8061-948D7BC4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006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Steer where judgment matters</a:t>
            </a:r>
          </a:p>
        </p:txBody>
      </p:sp>
      <p:sp>
        <p:nvSpPr>
          <p:cNvPr id="31" name="takeaway">
            <a:extLst xmlns:a="http://schemas.openxmlformats.org/drawingml/2006/main">
              <a:ext uri="{FF2B5EF4-FFF2-40B4-BE49-F238E27FC236}">
                <a16:creationId xmlns:a16="http://schemas.microsoft.com/office/drawing/2014/main" id="{F7B731E5-ECFF-4049-BA7E-250B384A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7690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Slides that follow use one pattern: principle -&gt; impact -&gt; toy example -&gt; our code.</a:t>
            </a:r>
          </a:p>
        </p:txBody>
      </p:sp>
      <p:sp>
        <p:nvSpPr>
          <p:cNvPr id="32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4FAA226-1DAD-4534-B50A-FC00BA1B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33" name="footer-num">
            <a:extLst xmlns:a="http://schemas.openxmlformats.org/drawingml/2006/main">
              <a:ext uri="{FF2B5EF4-FFF2-40B4-BE49-F238E27FC236}">
                <a16:creationId xmlns:a16="http://schemas.microsoft.com/office/drawing/2014/main" id="{044ADBD0-4F1C-4D00-9742-1AEDD92B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019982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D9C223C8-DB40-4181-AE9F-3A46604D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1A2200-A661-4FB7-93D3-D3BC9B08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Feedforward guides reduce the chance of a bad first answer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DF6035F1-1593-4953-A0FC-0C4844AE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BDD81A56-B7CF-4CB7-966E-1F240F07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B7280"/>
                </a:solidFill>
              </a:defRPr>
            </a:pPr>
            <a:r>
              <a:rPr sz="1350" b="1">
                <a:solidFill>
                  <a:srgbClr val="6B7280"/>
                </a:solidFill>
              </a:rPr>
              <a:t>Principle</a:t>
            </a:r>
          </a:p>
        </p:txBody>
      </p:sp>
      <p:sp>
        <p:nvSpPr>
          <p:cNvPr id="5" name="principle">
            <a:extLst xmlns:a="http://schemas.openxmlformats.org/drawingml/2006/main">
              <a:ext uri="{FF2B5EF4-FFF2-40B4-BE49-F238E27FC236}">
                <a16:creationId xmlns:a16="http://schemas.microsoft.com/office/drawing/2014/main" id="{FAE81A8A-B224-44C7-BD07-2EAE26EA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Guide the model before it acts: role, context boundary, policy, and output contract.</a:t>
            </a:r>
          </a:p>
        </p:txBody>
      </p:sp>
      <p:sp>
        <p:nvSpPr>
          <p:cNvPr id="6" name="block-0">
            <a:extLst xmlns:a="http://schemas.openxmlformats.org/drawingml/2006/main">
              <a:ext uri="{FF2B5EF4-FFF2-40B4-BE49-F238E27FC236}">
                <a16:creationId xmlns:a16="http://schemas.microsoft.com/office/drawing/2014/main" id="{57678048-CA7D-45E2-B996-46753B41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block-h-0">
            <a:extLst xmlns:a="http://schemas.openxmlformats.org/drawingml/2006/main">
              <a:ext uri="{FF2B5EF4-FFF2-40B4-BE49-F238E27FC236}">
                <a16:creationId xmlns:a16="http://schemas.microsoft.com/office/drawing/2014/main" id="{4E59A79D-6DCB-4DFD-A65C-32C00FD6E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What it changes</a:t>
            </a:r>
          </a:p>
        </p:txBody>
      </p:sp>
      <p:sp>
        <p:nvSpPr>
          <p:cNvPr id="8" name="block-b-0">
            <a:extLst xmlns:a="http://schemas.openxmlformats.org/drawingml/2006/main">
              <a:ext uri="{FF2B5EF4-FFF2-40B4-BE49-F238E27FC236}">
                <a16:creationId xmlns:a16="http://schemas.microsoft.com/office/drawing/2014/main" id="{76C991BB-4075-4564-82F9-4154278D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Less rework. Fewer unsafe suggestions. More consistent outputs across reruns.</a:t>
            </a:r>
          </a:p>
        </p:txBody>
      </p:sp>
      <p:sp>
        <p:nvSpPr>
          <p:cNvPr id="9" name="block-1">
            <a:extLst xmlns:a="http://schemas.openxmlformats.org/drawingml/2006/main">
              <a:ext uri="{FF2B5EF4-FFF2-40B4-BE49-F238E27FC236}">
                <a16:creationId xmlns:a16="http://schemas.microsoft.com/office/drawing/2014/main" id="{55225689-D4CE-486E-9CE4-1EC8E41D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10" name="block-h-1">
            <a:extLst xmlns:a="http://schemas.openxmlformats.org/drawingml/2006/main">
              <a:ext uri="{FF2B5EF4-FFF2-40B4-BE49-F238E27FC236}">
                <a16:creationId xmlns:a16="http://schemas.microsoft.com/office/drawing/2014/main" id="{E0BCED55-D8C7-40E5-AF6B-65805B90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Toy example</a:t>
            </a:r>
          </a:p>
        </p:txBody>
      </p:sp>
      <p:sp>
        <p:nvSpPr>
          <p:cNvPr id="11" name="block-b-1">
            <a:extLst xmlns:a="http://schemas.openxmlformats.org/drawingml/2006/main">
              <a:ext uri="{FF2B5EF4-FFF2-40B4-BE49-F238E27FC236}">
                <a16:creationId xmlns:a16="http://schemas.microsoft.com/office/drawing/2014/main" id="{F9BC3A1D-DC55-4D58-AB59-9CEFDD691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Tell the planner: include evidence and rollback plan; never restart pods or disable payment writes.</a:t>
            </a:r>
          </a:p>
        </p:txBody>
      </p:sp>
      <p:sp>
        <p:nvSpPr>
          <p:cNvPr id="12" name="block-2">
            <a:extLst xmlns:a="http://schemas.openxmlformats.org/drawingml/2006/main">
              <a:ext uri="{FF2B5EF4-FFF2-40B4-BE49-F238E27FC236}">
                <a16:creationId xmlns:a16="http://schemas.microsoft.com/office/drawing/2014/main" id="{9D9BAC22-3097-4DA8-BB88-A7D1788B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block-h-2">
            <a:extLst xmlns:a="http://schemas.openxmlformats.org/drawingml/2006/main">
              <a:ext uri="{FF2B5EF4-FFF2-40B4-BE49-F238E27FC236}">
                <a16:creationId xmlns:a16="http://schemas.microsoft.com/office/drawing/2014/main" id="{E5531B31-8D3E-4D93-903E-3930BBBC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In our code</a:t>
            </a:r>
          </a:p>
        </p:txBody>
      </p:sp>
      <p:sp>
        <p:nvSpPr>
          <p:cNvPr id="14" name="block-b-2">
            <a:extLst xmlns:a="http://schemas.openxmlformats.org/drawingml/2006/main">
              <a:ext uri="{FF2B5EF4-FFF2-40B4-BE49-F238E27FC236}">
                <a16:creationId xmlns:a16="http://schemas.microsoft.com/office/drawing/2014/main" id="{EA117C7A-C63A-4775-A5EF-F8587855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live.py builds planner_input with required fields, forbidden actions, and shared_memory.</a:t>
            </a:r>
          </a:p>
        </p:txBody>
      </p:sp>
      <p:sp>
        <p:nvSpPr>
          <p:cNvPr id="15" name="learn">
            <a:extLst xmlns:a="http://schemas.openxmlformats.org/drawingml/2006/main">
              <a:ext uri="{FF2B5EF4-FFF2-40B4-BE49-F238E27FC236}">
                <a16:creationId xmlns:a16="http://schemas.microsoft.com/office/drawing/2014/main" id="{2AAFE4D6-285E-47B2-855C-23466B83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1005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This is not prompt decoration; it is pre-execution control.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3E97B93-AA43-4732-A7A9-05B35223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7" name="footer-num">
            <a:extLst xmlns:a="http://schemas.openxmlformats.org/drawingml/2006/main">
              <a:ext uri="{FF2B5EF4-FFF2-40B4-BE49-F238E27FC236}">
                <a16:creationId xmlns:a16="http://schemas.microsoft.com/office/drawing/2014/main" id="{592D7E18-869C-44BE-821B-4B876824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732845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4A61B5B5-38FA-4835-8CFA-A1E32777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D418511-2BE1-4558-B947-CE3318EC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Feedback sensors make quality measurable after the model acts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CD955416-B24F-44B2-A142-E5FCFFAF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7EA78088-44EF-4DA1-985B-AB2DF9BC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B7280"/>
                </a:solidFill>
              </a:defRPr>
            </a:pPr>
            <a:r>
              <a:rPr sz="1350" b="1">
                <a:solidFill>
                  <a:srgbClr val="6B7280"/>
                </a:solidFill>
              </a:rPr>
              <a:t>Principle</a:t>
            </a:r>
          </a:p>
        </p:txBody>
      </p:sp>
      <p:sp>
        <p:nvSpPr>
          <p:cNvPr id="5" name="principle">
            <a:extLst xmlns:a="http://schemas.openxmlformats.org/drawingml/2006/main">
              <a:ext uri="{FF2B5EF4-FFF2-40B4-BE49-F238E27FC236}">
                <a16:creationId xmlns:a16="http://schemas.microsoft.com/office/drawing/2014/main" id="{E255FFE0-7CD2-41BE-8534-0F30EC0E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Observe the output and produce actionable signals the workflow can use.</a:t>
            </a:r>
          </a:p>
        </p:txBody>
      </p:sp>
      <p:sp>
        <p:nvSpPr>
          <p:cNvPr id="6" name="block-0">
            <a:extLst xmlns:a="http://schemas.openxmlformats.org/drawingml/2006/main">
              <a:ext uri="{FF2B5EF4-FFF2-40B4-BE49-F238E27FC236}">
                <a16:creationId xmlns:a16="http://schemas.microsoft.com/office/drawing/2014/main" id="{ADD72F21-C108-4648-B75E-409936D5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block-h-0">
            <a:extLst xmlns:a="http://schemas.openxmlformats.org/drawingml/2006/main">
              <a:ext uri="{FF2B5EF4-FFF2-40B4-BE49-F238E27FC236}">
                <a16:creationId xmlns:a16="http://schemas.microsoft.com/office/drawing/2014/main" id="{94C991A3-B4BA-4DF8-BCEC-020E440FF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What it changes</a:t>
            </a:r>
          </a:p>
        </p:txBody>
      </p:sp>
      <p:sp>
        <p:nvSpPr>
          <p:cNvPr id="8" name="block-b-0">
            <a:extLst xmlns:a="http://schemas.openxmlformats.org/drawingml/2006/main">
              <a:ext uri="{FF2B5EF4-FFF2-40B4-BE49-F238E27FC236}">
                <a16:creationId xmlns:a16="http://schemas.microsoft.com/office/drawing/2014/main" id="{A25A60DE-285D-4FA0-9B2B-CF6089EE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Management can ask what failed, not just whether the answer sounded good.</a:t>
            </a:r>
          </a:p>
        </p:txBody>
      </p:sp>
      <p:sp>
        <p:nvSpPr>
          <p:cNvPr id="9" name="block-1">
            <a:extLst xmlns:a="http://schemas.openxmlformats.org/drawingml/2006/main">
              <a:ext uri="{FF2B5EF4-FFF2-40B4-BE49-F238E27FC236}">
                <a16:creationId xmlns:a16="http://schemas.microsoft.com/office/drawing/2014/main" id="{A2E1CC1F-19EF-4383-9EFD-1996B2EB5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10" name="block-h-1">
            <a:extLst xmlns:a="http://schemas.openxmlformats.org/drawingml/2006/main">
              <a:ext uri="{FF2B5EF4-FFF2-40B4-BE49-F238E27FC236}">
                <a16:creationId xmlns:a16="http://schemas.microsoft.com/office/drawing/2014/main" id="{9F5A9E48-7257-4F47-A521-E0B74E92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Toy example</a:t>
            </a:r>
          </a:p>
        </p:txBody>
      </p:sp>
      <p:sp>
        <p:nvSpPr>
          <p:cNvPr id="11" name="block-b-1">
            <a:extLst xmlns:a="http://schemas.openxmlformats.org/drawingml/2006/main">
              <a:ext uri="{FF2B5EF4-FFF2-40B4-BE49-F238E27FC236}">
                <a16:creationId xmlns:a16="http://schemas.microsoft.com/office/drawing/2014/main" id="{FFF08A52-FF12-429A-906B-5CAEC25F5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Check whether the answer contains required evidence, approved runbook action, and no forbidden action.</a:t>
            </a:r>
          </a:p>
        </p:txBody>
      </p:sp>
      <p:sp>
        <p:nvSpPr>
          <p:cNvPr id="12" name="block-2">
            <a:extLst xmlns:a="http://schemas.openxmlformats.org/drawingml/2006/main">
              <a:ext uri="{FF2B5EF4-FFF2-40B4-BE49-F238E27FC236}">
                <a16:creationId xmlns:a16="http://schemas.microsoft.com/office/drawing/2014/main" id="{0ECDB492-63A8-4621-9E12-0E2818B0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block-h-2">
            <a:extLst xmlns:a="http://schemas.openxmlformats.org/drawingml/2006/main">
              <a:ext uri="{FF2B5EF4-FFF2-40B4-BE49-F238E27FC236}">
                <a16:creationId xmlns:a16="http://schemas.microsoft.com/office/drawing/2014/main" id="{1E1AED52-41BC-488D-A630-EA74CB13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In our code</a:t>
            </a:r>
          </a:p>
        </p:txBody>
      </p:sp>
      <p:sp>
        <p:nvSpPr>
          <p:cNvPr id="14" name="block-b-2">
            <a:extLst xmlns:a="http://schemas.openxmlformats.org/drawingml/2006/main">
              <a:ext uri="{FF2B5EF4-FFF2-40B4-BE49-F238E27FC236}">
                <a16:creationId xmlns:a16="http://schemas.microsoft.com/office/drawing/2014/main" id="{9D164F58-D77D-49B7-B3C5-1AC553D26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scoring.py returns checks for evidence, runbook, safety, memory, and completeness.</a:t>
            </a:r>
          </a:p>
        </p:txBody>
      </p:sp>
      <p:sp>
        <p:nvSpPr>
          <p:cNvPr id="15" name="learn">
            <a:extLst xmlns:a="http://schemas.openxmlformats.org/drawingml/2006/main">
              <a:ext uri="{FF2B5EF4-FFF2-40B4-BE49-F238E27FC236}">
                <a16:creationId xmlns:a16="http://schemas.microsoft.com/office/drawing/2014/main" id="{F798E07B-F62F-491B-8D43-23B7F807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1005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A fluent answer can fail; a measured answer can be improved.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B303BB1-CDC7-4D62-9EC0-CF256F65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7" name="footer-num">
            <a:extLst xmlns:a="http://schemas.openxmlformats.org/drawingml/2006/main">
              <a:ext uri="{FF2B5EF4-FFF2-40B4-BE49-F238E27FC236}">
                <a16:creationId xmlns:a16="http://schemas.microsoft.com/office/drawing/2014/main" id="{E27D05FD-CFBB-434A-A7A6-8C8444F0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9116854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B88441B8-83A6-4E4C-8A6B-A1271CD9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0AE5ADF-0250-480D-A23E-B24CF3B2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Computational controls should be the source of truth when possible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C3A2A9AC-D69E-4079-8E5D-C9D70E7E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4B82054D-88AD-4F95-94BC-779109C88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B7280"/>
                </a:solidFill>
              </a:defRPr>
            </a:pPr>
            <a:r>
              <a:rPr sz="1350" b="1">
                <a:solidFill>
                  <a:srgbClr val="6B7280"/>
                </a:solidFill>
              </a:rPr>
              <a:t>Principle</a:t>
            </a:r>
          </a:p>
        </p:txBody>
      </p:sp>
      <p:sp>
        <p:nvSpPr>
          <p:cNvPr id="5" name="principle">
            <a:extLst xmlns:a="http://schemas.openxmlformats.org/drawingml/2006/main">
              <a:ext uri="{FF2B5EF4-FFF2-40B4-BE49-F238E27FC236}">
                <a16:creationId xmlns:a16="http://schemas.microsoft.com/office/drawing/2014/main" id="{8DDB3792-EFC2-4DE0-8E66-0D3D6EB9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Use deterministic checks for anything that can be checked exactly.</a:t>
            </a:r>
          </a:p>
        </p:txBody>
      </p:sp>
      <p:sp>
        <p:nvSpPr>
          <p:cNvPr id="6" name="block-0">
            <a:extLst xmlns:a="http://schemas.openxmlformats.org/drawingml/2006/main">
              <a:ext uri="{FF2B5EF4-FFF2-40B4-BE49-F238E27FC236}">
                <a16:creationId xmlns:a16="http://schemas.microsoft.com/office/drawing/2014/main" id="{D6503058-A560-450F-AF78-5148E681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block-h-0">
            <a:extLst xmlns:a="http://schemas.openxmlformats.org/drawingml/2006/main">
              <a:ext uri="{FF2B5EF4-FFF2-40B4-BE49-F238E27FC236}">
                <a16:creationId xmlns:a16="http://schemas.microsoft.com/office/drawing/2014/main" id="{3BAED363-76A3-4242-B263-22EB8D3B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What it changes</a:t>
            </a:r>
          </a:p>
        </p:txBody>
      </p:sp>
      <p:sp>
        <p:nvSpPr>
          <p:cNvPr id="8" name="block-b-0">
            <a:extLst xmlns:a="http://schemas.openxmlformats.org/drawingml/2006/main">
              <a:ext uri="{FF2B5EF4-FFF2-40B4-BE49-F238E27FC236}">
                <a16:creationId xmlns:a16="http://schemas.microsoft.com/office/drawing/2014/main" id="{04F5ECD6-9F01-469B-98A9-1CB3AEC5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Lower cost, repeatable scores, and fewer arguments about whether the demo is subjective.</a:t>
            </a:r>
          </a:p>
        </p:txBody>
      </p:sp>
      <p:sp>
        <p:nvSpPr>
          <p:cNvPr id="9" name="block-1">
            <a:extLst xmlns:a="http://schemas.openxmlformats.org/drawingml/2006/main">
              <a:ext uri="{FF2B5EF4-FFF2-40B4-BE49-F238E27FC236}">
                <a16:creationId xmlns:a16="http://schemas.microsoft.com/office/drawing/2014/main" id="{C7442593-D1A5-49AD-BF40-FE50A62D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10" name="block-h-1">
            <a:extLst xmlns:a="http://schemas.openxmlformats.org/drawingml/2006/main">
              <a:ext uri="{FF2B5EF4-FFF2-40B4-BE49-F238E27FC236}">
                <a16:creationId xmlns:a16="http://schemas.microsoft.com/office/drawing/2014/main" id="{62310B62-4563-4069-B5ED-F99A1477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Toy example</a:t>
            </a:r>
          </a:p>
        </p:txBody>
      </p:sp>
      <p:sp>
        <p:nvSpPr>
          <p:cNvPr id="11" name="block-b-1">
            <a:extLst xmlns:a="http://schemas.openxmlformats.org/drawingml/2006/main">
              <a:ext uri="{FF2B5EF4-FFF2-40B4-BE49-F238E27FC236}">
                <a16:creationId xmlns:a16="http://schemas.microsoft.com/office/drawing/2014/main" id="{7B1E6C06-A52E-468C-8540-E4C28F2DC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Required field missing? Score fails. Forbidden action present? Safety fails.</a:t>
            </a:r>
          </a:p>
        </p:txBody>
      </p:sp>
      <p:sp>
        <p:nvSpPr>
          <p:cNvPr id="12" name="block-2">
            <a:extLst xmlns:a="http://schemas.openxmlformats.org/drawingml/2006/main">
              <a:ext uri="{FF2B5EF4-FFF2-40B4-BE49-F238E27FC236}">
                <a16:creationId xmlns:a16="http://schemas.microsoft.com/office/drawing/2014/main" id="{C0E536D7-F968-4864-9320-E0C2E2E3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block-h-2">
            <a:extLst xmlns:a="http://schemas.openxmlformats.org/drawingml/2006/main">
              <a:ext uri="{FF2B5EF4-FFF2-40B4-BE49-F238E27FC236}">
                <a16:creationId xmlns:a16="http://schemas.microsoft.com/office/drawing/2014/main" id="{598AA5BB-31A8-4BEA-BACC-F483697A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In our code</a:t>
            </a:r>
          </a:p>
        </p:txBody>
      </p:sp>
      <p:sp>
        <p:nvSpPr>
          <p:cNvPr id="14" name="block-b-2">
            <a:extLst xmlns:a="http://schemas.openxmlformats.org/drawingml/2006/main">
              <a:ext uri="{FF2B5EF4-FFF2-40B4-BE49-F238E27FC236}">
                <a16:creationId xmlns:a16="http://schemas.microsoft.com/office/drawing/2014/main" id="{1890FFF7-9FFA-4532-8836-E880893E3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score_memory computes score from explicit booleans and weights, not LLM judgment.</a:t>
            </a:r>
          </a:p>
        </p:txBody>
      </p:sp>
      <p:sp>
        <p:nvSpPr>
          <p:cNvPr id="15" name="learn">
            <a:extLst xmlns:a="http://schemas.openxmlformats.org/drawingml/2006/main">
              <a:ext uri="{FF2B5EF4-FFF2-40B4-BE49-F238E27FC236}">
                <a16:creationId xmlns:a16="http://schemas.microsoft.com/office/drawing/2014/main" id="{208AA5E5-DD92-4E0C-898B-8EE3846C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1005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Rules judge; LLMs may explain.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C8CD77D-A9BF-45BC-98CD-B6E919EA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7" name="footer-num">
            <a:extLst xmlns:a="http://schemas.openxmlformats.org/drawingml/2006/main">
              <a:ext uri="{FF2B5EF4-FFF2-40B4-BE49-F238E27FC236}">
                <a16:creationId xmlns:a16="http://schemas.microsoft.com/office/drawing/2014/main" id="{7DB86931-CF96-4836-9578-1A22741C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678620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F780B430-C9C9-4592-8857-F41F6707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82B52BF-6A34-4CF3-B094-55C218CD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Inferential controls help where semantic judgment is needed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433513F5-3D1F-4381-9E9E-4079EBF0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82BD1C60-29E0-40C2-8BB0-ABD51781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B7280"/>
                </a:solidFill>
              </a:defRPr>
            </a:pPr>
            <a:r>
              <a:rPr sz="1350" b="1">
                <a:solidFill>
                  <a:srgbClr val="6B7280"/>
                </a:solidFill>
              </a:rPr>
              <a:t>Principle</a:t>
            </a:r>
          </a:p>
        </p:txBody>
      </p:sp>
      <p:sp>
        <p:nvSpPr>
          <p:cNvPr id="5" name="principle">
            <a:extLst xmlns:a="http://schemas.openxmlformats.org/drawingml/2006/main">
              <a:ext uri="{FF2B5EF4-FFF2-40B4-BE49-F238E27FC236}">
                <a16:creationId xmlns:a16="http://schemas.microsoft.com/office/drawing/2014/main" id="{7CD65937-C9B7-4325-B2E6-EBEEA4F4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Use an LLM for summarization or semantic review, but keep it out of deterministic scoring.</a:t>
            </a:r>
          </a:p>
        </p:txBody>
      </p:sp>
      <p:sp>
        <p:nvSpPr>
          <p:cNvPr id="6" name="block-0">
            <a:extLst xmlns:a="http://schemas.openxmlformats.org/drawingml/2006/main">
              <a:ext uri="{FF2B5EF4-FFF2-40B4-BE49-F238E27FC236}">
                <a16:creationId xmlns:a16="http://schemas.microsoft.com/office/drawing/2014/main" id="{07750A87-5E04-429E-8516-33F8E2D1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block-h-0">
            <a:extLst xmlns:a="http://schemas.openxmlformats.org/drawingml/2006/main">
              <a:ext uri="{FF2B5EF4-FFF2-40B4-BE49-F238E27FC236}">
                <a16:creationId xmlns:a16="http://schemas.microsoft.com/office/drawing/2014/main" id="{054CEFDD-2058-43F4-AF50-9BCFB8635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What it changes</a:t>
            </a:r>
          </a:p>
        </p:txBody>
      </p:sp>
      <p:sp>
        <p:nvSpPr>
          <p:cNvPr id="8" name="block-b-0">
            <a:extLst xmlns:a="http://schemas.openxmlformats.org/drawingml/2006/main">
              <a:ext uri="{FF2B5EF4-FFF2-40B4-BE49-F238E27FC236}">
                <a16:creationId xmlns:a16="http://schemas.microsoft.com/office/drawing/2014/main" id="{0497A0C0-6B2C-44D8-8D02-350AB8CA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Better executive summaries without turning the score into another model opinion.</a:t>
            </a:r>
          </a:p>
        </p:txBody>
      </p:sp>
      <p:sp>
        <p:nvSpPr>
          <p:cNvPr id="9" name="block-1">
            <a:extLst xmlns:a="http://schemas.openxmlformats.org/drawingml/2006/main">
              <a:ext uri="{FF2B5EF4-FFF2-40B4-BE49-F238E27FC236}">
                <a16:creationId xmlns:a16="http://schemas.microsoft.com/office/drawing/2014/main" id="{39884AD6-3AE6-48B4-AFBC-520BC8E71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10" name="block-h-1">
            <a:extLst xmlns:a="http://schemas.openxmlformats.org/drawingml/2006/main">
              <a:ext uri="{FF2B5EF4-FFF2-40B4-BE49-F238E27FC236}">
                <a16:creationId xmlns:a16="http://schemas.microsoft.com/office/drawing/2014/main" id="{DDC4762C-3613-4810-B888-6C757E770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Toy example</a:t>
            </a:r>
          </a:p>
        </p:txBody>
      </p:sp>
      <p:sp>
        <p:nvSpPr>
          <p:cNvPr id="11" name="block-b-1">
            <a:extLst xmlns:a="http://schemas.openxmlformats.org/drawingml/2006/main">
              <a:ext uri="{FF2B5EF4-FFF2-40B4-BE49-F238E27FC236}">
                <a16:creationId xmlns:a16="http://schemas.microsoft.com/office/drawing/2014/main" id="{94C1BEE2-FEE3-4792-9B9A-54DBE1323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Ask a cheaper model to rewrite rule findings for management, not to invent a new grade.</a:t>
            </a:r>
          </a:p>
        </p:txBody>
      </p:sp>
      <p:sp>
        <p:nvSpPr>
          <p:cNvPr id="12" name="block-2">
            <a:extLst xmlns:a="http://schemas.openxmlformats.org/drawingml/2006/main">
              <a:ext uri="{FF2B5EF4-FFF2-40B4-BE49-F238E27FC236}">
                <a16:creationId xmlns:a16="http://schemas.microsoft.com/office/drawing/2014/main" id="{5941F489-C2D7-48F6-84F3-90421D33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block-h-2">
            <a:extLst xmlns:a="http://schemas.openxmlformats.org/drawingml/2006/main">
              <a:ext uri="{FF2B5EF4-FFF2-40B4-BE49-F238E27FC236}">
                <a16:creationId xmlns:a16="http://schemas.microsoft.com/office/drawing/2014/main" id="{765DFA27-8A2D-48E5-9DE9-6D7EF0A8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In our code</a:t>
            </a:r>
          </a:p>
        </p:txBody>
      </p:sp>
      <p:sp>
        <p:nvSpPr>
          <p:cNvPr id="14" name="block-b-2">
            <a:extLst xmlns:a="http://schemas.openxmlformats.org/drawingml/2006/main">
              <a:ext uri="{FF2B5EF4-FFF2-40B4-BE49-F238E27FC236}">
                <a16:creationId xmlns:a16="http://schemas.microsoft.com/office/drawing/2014/main" id="{961C4972-8CC3-4074-806D-7F37546DE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summarizer.py tells Ollama: do not change scores, pass/fail, or findings.</a:t>
            </a:r>
          </a:p>
        </p:txBody>
      </p:sp>
      <p:sp>
        <p:nvSpPr>
          <p:cNvPr id="15" name="learn">
            <a:extLst xmlns:a="http://schemas.openxmlformats.org/drawingml/2006/main">
              <a:ext uri="{FF2B5EF4-FFF2-40B4-BE49-F238E27FC236}">
                <a16:creationId xmlns:a16="http://schemas.microsoft.com/office/drawing/2014/main" id="{EB78C42C-72C9-4DEF-9FB8-0161E3C9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1005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Inferential controls are useful, but they need boundaries.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1CFCB7D-A7B8-453E-BFA2-9C94358A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7" name="footer-num">
            <a:extLst xmlns:a="http://schemas.openxmlformats.org/drawingml/2006/main">
              <a:ext uri="{FF2B5EF4-FFF2-40B4-BE49-F238E27FC236}">
                <a16:creationId xmlns:a16="http://schemas.microsoft.com/office/drawing/2014/main" id="{ACBFB1FA-5170-4181-B290-EB4D9D6E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9801692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eyebrow">
            <a:extLst xmlns:a="http://schemas.openxmlformats.org/drawingml/2006/main">
              <a:ext uri="{FF2B5EF4-FFF2-40B4-BE49-F238E27FC236}">
                <a16:creationId xmlns:a16="http://schemas.microsoft.com/office/drawing/2014/main" id="{037C22CA-3483-4A44-BA8D-287C27E9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BB21D0F-A7E4-44DB-B76D-64A495A53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The steering loop is where harness engineering becomes engineering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7CF2A829-B5EE-4E39-A159-D087083A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3268F5B5-F8F8-4F78-9D08-BC40E8EC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2000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5" name="step-h-0">
            <a:extLst xmlns:a="http://schemas.openxmlformats.org/drawingml/2006/main">
              <a:ext uri="{FF2B5EF4-FFF2-40B4-BE49-F238E27FC236}">
                <a16:creationId xmlns:a16="http://schemas.microsoft.com/office/drawing/2014/main" id="{7A724D4B-C08F-4BB6-A80E-9DC6D506D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Generate</a:t>
            </a:r>
          </a:p>
        </p:txBody>
      </p:sp>
      <p:sp>
        <p:nvSpPr>
          <p:cNvPr id="6" name="step-b-0">
            <a:extLst xmlns:a="http://schemas.openxmlformats.org/drawingml/2006/main">
              <a:ext uri="{FF2B5EF4-FFF2-40B4-BE49-F238E27FC236}">
                <a16:creationId xmlns:a16="http://schemas.microsoft.com/office/drawing/2014/main" id="{99C24F2D-D9FB-41BD-AE0A-63FC20DE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7180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Planner drafts a plan</a:t>
            </a:r>
          </a:p>
        </p:txBody>
      </p:sp>
      <p:sp>
        <p:nvSpPr>
          <p:cNvPr id="7" name="arrow-0">
            <a:extLst xmlns:a="http://schemas.openxmlformats.org/drawingml/2006/main">
              <a:ext uri="{FF2B5EF4-FFF2-40B4-BE49-F238E27FC236}">
                <a16:creationId xmlns:a16="http://schemas.microsoft.com/office/drawing/2014/main" id="{107A937A-91BA-4A52-8C0A-3E46B92D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4000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D89A3605-CB20-4DEE-8A4A-7BAEDD0C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81250"/>
            <a:ext cx="2000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9" name="step-h-1">
            <a:extLst xmlns:a="http://schemas.openxmlformats.org/drawingml/2006/main">
              <a:ext uri="{FF2B5EF4-FFF2-40B4-BE49-F238E27FC236}">
                <a16:creationId xmlns:a16="http://schemas.microsoft.com/office/drawing/2014/main" id="{ED6FC9DE-2AD2-40F3-A6C2-CB1E30FEC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7175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Sense</a:t>
            </a:r>
          </a:p>
        </p:txBody>
      </p:sp>
      <p:sp>
        <p:nvSpPr>
          <p:cNvPr id="10" name="step-b-1">
            <a:extLst xmlns:a="http://schemas.openxmlformats.org/drawingml/2006/main">
              <a:ext uri="{FF2B5EF4-FFF2-40B4-BE49-F238E27FC236}">
                <a16:creationId xmlns:a16="http://schemas.microsoft.com/office/drawing/2014/main" id="{943CF37B-F88B-4322-A659-5C1534F9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7180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Reviewer finds objections</a:t>
            </a:r>
          </a:p>
        </p:txBody>
      </p:sp>
      <p:sp>
        <p:nvSpPr>
          <p:cNvPr id="11" name="arrow-1">
            <a:extLst xmlns:a="http://schemas.openxmlformats.org/drawingml/2006/main">
              <a:ext uri="{FF2B5EF4-FFF2-40B4-BE49-F238E27FC236}">
                <a16:creationId xmlns:a16="http://schemas.microsoft.com/office/drawing/2014/main" id="{98262D95-C51E-43AE-ACD6-278FE96C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81300"/>
            <a:ext cx="4000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1E73154A-CBBF-4C58-8E68-C0964108D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81250"/>
            <a:ext cx="2000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step-h-2">
            <a:extLst xmlns:a="http://schemas.openxmlformats.org/drawingml/2006/main">
              <a:ext uri="{FF2B5EF4-FFF2-40B4-BE49-F238E27FC236}">
                <a16:creationId xmlns:a16="http://schemas.microsoft.com/office/drawing/2014/main" id="{EF3DA6F8-529A-4586-B4C2-58835EA2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7175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Repair</a:t>
            </a:r>
          </a:p>
        </p:txBody>
      </p:sp>
      <p:sp>
        <p:nvSpPr>
          <p:cNvPr id="14" name="step-b-2">
            <a:extLst xmlns:a="http://schemas.openxmlformats.org/drawingml/2006/main">
              <a:ext uri="{FF2B5EF4-FFF2-40B4-BE49-F238E27FC236}">
                <a16:creationId xmlns:a16="http://schemas.microsoft.com/office/drawing/2014/main" id="{ED7E9938-10D9-4F3C-B7C0-6477B246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7180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Repair agent revises</a:t>
            </a:r>
          </a:p>
        </p:txBody>
      </p:sp>
      <p:sp>
        <p:nvSpPr>
          <p:cNvPr id="15" name="arrow-2">
            <a:extLst xmlns:a="http://schemas.openxmlformats.org/drawingml/2006/main">
              <a:ext uri="{FF2B5EF4-FFF2-40B4-BE49-F238E27FC236}">
                <a16:creationId xmlns:a16="http://schemas.microsoft.com/office/drawing/2014/main" id="{E4D068C4-3985-42E8-ABF2-8E82334E6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81300"/>
            <a:ext cx="4000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656B30A6-2DAD-48C9-86E0-6808B92A5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81250"/>
            <a:ext cx="2000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step-h-3">
            <a:extLst xmlns:a="http://schemas.openxmlformats.org/drawingml/2006/main">
              <a:ext uri="{FF2B5EF4-FFF2-40B4-BE49-F238E27FC236}">
                <a16:creationId xmlns:a16="http://schemas.microsoft.com/office/drawing/2014/main" id="{D75CABAA-3BA5-4477-AED3-85744629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57175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Improve</a:t>
            </a:r>
          </a:p>
        </p:txBody>
      </p:sp>
      <p:sp>
        <p:nvSpPr>
          <p:cNvPr id="18" name="step-b-3">
            <a:extLst xmlns:a="http://schemas.openxmlformats.org/drawingml/2006/main">
              <a:ext uri="{FF2B5EF4-FFF2-40B4-BE49-F238E27FC236}">
                <a16:creationId xmlns:a16="http://schemas.microsoft.com/office/drawing/2014/main" id="{641AEB6B-F5C1-45CE-893F-F0D162F1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97180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Repeated misses become new guides or sensors</a:t>
            </a:r>
          </a:p>
        </p:txBody>
      </p:sp>
      <p:sp>
        <p:nvSpPr>
          <p:cNvPr id="19" name="codebox">
            <a:extLst xmlns:a="http://schemas.openxmlformats.org/drawingml/2006/main">
              <a:ext uri="{FF2B5EF4-FFF2-40B4-BE49-F238E27FC236}">
                <a16:creationId xmlns:a16="http://schemas.microsoft.com/office/drawing/2014/main" id="{A44838D8-2A88-4580-BB0A-B70E2B2C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457700"/>
            <a:ext cx="8991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20" name="code">
            <a:extLst xmlns:a="http://schemas.openxmlformats.org/drawingml/2006/main">
              <a:ext uri="{FF2B5EF4-FFF2-40B4-BE49-F238E27FC236}">
                <a16:creationId xmlns:a16="http://schemas.microsoft.com/office/drawing/2014/main" id="{F8A18EFE-2D61-4A19-A373-49733472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667250"/>
            <a:ext cx="8420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live.py: _review_plan(...) creates reviewer_objections; repair_agent receives those objections and shared memory.</a:t>
            </a:r>
          </a:p>
        </p:txBody>
      </p:sp>
      <p:sp>
        <p:nvSpPr>
          <p:cNvPr id="21" name="learn">
            <a:extLst xmlns:a="http://schemas.openxmlformats.org/drawingml/2006/main">
              <a:ext uri="{FF2B5EF4-FFF2-40B4-BE49-F238E27FC236}">
                <a16:creationId xmlns:a16="http://schemas.microsoft.com/office/drawing/2014/main" id="{776D2AA9-0FEF-45B5-808C-945C7CBA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97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This is the slide managers should remember: the harness learns from misses.</a:t>
            </a:r>
          </a:p>
        </p:txBody>
      </p:sp>
      <p:sp>
        <p:nvSpPr>
          <p:cNvPr id="22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BA65D50-C224-48C3-8CA7-30FFFF8FB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23" name="footer-num">
            <a:extLst xmlns:a="http://schemas.openxmlformats.org/drawingml/2006/main">
              <a:ext uri="{FF2B5EF4-FFF2-40B4-BE49-F238E27FC236}">
                <a16:creationId xmlns:a16="http://schemas.microsoft.com/office/drawing/2014/main" id="{5FBC4666-AB84-4758-BF95-09E06E7B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9982172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F5F577F3-7A08-4A8A-987A-982E77DF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5E75198-7BF8-441B-BD01-35DEBBFE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Keep quality left: catch misses before they reach humans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79AE46E6-AD5F-4FB1-A00B-C9FA9C24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9176A146-70F9-4F64-960E-C7D1B7CE6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B7280"/>
                </a:solidFill>
              </a:defRPr>
            </a:pPr>
            <a:r>
              <a:rPr sz="1350" b="1">
                <a:solidFill>
                  <a:srgbClr val="6B7280"/>
                </a:solidFill>
              </a:rPr>
              <a:t>Principle</a:t>
            </a:r>
          </a:p>
        </p:txBody>
      </p:sp>
      <p:sp>
        <p:nvSpPr>
          <p:cNvPr id="5" name="principle">
            <a:extLst xmlns:a="http://schemas.openxmlformats.org/drawingml/2006/main">
              <a:ext uri="{FF2B5EF4-FFF2-40B4-BE49-F238E27FC236}">
                <a16:creationId xmlns:a16="http://schemas.microsoft.com/office/drawing/2014/main" id="{19ADD380-0C73-4599-AFEA-700953FE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Run cheap checks as early as possible in the workflow.</a:t>
            </a:r>
          </a:p>
        </p:txBody>
      </p:sp>
      <p:sp>
        <p:nvSpPr>
          <p:cNvPr id="6" name="block-0">
            <a:extLst xmlns:a="http://schemas.openxmlformats.org/drawingml/2006/main">
              <a:ext uri="{FF2B5EF4-FFF2-40B4-BE49-F238E27FC236}">
                <a16:creationId xmlns:a16="http://schemas.microsoft.com/office/drawing/2014/main" id="{E8A60AAE-8180-43F4-9EFC-3085C878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block-h-0">
            <a:extLst xmlns:a="http://schemas.openxmlformats.org/drawingml/2006/main">
              <a:ext uri="{FF2B5EF4-FFF2-40B4-BE49-F238E27FC236}">
                <a16:creationId xmlns:a16="http://schemas.microsoft.com/office/drawing/2014/main" id="{EF220355-B6A4-4D4D-B151-9B8112E4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What it changes</a:t>
            </a:r>
          </a:p>
        </p:txBody>
      </p:sp>
      <p:sp>
        <p:nvSpPr>
          <p:cNvPr id="8" name="block-b-0">
            <a:extLst xmlns:a="http://schemas.openxmlformats.org/drawingml/2006/main">
              <a:ext uri="{FF2B5EF4-FFF2-40B4-BE49-F238E27FC236}">
                <a16:creationId xmlns:a16="http://schemas.microsoft.com/office/drawing/2014/main" id="{B6D0BFAA-6F56-458A-B2FC-046E167DA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Human reviewers spend time on judgment, not basic completeness and policy errors.</a:t>
            </a:r>
          </a:p>
        </p:txBody>
      </p:sp>
      <p:sp>
        <p:nvSpPr>
          <p:cNvPr id="9" name="block-1">
            <a:extLst xmlns:a="http://schemas.openxmlformats.org/drawingml/2006/main">
              <a:ext uri="{FF2B5EF4-FFF2-40B4-BE49-F238E27FC236}">
                <a16:creationId xmlns:a16="http://schemas.microsoft.com/office/drawing/2014/main" id="{522FC275-997B-48A2-97D8-2321DA12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10" name="block-h-1">
            <a:extLst xmlns:a="http://schemas.openxmlformats.org/drawingml/2006/main">
              <a:ext uri="{FF2B5EF4-FFF2-40B4-BE49-F238E27FC236}">
                <a16:creationId xmlns:a16="http://schemas.microsoft.com/office/drawing/2014/main" id="{DE5CB941-FC5D-4097-8953-08AC65B79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Toy example</a:t>
            </a:r>
          </a:p>
        </p:txBody>
      </p:sp>
      <p:sp>
        <p:nvSpPr>
          <p:cNvPr id="11" name="block-b-1">
            <a:extLst xmlns:a="http://schemas.openxmlformats.org/drawingml/2006/main">
              <a:ext uri="{FF2B5EF4-FFF2-40B4-BE49-F238E27FC236}">
                <a16:creationId xmlns:a16="http://schemas.microsoft.com/office/drawing/2014/main" id="{CCA8DDF9-DEEF-434C-B39B-02A401999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Block unsafe actions before the incident commander sees a polished but risky plan.</a:t>
            </a:r>
          </a:p>
        </p:txBody>
      </p:sp>
      <p:sp>
        <p:nvSpPr>
          <p:cNvPr id="12" name="block-2">
            <a:extLst xmlns:a="http://schemas.openxmlformats.org/drawingml/2006/main">
              <a:ext uri="{FF2B5EF4-FFF2-40B4-BE49-F238E27FC236}">
                <a16:creationId xmlns:a16="http://schemas.microsoft.com/office/drawing/2014/main" id="{505DECA1-A760-4444-9080-668E2DE3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block-h-2">
            <a:extLst xmlns:a="http://schemas.openxmlformats.org/drawingml/2006/main">
              <a:ext uri="{FF2B5EF4-FFF2-40B4-BE49-F238E27FC236}">
                <a16:creationId xmlns:a16="http://schemas.microsoft.com/office/drawing/2014/main" id="{7A72EC47-C43E-40ED-B353-5F8EFFD4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In our code</a:t>
            </a:r>
          </a:p>
        </p:txBody>
      </p:sp>
      <p:sp>
        <p:nvSpPr>
          <p:cNvPr id="14" name="block-b-2">
            <a:extLst xmlns:a="http://schemas.openxmlformats.org/drawingml/2006/main">
              <a:ext uri="{FF2B5EF4-FFF2-40B4-BE49-F238E27FC236}">
                <a16:creationId xmlns:a16="http://schemas.microsoft.com/office/drawing/2014/main" id="{0ED68024-5306-49AF-B982-8A06007CE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Colab runs deterministic scorecards immediately after each lane output.</a:t>
            </a:r>
          </a:p>
        </p:txBody>
      </p:sp>
      <p:sp>
        <p:nvSpPr>
          <p:cNvPr id="15" name="learn">
            <a:extLst xmlns:a="http://schemas.openxmlformats.org/drawingml/2006/main">
              <a:ext uri="{FF2B5EF4-FFF2-40B4-BE49-F238E27FC236}">
                <a16:creationId xmlns:a16="http://schemas.microsoft.com/office/drawing/2014/main" id="{9058B02B-B6FC-4355-BB8C-6298C4BA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1005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The earlier the miss is caught, the cheaper it is to fix.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6E336CD-46CC-4F50-A402-3D5F813E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7" name="footer-num">
            <a:extLst xmlns:a="http://schemas.openxmlformats.org/drawingml/2006/main">
              <a:ext uri="{FF2B5EF4-FFF2-40B4-BE49-F238E27FC236}">
                <a16:creationId xmlns:a16="http://schemas.microsoft.com/office/drawing/2014/main" id="{0D0CEAC8-6FDF-4305-B6FA-0BEA1A5A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733860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22F80884-AB73-4A3D-89E7-FB6EFE1C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7289CE5-5C0F-4661-A89B-9BDBD56E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Regulation categories tell us what the harness is protecting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0001D730-2BBA-4506-A617-F68494E2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12872EBF-4C89-43BD-8E2D-EC191020F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B7280"/>
                </a:solidFill>
              </a:defRPr>
            </a:pPr>
            <a:r>
              <a:rPr sz="1350" b="1">
                <a:solidFill>
                  <a:srgbClr val="6B7280"/>
                </a:solidFill>
              </a:rPr>
              <a:t>Principle</a:t>
            </a:r>
          </a:p>
        </p:txBody>
      </p:sp>
      <p:sp>
        <p:nvSpPr>
          <p:cNvPr id="5" name="principle">
            <a:extLst xmlns:a="http://schemas.openxmlformats.org/drawingml/2006/main">
              <a:ext uri="{FF2B5EF4-FFF2-40B4-BE49-F238E27FC236}">
                <a16:creationId xmlns:a16="http://schemas.microsoft.com/office/drawing/2014/main" id="{AD4F83EE-20DE-491A-8A0E-41A54A88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A harness must name the quality dimension it regulates.</a:t>
            </a:r>
          </a:p>
        </p:txBody>
      </p:sp>
      <p:sp>
        <p:nvSpPr>
          <p:cNvPr id="6" name="block-0">
            <a:extLst xmlns:a="http://schemas.openxmlformats.org/drawingml/2006/main">
              <a:ext uri="{FF2B5EF4-FFF2-40B4-BE49-F238E27FC236}">
                <a16:creationId xmlns:a16="http://schemas.microsoft.com/office/drawing/2014/main" id="{86C78B08-0A84-47D2-9C0C-4761B4B3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block-h-0">
            <a:extLst xmlns:a="http://schemas.openxmlformats.org/drawingml/2006/main">
              <a:ext uri="{FF2B5EF4-FFF2-40B4-BE49-F238E27FC236}">
                <a16:creationId xmlns:a16="http://schemas.microsoft.com/office/drawing/2014/main" id="{47AF4D84-2678-42D0-97F0-F410AF59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What it changes</a:t>
            </a:r>
          </a:p>
        </p:txBody>
      </p:sp>
      <p:sp>
        <p:nvSpPr>
          <p:cNvPr id="8" name="block-b-0">
            <a:extLst xmlns:a="http://schemas.openxmlformats.org/drawingml/2006/main">
              <a:ext uri="{FF2B5EF4-FFF2-40B4-BE49-F238E27FC236}">
                <a16:creationId xmlns:a16="http://schemas.microsoft.com/office/drawing/2014/main" id="{087B7F7F-4DF7-4262-8B25-65D6BB5A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Avoid vague claims like 'better AI'; define production quality explicitly.</a:t>
            </a:r>
          </a:p>
        </p:txBody>
      </p:sp>
      <p:sp>
        <p:nvSpPr>
          <p:cNvPr id="9" name="block-1">
            <a:extLst xmlns:a="http://schemas.openxmlformats.org/drawingml/2006/main">
              <a:ext uri="{FF2B5EF4-FFF2-40B4-BE49-F238E27FC236}">
                <a16:creationId xmlns:a16="http://schemas.microsoft.com/office/drawing/2014/main" id="{DC75A7AA-EB50-46FA-9FB5-FAE9AAD2B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10" name="block-h-1">
            <a:extLst xmlns:a="http://schemas.openxmlformats.org/drawingml/2006/main">
              <a:ext uri="{FF2B5EF4-FFF2-40B4-BE49-F238E27FC236}">
                <a16:creationId xmlns:a16="http://schemas.microsoft.com/office/drawing/2014/main" id="{46297864-25D5-438B-BA7B-664E23B8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Toy example</a:t>
            </a:r>
          </a:p>
        </p:txBody>
      </p:sp>
      <p:sp>
        <p:nvSpPr>
          <p:cNvPr id="11" name="block-b-1">
            <a:extLst xmlns:a="http://schemas.openxmlformats.org/drawingml/2006/main">
              <a:ext uri="{FF2B5EF4-FFF2-40B4-BE49-F238E27FC236}">
                <a16:creationId xmlns:a16="http://schemas.microsoft.com/office/drawing/2014/main" id="{B407EBEB-8B74-459B-97ED-F4703556A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For incident response, regulate behavior: evidence, runbook compliance, safety, memory, completeness.</a:t>
            </a:r>
          </a:p>
        </p:txBody>
      </p:sp>
      <p:sp>
        <p:nvSpPr>
          <p:cNvPr id="12" name="block-2">
            <a:extLst xmlns:a="http://schemas.openxmlformats.org/drawingml/2006/main">
              <a:ext uri="{FF2B5EF4-FFF2-40B4-BE49-F238E27FC236}">
                <a16:creationId xmlns:a16="http://schemas.microsoft.com/office/drawing/2014/main" id="{EA7C9689-4FD4-4895-A49B-02CFBE704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block-h-2">
            <a:extLst xmlns:a="http://schemas.openxmlformats.org/drawingml/2006/main">
              <a:ext uri="{FF2B5EF4-FFF2-40B4-BE49-F238E27FC236}">
                <a16:creationId xmlns:a16="http://schemas.microsoft.com/office/drawing/2014/main" id="{AFC582DF-A0EE-469B-823C-BCDC0CFC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In our code</a:t>
            </a:r>
          </a:p>
        </p:txBody>
      </p:sp>
      <p:sp>
        <p:nvSpPr>
          <p:cNvPr id="14" name="block-b-2">
            <a:extLst xmlns:a="http://schemas.openxmlformats.org/drawingml/2006/main">
              <a:ext uri="{FF2B5EF4-FFF2-40B4-BE49-F238E27FC236}">
                <a16:creationId xmlns:a16="http://schemas.microsoft.com/office/drawing/2014/main" id="{A0063FAD-F6F1-4830-94C4-0BE49997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scenario.expected and scenario.score_weights define the quality contract.</a:t>
            </a:r>
          </a:p>
        </p:txBody>
      </p:sp>
      <p:sp>
        <p:nvSpPr>
          <p:cNvPr id="15" name="learn">
            <a:extLst xmlns:a="http://schemas.openxmlformats.org/drawingml/2006/main">
              <a:ext uri="{FF2B5EF4-FFF2-40B4-BE49-F238E27FC236}">
                <a16:creationId xmlns:a16="http://schemas.microsoft.com/office/drawing/2014/main" id="{8E34E9DB-618B-4F4C-9EAB-2DD09DB7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1005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The score reflects an operational contract, not writing style.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CCF0DBA-7AE4-44A4-8DE6-CA6DD0B8F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7" name="footer-num">
            <a:extLst xmlns:a="http://schemas.openxmlformats.org/drawingml/2006/main">
              <a:ext uri="{FF2B5EF4-FFF2-40B4-BE49-F238E27FC236}">
                <a16:creationId xmlns:a16="http://schemas.microsoft.com/office/drawing/2014/main" id="{5BB5757F-A040-4C32-B7A5-3A6690BB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308044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CF37AA2B-FBDD-41AB-8230-75AEDB12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4F6ACC2-1A09-44ED-8EED-3F742CA52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Harnessability is a design property of the system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A1B2DE48-D840-482D-880B-82C32761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82F8E03B-CA58-4EB6-9534-7075B95D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B7280"/>
                </a:solidFill>
              </a:defRPr>
            </a:pPr>
            <a:r>
              <a:rPr sz="1350" b="1">
                <a:solidFill>
                  <a:srgbClr val="6B7280"/>
                </a:solidFill>
              </a:rPr>
              <a:t>Principle</a:t>
            </a:r>
          </a:p>
        </p:txBody>
      </p:sp>
      <p:sp>
        <p:nvSpPr>
          <p:cNvPr id="5" name="principle">
            <a:extLst xmlns:a="http://schemas.openxmlformats.org/drawingml/2006/main">
              <a:ext uri="{FF2B5EF4-FFF2-40B4-BE49-F238E27FC236}">
                <a16:creationId xmlns:a16="http://schemas.microsoft.com/office/drawing/2014/main" id="{3286EA34-6E1F-46B7-9E5D-43A92720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Some systems are easier to govern because they expose structure, contracts, and reliable signals.</a:t>
            </a:r>
          </a:p>
        </p:txBody>
      </p:sp>
      <p:sp>
        <p:nvSpPr>
          <p:cNvPr id="6" name="block-0">
            <a:extLst xmlns:a="http://schemas.openxmlformats.org/drawingml/2006/main">
              <a:ext uri="{FF2B5EF4-FFF2-40B4-BE49-F238E27FC236}">
                <a16:creationId xmlns:a16="http://schemas.microsoft.com/office/drawing/2014/main" id="{EB175B50-99C5-405A-AE62-176FE9221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block-h-0">
            <a:extLst xmlns:a="http://schemas.openxmlformats.org/drawingml/2006/main">
              <a:ext uri="{FF2B5EF4-FFF2-40B4-BE49-F238E27FC236}">
                <a16:creationId xmlns:a16="http://schemas.microsoft.com/office/drawing/2014/main" id="{60A8658D-7831-4356-8F72-1F56E349F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What it changes</a:t>
            </a:r>
          </a:p>
        </p:txBody>
      </p:sp>
      <p:sp>
        <p:nvSpPr>
          <p:cNvPr id="8" name="block-b-0">
            <a:extLst xmlns:a="http://schemas.openxmlformats.org/drawingml/2006/main">
              <a:ext uri="{FF2B5EF4-FFF2-40B4-BE49-F238E27FC236}">
                <a16:creationId xmlns:a16="http://schemas.microsoft.com/office/drawing/2014/main" id="{FE4A220A-B17F-41F7-B72B-12080CAF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Investment shifts from one-off demos to reusable platform capability.</a:t>
            </a:r>
          </a:p>
        </p:txBody>
      </p:sp>
      <p:sp>
        <p:nvSpPr>
          <p:cNvPr id="9" name="block-1">
            <a:extLst xmlns:a="http://schemas.openxmlformats.org/drawingml/2006/main">
              <a:ext uri="{FF2B5EF4-FFF2-40B4-BE49-F238E27FC236}">
                <a16:creationId xmlns:a16="http://schemas.microsoft.com/office/drawing/2014/main" id="{55998C7C-2E31-4FB0-BB2C-76DBD3A4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10" name="block-h-1">
            <a:extLst xmlns:a="http://schemas.openxmlformats.org/drawingml/2006/main">
              <a:ext uri="{FF2B5EF4-FFF2-40B4-BE49-F238E27FC236}">
                <a16:creationId xmlns:a16="http://schemas.microsoft.com/office/drawing/2014/main" id="{0B937DC7-F9AD-40A0-9581-62CD2199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Toy example</a:t>
            </a:r>
          </a:p>
        </p:txBody>
      </p:sp>
      <p:sp>
        <p:nvSpPr>
          <p:cNvPr id="11" name="block-b-1">
            <a:extLst xmlns:a="http://schemas.openxmlformats.org/drawingml/2006/main">
              <a:ext uri="{FF2B5EF4-FFF2-40B4-BE49-F238E27FC236}">
                <a16:creationId xmlns:a16="http://schemas.microsoft.com/office/drawing/2014/main" id="{EFBBB95B-CDD5-47C2-A327-2BD74DB4F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A runbook with explicit forbidden actions is more harnessable than tribal knowledge in chat.</a:t>
            </a:r>
          </a:p>
        </p:txBody>
      </p:sp>
      <p:sp>
        <p:nvSpPr>
          <p:cNvPr id="12" name="block-2">
            <a:extLst xmlns:a="http://schemas.openxmlformats.org/drawingml/2006/main">
              <a:ext uri="{FF2B5EF4-FFF2-40B4-BE49-F238E27FC236}">
                <a16:creationId xmlns:a16="http://schemas.microsoft.com/office/drawing/2014/main" id="{5C2B9BA8-B69E-4DB4-A1DF-A90ECFB3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block-h-2">
            <a:extLst xmlns:a="http://schemas.openxmlformats.org/drawingml/2006/main">
              <a:ext uri="{FF2B5EF4-FFF2-40B4-BE49-F238E27FC236}">
                <a16:creationId xmlns:a16="http://schemas.microsoft.com/office/drawing/2014/main" id="{B26D5091-3B88-400C-B34B-68441412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In our code</a:t>
            </a:r>
          </a:p>
        </p:txBody>
      </p:sp>
      <p:sp>
        <p:nvSpPr>
          <p:cNvPr id="14" name="block-b-2">
            <a:extLst xmlns:a="http://schemas.openxmlformats.org/drawingml/2006/main">
              <a:ext uri="{FF2B5EF4-FFF2-40B4-BE49-F238E27FC236}">
                <a16:creationId xmlns:a16="http://schemas.microsoft.com/office/drawing/2014/main" id="{434A986A-AA32-410A-ACF3-4896B515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Separate files for logs, runbook, prior memory, expected outputs, and score weights make the demo harnessable.</a:t>
            </a:r>
          </a:p>
        </p:txBody>
      </p:sp>
      <p:sp>
        <p:nvSpPr>
          <p:cNvPr id="15" name="learn">
            <a:extLst xmlns:a="http://schemas.openxmlformats.org/drawingml/2006/main">
              <a:ext uri="{FF2B5EF4-FFF2-40B4-BE49-F238E27FC236}">
                <a16:creationId xmlns:a16="http://schemas.microsoft.com/office/drawing/2014/main" id="{0213CA61-55FE-4ED6-800A-44414A34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1005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Better harnesses often start with better system affordances.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97CF98A-9022-4FB5-9313-E86D2B38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7" name="footer-num">
            <a:extLst xmlns:a="http://schemas.openxmlformats.org/drawingml/2006/main">
              <a:ext uri="{FF2B5EF4-FFF2-40B4-BE49-F238E27FC236}">
                <a16:creationId xmlns:a16="http://schemas.microsoft.com/office/drawing/2014/main" id="{58B4CF38-69C1-4D45-9669-3839E62E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9666870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034D22B3-70D8-4755-9BD8-653AC1E0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B3E3B47-9C22-437A-93C2-BF5967D9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The human role shifts from checking every answer to steering the system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52C2DCD2-3E8F-4E14-BC25-9F848D1A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64257F44-B048-4935-9BF6-DC6A26BE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B7280"/>
                </a:solidFill>
              </a:defRPr>
            </a:pPr>
            <a:r>
              <a:rPr sz="1350" b="1">
                <a:solidFill>
                  <a:srgbClr val="6B7280"/>
                </a:solidFill>
              </a:rPr>
              <a:t>Principle</a:t>
            </a:r>
          </a:p>
        </p:txBody>
      </p:sp>
      <p:sp>
        <p:nvSpPr>
          <p:cNvPr id="5" name="principle">
            <a:extLst xmlns:a="http://schemas.openxmlformats.org/drawingml/2006/main">
              <a:ext uri="{FF2B5EF4-FFF2-40B4-BE49-F238E27FC236}">
                <a16:creationId xmlns:a16="http://schemas.microsoft.com/office/drawing/2014/main" id="{0583DFB5-C07C-4C63-8FED-AA0A669C8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Humans decide what matters, inspect misses, and improve guides and sensors.</a:t>
            </a:r>
          </a:p>
        </p:txBody>
      </p:sp>
      <p:sp>
        <p:nvSpPr>
          <p:cNvPr id="6" name="block-0">
            <a:extLst xmlns:a="http://schemas.openxmlformats.org/drawingml/2006/main">
              <a:ext uri="{FF2B5EF4-FFF2-40B4-BE49-F238E27FC236}">
                <a16:creationId xmlns:a16="http://schemas.microsoft.com/office/drawing/2014/main" id="{EE171F30-7DC2-488D-BBC3-731F09F5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block-h-0">
            <a:extLst xmlns:a="http://schemas.openxmlformats.org/drawingml/2006/main">
              <a:ext uri="{FF2B5EF4-FFF2-40B4-BE49-F238E27FC236}">
                <a16:creationId xmlns:a16="http://schemas.microsoft.com/office/drawing/2014/main" id="{F0802756-3DD7-4646-A904-96A3EBEC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What it changes</a:t>
            </a:r>
          </a:p>
        </p:txBody>
      </p:sp>
      <p:sp>
        <p:nvSpPr>
          <p:cNvPr id="8" name="block-b-0">
            <a:extLst xmlns:a="http://schemas.openxmlformats.org/drawingml/2006/main">
              <a:ext uri="{FF2B5EF4-FFF2-40B4-BE49-F238E27FC236}">
                <a16:creationId xmlns:a16="http://schemas.microsoft.com/office/drawing/2014/main" id="{4EEBFCCA-F519-46B8-A07C-66EE8B0B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Less review toil; more leverage from domain experts and platform teams.</a:t>
            </a:r>
          </a:p>
        </p:txBody>
      </p:sp>
      <p:sp>
        <p:nvSpPr>
          <p:cNvPr id="9" name="block-1">
            <a:extLst xmlns:a="http://schemas.openxmlformats.org/drawingml/2006/main">
              <a:ext uri="{FF2B5EF4-FFF2-40B4-BE49-F238E27FC236}">
                <a16:creationId xmlns:a16="http://schemas.microsoft.com/office/drawing/2014/main" id="{134E3BDF-3ACB-49D7-8B48-471B4FA9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10" name="block-h-1">
            <a:extLst xmlns:a="http://schemas.openxmlformats.org/drawingml/2006/main">
              <a:ext uri="{FF2B5EF4-FFF2-40B4-BE49-F238E27FC236}">
                <a16:creationId xmlns:a16="http://schemas.microsoft.com/office/drawing/2014/main" id="{8D90DF45-04A9-4498-AE93-7A7C7559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Toy example</a:t>
            </a:r>
          </a:p>
        </p:txBody>
      </p:sp>
      <p:sp>
        <p:nvSpPr>
          <p:cNvPr id="11" name="block-b-1">
            <a:extLst xmlns:a="http://schemas.openxmlformats.org/drawingml/2006/main">
              <a:ext uri="{FF2B5EF4-FFF2-40B4-BE49-F238E27FC236}">
                <a16:creationId xmlns:a16="http://schemas.microsoft.com/office/drawing/2014/main" id="{2366D020-6468-446B-8088-8B355897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When the model repeatedly invents dashboards, add an unsupported-claim rule or stronger context boundary.</a:t>
            </a:r>
          </a:p>
        </p:txBody>
      </p:sp>
      <p:sp>
        <p:nvSpPr>
          <p:cNvPr id="12" name="block-2">
            <a:extLst xmlns:a="http://schemas.openxmlformats.org/drawingml/2006/main">
              <a:ext uri="{FF2B5EF4-FFF2-40B4-BE49-F238E27FC236}">
                <a16:creationId xmlns:a16="http://schemas.microsoft.com/office/drawing/2014/main" id="{542222A3-567A-4E2C-BC09-106BD3F4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block-h-2">
            <a:extLst xmlns:a="http://schemas.openxmlformats.org/drawingml/2006/main">
              <a:ext uri="{FF2B5EF4-FFF2-40B4-BE49-F238E27FC236}">
                <a16:creationId xmlns:a16="http://schemas.microsoft.com/office/drawing/2014/main" id="{FFA417CF-3BFE-49C5-9A46-F1361885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In our code</a:t>
            </a:r>
          </a:p>
        </p:txBody>
      </p:sp>
      <p:sp>
        <p:nvSpPr>
          <p:cNvPr id="14" name="block-b-2">
            <a:extLst xmlns:a="http://schemas.openxmlformats.org/drawingml/2006/main">
              <a:ext uri="{FF2B5EF4-FFF2-40B4-BE49-F238E27FC236}">
                <a16:creationId xmlns:a16="http://schemas.microsoft.com/office/drawing/2014/main" id="{0B612577-8564-45C4-8CF9-CE49B6EC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rules.py records deterministic findings; README/notebook narrate what to improve next.</a:t>
            </a:r>
          </a:p>
        </p:txBody>
      </p:sp>
      <p:sp>
        <p:nvSpPr>
          <p:cNvPr id="15" name="learn">
            <a:extLst xmlns:a="http://schemas.openxmlformats.org/drawingml/2006/main">
              <a:ext uri="{FF2B5EF4-FFF2-40B4-BE49-F238E27FC236}">
                <a16:creationId xmlns:a16="http://schemas.microsoft.com/office/drawing/2014/main" id="{E3634C71-6043-4A78-B1AD-6D1D1B30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1005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Harness engineering externalizes expert judgment into reusable controls.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490B5780-F806-4100-BD7F-3BB364656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7" name="footer-num">
            <a:extLst xmlns:a="http://schemas.openxmlformats.org/drawingml/2006/main">
              <a:ext uri="{FF2B5EF4-FFF2-40B4-BE49-F238E27FC236}">
                <a16:creationId xmlns:a16="http://schemas.microsoft.com/office/drawing/2014/main" id="{5495C9A1-B4A6-4431-A774-A5E8F50DB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4736753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eyebrow">
            <a:extLst xmlns:a="http://schemas.openxmlformats.org/drawingml/2006/main">
              <a:ext uri="{FF2B5EF4-FFF2-40B4-BE49-F238E27FC236}">
                <a16:creationId xmlns:a16="http://schemas.microsoft.com/office/drawing/2014/main" id="{BE84FD30-8C65-4973-A1D7-9C0E6E22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19D23BC-9688-46EA-9DDD-25EE391A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Our implementation maps directly to the principles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B531C67E-A77A-4C5C-B9A5-32C2DC5BD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map-0">
            <a:extLst xmlns:a="http://schemas.openxmlformats.org/drawingml/2006/main">
              <a:ext uri="{FF2B5EF4-FFF2-40B4-BE49-F238E27FC236}">
                <a16:creationId xmlns:a16="http://schemas.microsoft.com/office/drawing/2014/main" id="{6B33A7C6-EC71-458C-8657-31599DEC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10439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" name="m-a-0">
            <a:extLst xmlns:a="http://schemas.openxmlformats.org/drawingml/2006/main">
              <a:ext uri="{FF2B5EF4-FFF2-40B4-BE49-F238E27FC236}">
                <a16:creationId xmlns:a16="http://schemas.microsoft.com/office/drawing/2014/main" id="{18CC80E0-C52B-459D-8063-75710467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479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Guide</a:t>
            </a:r>
          </a:p>
        </p:txBody>
      </p:sp>
      <p:sp>
        <p:nvSpPr>
          <p:cNvPr id="6" name="m-b-0">
            <a:extLst xmlns:a="http://schemas.openxmlformats.org/drawingml/2006/main">
              <a:ext uri="{FF2B5EF4-FFF2-40B4-BE49-F238E27FC236}">
                <a16:creationId xmlns:a16="http://schemas.microsoft.com/office/drawing/2014/main" id="{C95ABD6C-4973-4E10-8CF7-28A046B2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479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Role prompts, required fields, forbidden actions</a:t>
            </a:r>
          </a:p>
        </p:txBody>
      </p:sp>
      <p:sp>
        <p:nvSpPr>
          <p:cNvPr id="7" name="m-c-0">
            <a:extLst xmlns:a="http://schemas.openxmlformats.org/drawingml/2006/main">
              <a:ext uri="{FF2B5EF4-FFF2-40B4-BE49-F238E27FC236}">
                <a16:creationId xmlns:a16="http://schemas.microsoft.com/office/drawing/2014/main" id="{4E30A5BA-5739-4560-9067-1D14D43E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479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live.py</a:t>
            </a:r>
          </a:p>
        </p:txBody>
      </p:sp>
      <p:sp>
        <p:nvSpPr>
          <p:cNvPr id="8" name="map-1">
            <a:extLst xmlns:a="http://schemas.openxmlformats.org/drawingml/2006/main">
              <a:ext uri="{FF2B5EF4-FFF2-40B4-BE49-F238E27FC236}">
                <a16:creationId xmlns:a16="http://schemas.microsoft.com/office/drawing/2014/main" id="{7C7CB7C1-D2CE-434C-9736-748423B2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10439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9" name="m-a-1">
            <a:extLst xmlns:a="http://schemas.openxmlformats.org/drawingml/2006/main">
              <a:ext uri="{FF2B5EF4-FFF2-40B4-BE49-F238E27FC236}">
                <a16:creationId xmlns:a16="http://schemas.microsoft.com/office/drawing/2014/main" id="{DA1597E8-FE24-44FF-A31A-7E9E5F7D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384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Sensor</a:t>
            </a:r>
          </a:p>
        </p:txBody>
      </p:sp>
      <p:sp>
        <p:nvSpPr>
          <p:cNvPr id="10" name="m-b-1">
            <a:extLst xmlns:a="http://schemas.openxmlformats.org/drawingml/2006/main">
              <a:ext uri="{FF2B5EF4-FFF2-40B4-BE49-F238E27FC236}">
                <a16:creationId xmlns:a16="http://schemas.microsoft.com/office/drawing/2014/main" id="{6710506A-47C2-45FB-8786-EFF08236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3845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Scorecard and rule findings</a:t>
            </a:r>
          </a:p>
        </p:txBody>
      </p:sp>
      <p:sp>
        <p:nvSpPr>
          <p:cNvPr id="11" name="m-c-1">
            <a:extLst xmlns:a="http://schemas.openxmlformats.org/drawingml/2006/main">
              <a:ext uri="{FF2B5EF4-FFF2-40B4-BE49-F238E27FC236}">
                <a16:creationId xmlns:a16="http://schemas.microsoft.com/office/drawing/2014/main" id="{4F99880B-E3F2-4358-BD77-C534D79F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384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scoring.py, rules.py</a:t>
            </a:r>
          </a:p>
        </p:txBody>
      </p:sp>
      <p:sp>
        <p:nvSpPr>
          <p:cNvPr id="12" name="map-2">
            <a:extLst xmlns:a="http://schemas.openxmlformats.org/drawingml/2006/main">
              <a:ext uri="{FF2B5EF4-FFF2-40B4-BE49-F238E27FC236}">
                <a16:creationId xmlns:a16="http://schemas.microsoft.com/office/drawing/2014/main" id="{BBB7D77C-84BF-4415-8357-041A8112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76600"/>
            <a:ext cx="10439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m-a-2">
            <a:extLst xmlns:a="http://schemas.openxmlformats.org/drawingml/2006/main">
              <a:ext uri="{FF2B5EF4-FFF2-40B4-BE49-F238E27FC236}">
                <a16:creationId xmlns:a16="http://schemas.microsoft.com/office/drawing/2014/main" id="{E21A7BA1-94E9-443B-B2C5-13EE69F2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29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Memory</a:t>
            </a:r>
          </a:p>
        </p:txBody>
      </p:sp>
      <p:sp>
        <p:nvSpPr>
          <p:cNvPr id="14" name="m-b-2">
            <a:extLst xmlns:a="http://schemas.openxmlformats.org/drawingml/2006/main">
              <a:ext uri="{FF2B5EF4-FFF2-40B4-BE49-F238E27FC236}">
                <a16:creationId xmlns:a16="http://schemas.microsoft.com/office/drawing/2014/main" id="{BCB898FA-429F-4DB3-A1E6-3DD45C8A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4290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Typed SharedMemory object</a:t>
            </a:r>
          </a:p>
        </p:txBody>
      </p:sp>
      <p:sp>
        <p:nvSpPr>
          <p:cNvPr id="15" name="m-c-2">
            <a:extLst xmlns:a="http://schemas.openxmlformats.org/drawingml/2006/main">
              <a:ext uri="{FF2B5EF4-FFF2-40B4-BE49-F238E27FC236}">
                <a16:creationId xmlns:a16="http://schemas.microsoft.com/office/drawing/2014/main" id="{EFBF8CDC-5EB8-467B-89B3-5333104EF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290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domain.py</a:t>
            </a:r>
          </a:p>
        </p:txBody>
      </p:sp>
      <p:sp>
        <p:nvSpPr>
          <p:cNvPr id="16" name="map-3">
            <a:extLst xmlns:a="http://schemas.openxmlformats.org/drawingml/2006/main">
              <a:ext uri="{FF2B5EF4-FFF2-40B4-BE49-F238E27FC236}">
                <a16:creationId xmlns:a16="http://schemas.microsoft.com/office/drawing/2014/main" id="{B5A20987-7C35-4DB0-A384-5F9A7392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67150"/>
            <a:ext cx="10439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7" name="m-a-3">
            <a:extLst xmlns:a="http://schemas.openxmlformats.org/drawingml/2006/main">
              <a:ext uri="{FF2B5EF4-FFF2-40B4-BE49-F238E27FC236}">
                <a16:creationId xmlns:a16="http://schemas.microsoft.com/office/drawing/2014/main" id="{CAC09B9F-0B76-43D4-8DEA-CAD2855C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195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Steering</a:t>
            </a:r>
          </a:p>
        </p:txBody>
      </p:sp>
      <p:sp>
        <p:nvSpPr>
          <p:cNvPr id="18" name="m-b-3">
            <a:extLst xmlns:a="http://schemas.openxmlformats.org/drawingml/2006/main">
              <a:ext uri="{FF2B5EF4-FFF2-40B4-BE49-F238E27FC236}">
                <a16:creationId xmlns:a16="http://schemas.microsoft.com/office/drawing/2014/main" id="{55F2EF78-4FE4-4FF2-9762-CD5DFE55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1955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Reviewer objections plus repair call</a:t>
            </a:r>
          </a:p>
        </p:txBody>
      </p:sp>
      <p:sp>
        <p:nvSpPr>
          <p:cNvPr id="19" name="m-c-3">
            <a:extLst xmlns:a="http://schemas.openxmlformats.org/drawingml/2006/main">
              <a:ext uri="{FF2B5EF4-FFF2-40B4-BE49-F238E27FC236}">
                <a16:creationId xmlns:a16="http://schemas.microsoft.com/office/drawing/2014/main" id="{96662193-9023-4182-B95E-E48A14B6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195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live.py</a:t>
            </a:r>
          </a:p>
        </p:txBody>
      </p:sp>
      <p:sp>
        <p:nvSpPr>
          <p:cNvPr id="20" name="map-4">
            <a:extLst xmlns:a="http://schemas.openxmlformats.org/drawingml/2006/main">
              <a:ext uri="{FF2B5EF4-FFF2-40B4-BE49-F238E27FC236}">
                <a16:creationId xmlns:a16="http://schemas.microsoft.com/office/drawing/2014/main" id="{0C0859E1-D41C-42E6-9DC9-7A96F89F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10439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1" name="m-a-4">
            <a:extLst xmlns:a="http://schemas.openxmlformats.org/drawingml/2006/main">
              <a:ext uri="{FF2B5EF4-FFF2-40B4-BE49-F238E27FC236}">
                <a16:creationId xmlns:a16="http://schemas.microsoft.com/office/drawing/2014/main" id="{47C59C56-9DB6-4789-BAFC-5CCC1883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101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Adoption</a:t>
            </a:r>
          </a:p>
        </p:txBody>
      </p:sp>
      <p:sp>
        <p:nvSpPr>
          <p:cNvPr id="22" name="m-b-4">
            <a:extLst xmlns:a="http://schemas.openxmlformats.org/drawingml/2006/main">
              <a:ext uri="{FF2B5EF4-FFF2-40B4-BE49-F238E27FC236}">
                <a16:creationId xmlns:a16="http://schemas.microsoft.com/office/drawing/2014/main" id="{F5854CA2-9CBD-4FED-A9B0-E04D9542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101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Strands multi-agent lane; DeepSeek/Ollama launcher</a:t>
            </a:r>
          </a:p>
        </p:txBody>
      </p:sp>
      <p:sp>
        <p:nvSpPr>
          <p:cNvPr id="23" name="m-c-4">
            <a:extLst xmlns:a="http://schemas.openxmlformats.org/drawingml/2006/main">
              <a:ext uri="{FF2B5EF4-FFF2-40B4-BE49-F238E27FC236}">
                <a16:creationId xmlns:a16="http://schemas.microsoft.com/office/drawing/2014/main" id="{1AE96EFA-5D7C-443F-95EF-BA4200D4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101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notebook</a:t>
            </a:r>
          </a:p>
        </p:txBody>
      </p:sp>
      <p:sp>
        <p:nvSpPr>
          <p:cNvPr id="24" name="learn">
            <a:extLst xmlns:a="http://schemas.openxmlformats.org/drawingml/2006/main">
              <a:ext uri="{FF2B5EF4-FFF2-40B4-BE49-F238E27FC236}">
                <a16:creationId xmlns:a16="http://schemas.microsoft.com/office/drawing/2014/main" id="{30DB89BB-3F35-4253-9399-28A5155D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1020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The demo is not prompt engineering. It is a system of controls around model calls.</a:t>
            </a:r>
          </a:p>
        </p:txBody>
      </p:sp>
      <p:sp>
        <p:nvSpPr>
          <p:cNvPr id="2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FC04FE2-1A99-47F6-9F05-EB7CA3CC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26" name="footer-num">
            <a:extLst xmlns:a="http://schemas.openxmlformats.org/drawingml/2006/main">
              <a:ext uri="{FF2B5EF4-FFF2-40B4-BE49-F238E27FC236}">
                <a16:creationId xmlns:a16="http://schemas.microsoft.com/office/drawing/2014/main" id="{55971E93-0C1B-48C6-9BA5-7A91A6466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7475510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">
            <a:extLst xmlns:a="http://schemas.openxmlformats.org/drawingml/2006/main">
              <a:ext uri="{FF2B5EF4-FFF2-40B4-BE49-F238E27FC236}">
                <a16:creationId xmlns:a16="http://schemas.microsoft.com/office/drawing/2014/main" id="{2DBD2A2E-C2BF-4226-8DD6-34F915DA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7BA4904-4972-4E7A-8E18-DC68E23F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How to read the live demo results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1FEEFB4A-5224-4DC0-940F-D7F21D19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lane-0">
            <a:extLst xmlns:a="http://schemas.openxmlformats.org/drawingml/2006/main">
              <a:ext uri="{FF2B5EF4-FFF2-40B4-BE49-F238E27FC236}">
                <a16:creationId xmlns:a16="http://schemas.microsoft.com/office/drawing/2014/main" id="{312C8DA2-BD20-4096-9E1D-37361C15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381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5" name="lane-h-0">
            <a:extLst xmlns:a="http://schemas.openxmlformats.org/drawingml/2006/main">
              <a:ext uri="{FF2B5EF4-FFF2-40B4-BE49-F238E27FC236}">
                <a16:creationId xmlns:a16="http://schemas.microsoft.com/office/drawing/2014/main" id="{CE32715E-1192-4609-8425-4AC0C9BA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03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No harness</a:t>
            </a:r>
          </a:p>
        </p:txBody>
      </p:sp>
      <p:sp>
        <p:nvSpPr>
          <p:cNvPr id="6" name="lane-b-0">
            <a:extLst xmlns:a="http://schemas.openxmlformats.org/drawingml/2006/main">
              <a:ext uri="{FF2B5EF4-FFF2-40B4-BE49-F238E27FC236}">
                <a16:creationId xmlns:a16="http://schemas.microsoft.com/office/drawing/2014/main" id="{FF9C8DC9-59A2-4144-A4C4-811D86C9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20383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Does the model hallucinate, omit evidence, or suggest unsafe actions when given only a ticket?</a:t>
            </a:r>
          </a:p>
        </p:txBody>
      </p:sp>
      <p:sp>
        <p:nvSpPr>
          <p:cNvPr id="7" name="lane-1">
            <a:extLst xmlns:a="http://schemas.openxmlformats.org/drawingml/2006/main">
              <a:ext uri="{FF2B5EF4-FFF2-40B4-BE49-F238E27FC236}">
                <a16:creationId xmlns:a16="http://schemas.microsoft.com/office/drawing/2014/main" id="{F5BE656E-C677-4CA8-A0B2-301C380E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90750"/>
            <a:ext cx="2381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lane-h-1">
            <a:extLst xmlns:a="http://schemas.openxmlformats.org/drawingml/2006/main">
              <a:ext uri="{FF2B5EF4-FFF2-40B4-BE49-F238E27FC236}">
                <a16:creationId xmlns:a16="http://schemas.microsoft.com/office/drawing/2014/main" id="{70389BE2-19C5-472A-ACD2-6EFD02FC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Weak harness</a:t>
            </a:r>
          </a:p>
        </p:txBody>
      </p:sp>
      <p:sp>
        <p:nvSpPr>
          <p:cNvPr id="9" name="lane-b-1">
            <a:extLst xmlns:a="http://schemas.openxmlformats.org/drawingml/2006/main">
              <a:ext uri="{FF2B5EF4-FFF2-40B4-BE49-F238E27FC236}">
                <a16:creationId xmlns:a16="http://schemas.microsoft.com/office/drawing/2014/main" id="{452545FD-8074-46C9-A57C-9A2B4B27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857500"/>
            <a:ext cx="20383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Does shared memory help, and where does it still drift without provenance and repair?</a:t>
            </a:r>
          </a:p>
        </p:txBody>
      </p:sp>
      <p:sp>
        <p:nvSpPr>
          <p:cNvPr id="10" name="lane-2">
            <a:extLst xmlns:a="http://schemas.openxmlformats.org/drawingml/2006/main">
              <a:ext uri="{FF2B5EF4-FFF2-40B4-BE49-F238E27FC236}">
                <a16:creationId xmlns:a16="http://schemas.microsoft.com/office/drawing/2014/main" id="{E84D8BB6-A44E-4D49-85C3-0EBEBC97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90750"/>
            <a:ext cx="2381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1" name="lane-h-2">
            <a:extLst xmlns:a="http://schemas.openxmlformats.org/drawingml/2006/main">
              <a:ext uri="{FF2B5EF4-FFF2-40B4-BE49-F238E27FC236}">
                <a16:creationId xmlns:a16="http://schemas.microsoft.com/office/drawing/2014/main" id="{5FAE52E5-F29A-4B37-A3A0-2C539EE9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003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Strong harness</a:t>
            </a:r>
          </a:p>
        </p:txBody>
      </p:sp>
      <p:sp>
        <p:nvSpPr>
          <p:cNvPr id="12" name="lane-b-2">
            <a:extLst xmlns:a="http://schemas.openxmlformats.org/drawingml/2006/main">
              <a:ext uri="{FF2B5EF4-FFF2-40B4-BE49-F238E27FC236}">
                <a16:creationId xmlns:a16="http://schemas.microsoft.com/office/drawing/2014/main" id="{81E43AB3-656F-41E2-A854-A2B81254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20383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Do guides, sensors, reviewer, and repair improve measurable production quality?</a:t>
            </a:r>
          </a:p>
        </p:txBody>
      </p:sp>
      <p:sp>
        <p:nvSpPr>
          <p:cNvPr id="13" name="lane-3">
            <a:extLst xmlns:a="http://schemas.openxmlformats.org/drawingml/2006/main">
              <a:ext uri="{FF2B5EF4-FFF2-40B4-BE49-F238E27FC236}">
                <a16:creationId xmlns:a16="http://schemas.microsoft.com/office/drawing/2014/main" id="{27C356E8-BAD6-424A-83E7-7C865110F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90750"/>
            <a:ext cx="2381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lane-h-3">
            <a:extLst xmlns:a="http://schemas.openxmlformats.org/drawingml/2006/main">
              <a:ext uri="{FF2B5EF4-FFF2-40B4-BE49-F238E27FC236}">
                <a16:creationId xmlns:a16="http://schemas.microsoft.com/office/drawing/2014/main" id="{F785289A-083F-4868-A6CD-4D814A5D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4003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Strands</a:t>
            </a:r>
          </a:p>
        </p:txBody>
      </p:sp>
      <p:sp>
        <p:nvSpPr>
          <p:cNvPr id="15" name="lane-b-3">
            <a:extLst xmlns:a="http://schemas.openxmlformats.org/drawingml/2006/main">
              <a:ext uri="{FF2B5EF4-FFF2-40B4-BE49-F238E27FC236}">
                <a16:creationId xmlns:a16="http://schemas.microsoft.com/office/drawing/2014/main" id="{818D4B46-AFD9-440C-92AC-5C8D527A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57500"/>
            <a:ext cx="20383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Can SDK agents reproduce the same role split with less custom code?</a:t>
            </a:r>
          </a:p>
        </p:txBody>
      </p:sp>
      <p:sp>
        <p:nvSpPr>
          <p:cNvPr id="16" name="deepseek">
            <a:extLst xmlns:a="http://schemas.openxmlformats.org/drawingml/2006/main">
              <a:ext uri="{FF2B5EF4-FFF2-40B4-BE49-F238E27FC236}">
                <a16:creationId xmlns:a16="http://schemas.microsoft.com/office/drawing/2014/main" id="{3904793B-E105-4DAF-92EB-FB9053EC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895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DeepSeek is the adoption-path proof unless it runs the same task and is scored by the same evaluator.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F6FCC5C-D5C7-4511-BA0F-6C769B69D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8" name="footer-num">
            <a:extLst xmlns:a="http://schemas.openxmlformats.org/drawingml/2006/main">
              <a:ext uri="{FF2B5EF4-FFF2-40B4-BE49-F238E27FC236}">
                <a16:creationId xmlns:a16="http://schemas.microsoft.com/office/drawing/2014/main" id="{3AE5E4FE-0FCA-4866-912C-362DB739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6489517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">
            <a:extLst xmlns:a="http://schemas.openxmlformats.org/drawingml/2006/main">
              <a:ext uri="{FF2B5EF4-FFF2-40B4-BE49-F238E27FC236}">
                <a16:creationId xmlns:a16="http://schemas.microsoft.com/office/drawing/2014/main" id="{1873BB64-F313-4D76-B6FF-B762C3C9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E7C3D43-4A5C-4135-8717-DAE801FB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The ask: fund harness assets, not just model access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E7DDBE42-FCC9-43E6-B3F6-BA909A9E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ask-0">
            <a:extLst xmlns:a="http://schemas.openxmlformats.org/drawingml/2006/main">
              <a:ext uri="{FF2B5EF4-FFF2-40B4-BE49-F238E27FC236}">
                <a16:creationId xmlns:a16="http://schemas.microsoft.com/office/drawing/2014/main" id="{4D3A6729-E06E-4851-B3C2-658295E8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476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5" name="ask-h-0">
            <a:extLst xmlns:a="http://schemas.openxmlformats.org/drawingml/2006/main">
              <a:ext uri="{FF2B5EF4-FFF2-40B4-BE49-F238E27FC236}">
                <a16:creationId xmlns:a16="http://schemas.microsoft.com/office/drawing/2014/main" id="{E74649A6-8417-41C4-B869-224CBD53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Reusable guides</a:t>
            </a:r>
          </a:p>
        </p:txBody>
      </p:sp>
      <p:sp>
        <p:nvSpPr>
          <p:cNvPr id="6" name="ask-b-0">
            <a:extLst xmlns:a="http://schemas.openxmlformats.org/drawingml/2006/main">
              <a:ext uri="{FF2B5EF4-FFF2-40B4-BE49-F238E27FC236}">
                <a16:creationId xmlns:a16="http://schemas.microsoft.com/office/drawing/2014/main" id="{71CA5BCF-9DC7-4F44-B6DB-D94E2FF6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Runbooks, policies, role instructions, output contracts</a:t>
            </a:r>
          </a:p>
        </p:txBody>
      </p:sp>
      <p:sp>
        <p:nvSpPr>
          <p:cNvPr id="7" name="ask-1">
            <a:extLst xmlns:a="http://schemas.openxmlformats.org/drawingml/2006/main">
              <a:ext uri="{FF2B5EF4-FFF2-40B4-BE49-F238E27FC236}">
                <a16:creationId xmlns:a16="http://schemas.microsoft.com/office/drawing/2014/main" id="{054B7063-0619-4F29-A90A-B15C00B6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52650"/>
            <a:ext cx="476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ask-h-1">
            <a:extLst xmlns:a="http://schemas.openxmlformats.org/drawingml/2006/main">
              <a:ext uri="{FF2B5EF4-FFF2-40B4-BE49-F238E27FC236}">
                <a16:creationId xmlns:a16="http://schemas.microsoft.com/office/drawing/2014/main" id="{2FA20EFC-DA0D-4268-9707-ED3220D64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050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Reusable sensors</a:t>
            </a:r>
          </a:p>
        </p:txBody>
      </p:sp>
      <p:sp>
        <p:nvSpPr>
          <p:cNvPr id="9" name="ask-b-1">
            <a:extLst xmlns:a="http://schemas.openxmlformats.org/drawingml/2006/main">
              <a:ext uri="{FF2B5EF4-FFF2-40B4-BE49-F238E27FC236}">
                <a16:creationId xmlns:a16="http://schemas.microsoft.com/office/drawing/2014/main" id="{D5B6AF53-807B-4987-B965-94CCC6A8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670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Rule engine, scorecards, unsupported-claim checks</a:t>
            </a:r>
          </a:p>
        </p:txBody>
      </p:sp>
      <p:sp>
        <p:nvSpPr>
          <p:cNvPr id="10" name="ask-2">
            <a:extLst xmlns:a="http://schemas.openxmlformats.org/drawingml/2006/main">
              <a:ext uri="{FF2B5EF4-FFF2-40B4-BE49-F238E27FC236}">
                <a16:creationId xmlns:a16="http://schemas.microsoft.com/office/drawing/2014/main" id="{6142E7D2-41D9-40B6-B58B-7B589DB08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476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ask-h-2">
            <a:extLst xmlns:a="http://schemas.openxmlformats.org/drawingml/2006/main">
              <a:ext uri="{FF2B5EF4-FFF2-40B4-BE49-F238E27FC236}">
                <a16:creationId xmlns:a16="http://schemas.microsoft.com/office/drawing/2014/main" id="{B4D1CB29-694C-4865-B56D-A345E499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5760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Governed memory</a:t>
            </a:r>
          </a:p>
        </p:txBody>
      </p:sp>
      <p:sp>
        <p:nvSpPr>
          <p:cNvPr id="12" name="ask-b-2">
            <a:extLst xmlns:a="http://schemas.openxmlformats.org/drawingml/2006/main">
              <a:ext uri="{FF2B5EF4-FFF2-40B4-BE49-F238E27FC236}">
                <a16:creationId xmlns:a16="http://schemas.microsoft.com/office/drawing/2014/main" id="{512E8A29-A28D-45D5-9F84-A28C5C7C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Typed state, provenance, prior lessons, reviewer objections</a:t>
            </a:r>
          </a:p>
        </p:txBody>
      </p:sp>
      <p:sp>
        <p:nvSpPr>
          <p:cNvPr id="13" name="ask-3">
            <a:extLst xmlns:a="http://schemas.openxmlformats.org/drawingml/2006/main">
              <a:ext uri="{FF2B5EF4-FFF2-40B4-BE49-F238E27FC236}">
                <a16:creationId xmlns:a16="http://schemas.microsoft.com/office/drawing/2014/main" id="{F021A091-8899-41CF-9CF3-93E4F678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05200"/>
            <a:ext cx="476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4" name="ask-h-3">
            <a:extLst xmlns:a="http://schemas.openxmlformats.org/drawingml/2006/main">
              <a:ext uri="{FF2B5EF4-FFF2-40B4-BE49-F238E27FC236}">
                <a16:creationId xmlns:a16="http://schemas.microsoft.com/office/drawing/2014/main" id="{991DF1D3-816D-432B-9584-5FA1B205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5760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Adoption path</a:t>
            </a:r>
          </a:p>
        </p:txBody>
      </p:sp>
      <p:sp>
        <p:nvSpPr>
          <p:cNvPr id="15" name="ask-b-3">
            <a:extLst xmlns:a="http://schemas.openxmlformats.org/drawingml/2006/main">
              <a:ext uri="{FF2B5EF4-FFF2-40B4-BE49-F238E27FC236}">
                <a16:creationId xmlns:a16="http://schemas.microsoft.com/office/drawing/2014/main" id="{01C82230-C05B-4303-B28E-B314361A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195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Custom harness now; Strands and runtime tools as they mature</a:t>
            </a:r>
          </a:p>
        </p:txBody>
      </p:sp>
      <p:sp>
        <p:nvSpPr>
          <p:cNvPr id="16" name="close">
            <a:extLst xmlns:a="http://schemas.openxmlformats.org/drawingml/2006/main">
              <a:ext uri="{FF2B5EF4-FFF2-40B4-BE49-F238E27FC236}">
                <a16:creationId xmlns:a16="http://schemas.microsoft.com/office/drawing/2014/main" id="{BC953EE6-7512-4A0B-9B24-1285CF8C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5054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Bigger models help. Better harnesses make them usable in production.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9F6D469-7637-417D-B654-2AF25467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8" name="footer-num">
            <a:extLst xmlns:a="http://schemas.openxmlformats.org/drawingml/2006/main">
              <a:ext uri="{FF2B5EF4-FFF2-40B4-BE49-F238E27FC236}">
                <a16:creationId xmlns:a16="http://schemas.microsoft.com/office/drawing/2014/main" id="{015D65B9-665B-472D-BCF8-AD021F47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5357923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2026-08-26T16:07:17.5980000Z</dcterms:created>
  <dcterms:modified xsi:type="dcterms:W3CDTF">2026-08-26T16:07:17.5980000Z</dcterms:modified>
</coreProperties>
</file>