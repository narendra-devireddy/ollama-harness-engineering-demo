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74f61e649d4130" /><Relationship Type="http://schemas.openxmlformats.org/officeDocument/2006/relationships/extended-properties" Target="/docProps/app.xml" Id="Rc5baf54aefac49e3" /><Relationship Type="http://schemas.openxmlformats.org/officeDocument/2006/relationships/officeDocument" Target="/ppt/presentation.xml" Id="R59c552f7039d4d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6a984eb6f74a40"/>
  </p:sldMasterIdLst>
  <p:notesMasterIdLst>
    <p:notesMasterId xmlns:r="http://schemas.openxmlformats.org/officeDocument/2006/relationships" r:id="R479545d2893242e7"/>
  </p:notesMasterIdLst>
  <p:sldIdLst>
    <p:sldId xmlns:r="http://schemas.openxmlformats.org/officeDocument/2006/relationships" id="256" r:id="Rd39cc2a1340d4c5e"/>
    <p:sldId xmlns:r="http://schemas.openxmlformats.org/officeDocument/2006/relationships" id="257" r:id="R4173afaef92f420f"/>
    <p:sldId xmlns:r="http://schemas.openxmlformats.org/officeDocument/2006/relationships" id="258" r:id="R0dea076d14ec461e"/>
    <p:sldId xmlns:r="http://schemas.openxmlformats.org/officeDocument/2006/relationships" id="259" r:id="Re4959fbeffb44a93"/>
    <p:sldId xmlns:r="http://schemas.openxmlformats.org/officeDocument/2006/relationships" id="260" r:id="Rb04945fd4c4b46db"/>
    <p:sldId xmlns:r="http://schemas.openxmlformats.org/officeDocument/2006/relationships" id="261" r:id="Rcb90ccfefadc413a"/>
    <p:sldId xmlns:r="http://schemas.openxmlformats.org/officeDocument/2006/relationships" id="262" r:id="R84572ff8001e4791"/>
    <p:sldId xmlns:r="http://schemas.openxmlformats.org/officeDocument/2006/relationships" id="263" r:id="R0dde506528c7403a"/>
    <p:sldId xmlns:r="http://schemas.openxmlformats.org/officeDocument/2006/relationships" id="264" r:id="R968b05d94bc14e9e"/>
    <p:sldId xmlns:r="http://schemas.openxmlformats.org/officeDocument/2006/relationships" id="265" r:id="R80c6e7394cf447c8"/>
    <p:sldId xmlns:r="http://schemas.openxmlformats.org/officeDocument/2006/relationships" id="266" r:id="R7fd5c9a2f99946d6"/>
    <p:sldId xmlns:r="http://schemas.openxmlformats.org/officeDocument/2006/relationships" id="267" r:id="R6b02afb39d8a499e"/>
    <p:sldId xmlns:r="http://schemas.openxmlformats.org/officeDocument/2006/relationships" id="268" r:id="R470875b0d4ff4ad9"/>
    <p:sldId xmlns:r="http://schemas.openxmlformats.org/officeDocument/2006/relationships" id="269" r:id="R3bedf35d57344c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c6356adf004937" /><Relationship Type="http://schemas.openxmlformats.org/officeDocument/2006/relationships/slideMaster" Target="/ppt/slideMasters/slideMaster1.xml" Id="R7f6a984eb6f74a40" /><Relationship Type="http://schemas.openxmlformats.org/officeDocument/2006/relationships/notesMaster" Target="/ppt/notesMasters/notesMaster1.xml" Id="R479545d2893242e7" /><Relationship Type="http://schemas.openxmlformats.org/officeDocument/2006/relationships/presProps" Target="/ppt/presProps.xml" Id="R7415f0052a9f4a68" /><Relationship Type="http://schemas.openxmlformats.org/officeDocument/2006/relationships/tableStyles" Target="/ppt/tableStyles.xml" Id="R4f2245fe0ca94af6" /><Relationship Type="http://schemas.openxmlformats.org/officeDocument/2006/relationships/slide" Target="/ppt/slides/slide1.xml" Id="Rd39cc2a1340d4c5e" /><Relationship Type="http://schemas.openxmlformats.org/officeDocument/2006/relationships/slide" Target="/ppt/slides/slide2.xml" Id="R4173afaef92f420f" /><Relationship Type="http://schemas.openxmlformats.org/officeDocument/2006/relationships/slide" Target="/ppt/slides/slide3.xml" Id="R0dea076d14ec461e" /><Relationship Type="http://schemas.openxmlformats.org/officeDocument/2006/relationships/slide" Target="/ppt/slides/slide4.xml" Id="Re4959fbeffb44a93" /><Relationship Type="http://schemas.openxmlformats.org/officeDocument/2006/relationships/slide" Target="/ppt/slides/slide5.xml" Id="Rb04945fd4c4b46db" /><Relationship Type="http://schemas.openxmlformats.org/officeDocument/2006/relationships/slide" Target="/ppt/slides/slide6.xml" Id="Rcb90ccfefadc413a" /><Relationship Type="http://schemas.openxmlformats.org/officeDocument/2006/relationships/slide" Target="/ppt/slides/slide7.xml" Id="R84572ff8001e4791" /><Relationship Type="http://schemas.openxmlformats.org/officeDocument/2006/relationships/slide" Target="/ppt/slides/slide8.xml" Id="R0dde506528c7403a" /><Relationship Type="http://schemas.openxmlformats.org/officeDocument/2006/relationships/slide" Target="/ppt/slides/slide9.xml" Id="R968b05d94bc14e9e" /><Relationship Type="http://schemas.openxmlformats.org/officeDocument/2006/relationships/slide" Target="/ppt/slides/slide10.xml" Id="R80c6e7394cf447c8" /><Relationship Type="http://schemas.openxmlformats.org/officeDocument/2006/relationships/slide" Target="/ppt/slides/slide11.xml" Id="R7fd5c9a2f99946d6" /><Relationship Type="http://schemas.openxmlformats.org/officeDocument/2006/relationships/slide" Target="/ppt/slides/slide12.xml" Id="R6b02afb39d8a499e" /><Relationship Type="http://schemas.openxmlformats.org/officeDocument/2006/relationships/slide" Target="/ppt/slides/slide13.xml" Id="R470875b0d4ff4ad9" /><Relationship Type="http://schemas.openxmlformats.org/officeDocument/2006/relationships/slide" Target="/ppt/slides/slide14.xml" Id="R3bedf35d57344c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24424fba0d40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cc0a4b7bad4377" /><Relationship Type="http://schemas.openxmlformats.org/officeDocument/2006/relationships/notesMaster" Target="/ppt/notesMasters/notesMaster1.xml" Id="R19ed832e2bc642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52249f3f424809" /><Relationship Type="http://schemas.openxmlformats.org/officeDocument/2006/relationships/notesMaster" Target="/ppt/notesMasters/notesMaster1.xml" Id="R05f01f1946f844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b0f8f1a6c04e12" /><Relationship Type="http://schemas.openxmlformats.org/officeDocument/2006/relationships/notesMaster" Target="/ppt/notesMasters/notesMaster1.xml" Id="R2cd4002983e34a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0cf73c547d431d" /><Relationship Type="http://schemas.openxmlformats.org/officeDocument/2006/relationships/notesMaster" Target="/ppt/notesMasters/notesMaster1.xml" Id="R212e912d7c1e45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094e7580d234f0c" /><Relationship Type="http://schemas.openxmlformats.org/officeDocument/2006/relationships/notesMaster" Target="/ppt/notesMasters/notesMaster1.xml" Id="R9438d061852145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90b992f9e249be" /><Relationship Type="http://schemas.openxmlformats.org/officeDocument/2006/relationships/notesMaster" Target="/ppt/notesMasters/notesMaster1.xml" Id="R704cedf54b0748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dfcfe918694e43" /><Relationship Type="http://schemas.openxmlformats.org/officeDocument/2006/relationships/notesMaster" Target="/ppt/notesMasters/notesMaster1.xml" Id="R7988fd8b75454e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26297ea9cf48e5" /><Relationship Type="http://schemas.openxmlformats.org/officeDocument/2006/relationships/notesMaster" Target="/ppt/notesMasters/notesMaster1.xml" Id="R62b39f88c82d4d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aa232486524a41" /><Relationship Type="http://schemas.openxmlformats.org/officeDocument/2006/relationships/notesMaster" Target="/ppt/notesMasters/notesMaster1.xml" Id="R0161cba0c066450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2884703b4b4001" /><Relationship Type="http://schemas.openxmlformats.org/officeDocument/2006/relationships/notesMaster" Target="/ppt/notesMasters/notesMaster1.xml" Id="R654b5554c7fd482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18aa2a865854d23" /><Relationship Type="http://schemas.openxmlformats.org/officeDocument/2006/relationships/notesMaster" Target="/ppt/notesMasters/notesMaster1.xml" Id="R35c201569fab4ab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1fedbf2a6274496" /><Relationship Type="http://schemas.openxmlformats.org/officeDocument/2006/relationships/notesMaster" Target="/ppt/notesMasters/notesMaster1.xml" Id="R09c0663d77ca4b3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8ec7abd4bef42c4" /><Relationship Type="http://schemas.openxmlformats.org/officeDocument/2006/relationships/notesMaster" Target="/ppt/notesMasters/notesMaster1.xml" Id="R18b0a64063d5439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a610312c7fb4f13" /><Relationship Type="http://schemas.openxmlformats.org/officeDocument/2006/relationships/notesMaster" Target="/ppt/notesMasters/notesMaster1.xml" Id="R7f1a8cbf349249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opener before Colab. It sets the learning job.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Fowler: https://martinfowler.com/articles/harness-engineering.html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explicitly answers why three boxes were insufficient.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 table of contents includes Feedforward and Feedback, Computational vs Inferential, The steering loop, Timing, Regulation categories, Harnessability, Harness templates, Role of the human.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Guides/feedforward controls.</a:t>
            </a:r>
          </a:p>
          <a:p xmlns:a="http://schemas.openxmlformats.org/drawingml/2006/main">
            <a:r>
              <a:t>Repo: src/harness_demo/live.py, planner_input in run_live_hand_built_lane.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Sensors/feedback controls.</a:t>
            </a:r>
          </a:p>
          <a:p xmlns:a="http://schemas.openxmlformats.org/drawingml/2006/main">
            <a:r>
              <a:t>Repo: src/harness_demo/scoring.py, score_memory.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Computational controls are deterministic and reliable.</a:t>
            </a:r>
          </a:p>
          <a:p xmlns:a="http://schemas.openxmlformats.org/drawingml/2006/main">
            <a:r>
              <a:t>Repo: src/harness_demo/scoring.py.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Computational vs Inferential section.</a:t>
            </a:r>
          </a:p>
          <a:p xmlns:a="http://schemas.openxmlformats.org/drawingml/2006/main">
            <a:r>
              <a:t>Repo: src/harness_demo/summarizer.py.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The steering loop.</a:t>
            </a:r>
          </a:p>
          <a:p xmlns:a="http://schemas.openxmlformats.org/drawingml/2006/main">
            <a:r>
              <a:t>Repo: src/harness_demo/live.py, _review_plan and repair agent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Timing: Keep quality left.</a:t>
            </a:r>
          </a:p>
          <a:p xmlns:a="http://schemas.openxmlformats.org/drawingml/2006/main">
            <a:r>
              <a:t>Repo: notebooks/harness_engineering_colab_demo.ipynb.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Regulation categories.</a:t>
            </a:r>
          </a:p>
          <a:p xmlns:a="http://schemas.openxmlformats.org/drawingml/2006/main">
            <a:r>
              <a:t>Repo: cases/incident-response and src/harness_demo/scenarios.py.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Harnessability and ambient affordances.</a:t>
            </a:r>
          </a:p>
          <a:p xmlns:a="http://schemas.openxmlformats.org/drawingml/2006/main">
            <a:r>
              <a:t>Repo: cases/incident-response/*.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The role of the human.</a:t>
            </a:r>
          </a:p>
          <a:p xmlns:a="http://schemas.openxmlformats.org/drawingml/2006/main">
            <a:r>
              <a:t>Repo: src/harness_demo/rules.py.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Repo: src/harness_demo/live.py, domain.py, scoring.py, rules.py, summarizer.py,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before switching into Colab.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Repo notebook: no/weak/strong/Strands/DeepSeek sections.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for platform investment and time to harden the harness.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Fowler article: Harness templates and role of the human.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130bbc31564b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e9b19d20044986" /><Relationship Type="http://schemas.openxmlformats.org/officeDocument/2006/relationships/slideLayout" Target="/ppt/slideLayouts/slideLayout1.xml" Id="R259aa2547d5c4f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9aa2547d5c4f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77a2db0734ef3" /><Relationship Type="http://schemas.openxmlformats.org/officeDocument/2006/relationships/notesSlide" Target="/ppt/notesSlides/notesSlide1.xml" Id="Rde4b799ef75d40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f09181296454a" /><Relationship Type="http://schemas.openxmlformats.org/officeDocument/2006/relationships/notesSlide" Target="/ppt/notesSlides/notesSlide2.xml" Id="Rbf794887abb346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000770ce74095" /><Relationship Type="http://schemas.openxmlformats.org/officeDocument/2006/relationships/notesSlide" Target="/ppt/notesSlides/notesSlide3.xml" Id="R6aba6edbb1ba4c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e8660d87f147f8" /><Relationship Type="http://schemas.openxmlformats.org/officeDocument/2006/relationships/notesSlide" Target="/ppt/notesSlides/notesSlide4.xml" Id="Reabd48cdf1c24e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efbc23fbe41b5" /><Relationship Type="http://schemas.openxmlformats.org/officeDocument/2006/relationships/notesSlide" Target="/ppt/notesSlides/notesSlide5.xml" Id="R56f4130f287e41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6e7f099bf4807" /><Relationship Type="http://schemas.openxmlformats.org/officeDocument/2006/relationships/notesSlide" Target="/ppt/notesSlides/notesSlide6.xml" Id="Rd82954b0e83b48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cd0764b444b0c" /><Relationship Type="http://schemas.openxmlformats.org/officeDocument/2006/relationships/notesSlide" Target="/ppt/notesSlides/notesSlide7.xml" Id="R357b253f8cee40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f93dc2dac24ebc" /><Relationship Type="http://schemas.openxmlformats.org/officeDocument/2006/relationships/notesSlide" Target="/ppt/notesSlides/notesSlide8.xml" Id="R711560ecb9204c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77ac3edf945c2" /><Relationship Type="http://schemas.openxmlformats.org/officeDocument/2006/relationships/notesSlide" Target="/ppt/notesSlides/notesSlide9.xml" Id="Rca4d861be8124d5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bba70b7054061" /><Relationship Type="http://schemas.openxmlformats.org/officeDocument/2006/relationships/notesSlide" Target="/ppt/notesSlides/notesSlide10.xml" Id="Raee850affd5148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6b376424f42a8" /><Relationship Type="http://schemas.openxmlformats.org/officeDocument/2006/relationships/notesSlide" Target="/ppt/notesSlides/notesSlide11.xml" Id="Rae1c4e4d2f0b47d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26435e7a6742d0" /><Relationship Type="http://schemas.openxmlformats.org/officeDocument/2006/relationships/notesSlide" Target="/ppt/notesSlides/notesSlide12.xml" Id="Rc4d787cb62a248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fe1ef46bb41fa" /><Relationship Type="http://schemas.openxmlformats.org/officeDocument/2006/relationships/notesSlide" Target="/ppt/notesSlides/notesSlide13.xml" Id="R3ffc496ec9bb425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89c81710d4e94" /><Relationship Type="http://schemas.openxmlformats.org/officeDocument/2006/relationships/notesSlide" Target="/ppt/notesSlides/notesSlide14.xml" Id="Rcf4bd4752ea34e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54989A38-569B-430D-B4ED-D48706AB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B7280"/>
                </a:solidFill>
              </a:defRPr>
            </a:pPr>
            <a:r>
              <a:rPr sz="1050" b="1">
                <a:solidFill>
                  <a:srgbClr val="6B7280"/>
                </a:solidFill>
              </a:rPr>
              <a:t>MANAGEMENT LEARNING DECK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840BA73-4F36-467C-8BA8-417F8E7E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9525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Harness engineering is how we make AI workflows governable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0E659B7-D08D-49C5-96E5-51C205E8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B5563"/>
                </a:solidFill>
              </a:defRPr>
            </a:pPr>
            <a:r>
              <a:rPr sz="1800" b="0">
                <a:solidFill>
                  <a:srgbClr val="4B5563"/>
                </a:solidFill>
              </a:rPr>
              <a:t>The demo hypothesis: a medium model in a strong harness can outperform a strong model in a weak or missing harness.</a:t>
            </a:r>
          </a:p>
        </p:txBody>
      </p:sp>
      <p:sp>
        <p:nvSpPr>
          <p:cNvPr id="4" name="promise">
            <a:extLst xmlns:a="http://schemas.openxmlformats.org/drawingml/2006/main">
              <a:ext uri="{FF2B5EF4-FFF2-40B4-BE49-F238E27FC236}">
                <a16:creationId xmlns:a16="http://schemas.microsoft.com/office/drawing/2014/main" id="{E597D0B1-C910-47AD-AA3F-E9CB6A75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7810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5" name="promise-text">
            <a:extLst xmlns:a="http://schemas.openxmlformats.org/drawingml/2006/main">
              <a:ext uri="{FF2B5EF4-FFF2-40B4-BE49-F238E27FC236}">
                <a16:creationId xmlns:a16="http://schemas.microsoft.com/office/drawing/2014/main" id="{74906FED-BD78-4510-B26C-D3D2798C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863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This deck teaches the principles first, then maps each one to our code and Colab demo.</a:t>
            </a:r>
          </a:p>
        </p:txBody>
      </p:sp>
      <p:sp>
        <p:nvSpPr>
          <p:cNvPr id="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72B7699-599C-4B25-A069-DA67000A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7" name="footer-num">
            <a:extLst xmlns:a="http://schemas.openxmlformats.org/drawingml/2006/main">
              <a:ext uri="{FF2B5EF4-FFF2-40B4-BE49-F238E27FC236}">
                <a16:creationId xmlns:a16="http://schemas.microsoft.com/office/drawing/2014/main" id="{2C80EC5B-41D8-4C5B-9417-E44662DC1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469772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eyebrow">
            <a:extLst xmlns:a="http://schemas.openxmlformats.org/drawingml/2006/main">
              <a:ext uri="{FF2B5EF4-FFF2-40B4-BE49-F238E27FC236}">
                <a16:creationId xmlns:a16="http://schemas.microsoft.com/office/drawing/2014/main" id="{181133B2-B04E-4A8E-BA90-B64B8572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48101DF-239C-4A6A-89EA-6BC59BA3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The framework has more than three ideas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76197D16-7BC5-4298-9B60-C0EB2788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idea-0">
            <a:extLst xmlns:a="http://schemas.openxmlformats.org/drawingml/2006/main">
              <a:ext uri="{FF2B5EF4-FFF2-40B4-BE49-F238E27FC236}">
                <a16:creationId xmlns:a16="http://schemas.microsoft.com/office/drawing/2014/main" id="{D9011D38-7780-4934-8810-EAD38407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idea-h-0">
            <a:extLst xmlns:a="http://schemas.openxmlformats.org/drawingml/2006/main">
              <a:ext uri="{FF2B5EF4-FFF2-40B4-BE49-F238E27FC236}">
                <a16:creationId xmlns:a16="http://schemas.microsoft.com/office/drawing/2014/main" id="{A4A98656-1BA8-4E6A-9052-9B0EC751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Guides</a:t>
            </a:r>
          </a:p>
        </p:txBody>
      </p:sp>
      <p:sp>
        <p:nvSpPr>
          <p:cNvPr id="6" name="idea-b-0">
            <a:extLst xmlns:a="http://schemas.openxmlformats.org/drawingml/2006/main">
              <a:ext uri="{FF2B5EF4-FFF2-40B4-BE49-F238E27FC236}">
                <a16:creationId xmlns:a16="http://schemas.microsoft.com/office/drawing/2014/main" id="{D6620A70-D4A4-44CB-854A-F0A31AF7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527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Prevent bad output before generation</a:t>
            </a:r>
          </a:p>
        </p:txBody>
      </p:sp>
      <p:sp>
        <p:nvSpPr>
          <p:cNvPr id="7" name="idea-1">
            <a:extLst xmlns:a="http://schemas.openxmlformats.org/drawingml/2006/main">
              <a:ext uri="{FF2B5EF4-FFF2-40B4-BE49-F238E27FC236}">
                <a16:creationId xmlns:a16="http://schemas.microsoft.com/office/drawing/2014/main" id="{A59B7AB4-5140-4F07-ADE0-CB0D137B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idea-h-1">
            <a:extLst xmlns:a="http://schemas.openxmlformats.org/drawingml/2006/main">
              <a:ext uri="{FF2B5EF4-FFF2-40B4-BE49-F238E27FC236}">
                <a16:creationId xmlns:a16="http://schemas.microsoft.com/office/drawing/2014/main" id="{F9F1CB4E-9F71-4105-B653-8B341920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669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Sensors</a:t>
            </a:r>
          </a:p>
        </p:txBody>
      </p:sp>
      <p:sp>
        <p:nvSpPr>
          <p:cNvPr id="9" name="idea-b-1">
            <a:extLst xmlns:a="http://schemas.openxmlformats.org/drawingml/2006/main">
              <a:ext uri="{FF2B5EF4-FFF2-40B4-BE49-F238E27FC236}">
                <a16:creationId xmlns:a16="http://schemas.microsoft.com/office/drawing/2014/main" id="{7AF6B664-B32A-4B13-8308-35D08A92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527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Detect problems after generation</a:t>
            </a:r>
          </a:p>
        </p:txBody>
      </p:sp>
      <p:sp>
        <p:nvSpPr>
          <p:cNvPr id="10" name="idea-2">
            <a:extLst xmlns:a="http://schemas.openxmlformats.org/drawingml/2006/main">
              <a:ext uri="{FF2B5EF4-FFF2-40B4-BE49-F238E27FC236}">
                <a16:creationId xmlns:a16="http://schemas.microsoft.com/office/drawing/2014/main" id="{43B2A3F1-8DCB-44EF-908F-3CD3FA86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336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idea-h-2">
            <a:extLst xmlns:a="http://schemas.openxmlformats.org/drawingml/2006/main">
              <a:ext uri="{FF2B5EF4-FFF2-40B4-BE49-F238E27FC236}">
                <a16:creationId xmlns:a16="http://schemas.microsoft.com/office/drawing/2014/main" id="{D7336A99-6197-42B6-AC3F-C58087A7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669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Computational</a:t>
            </a:r>
          </a:p>
        </p:txBody>
      </p:sp>
      <p:sp>
        <p:nvSpPr>
          <p:cNvPr id="12" name="idea-b-2">
            <a:extLst xmlns:a="http://schemas.openxmlformats.org/drawingml/2006/main">
              <a:ext uri="{FF2B5EF4-FFF2-40B4-BE49-F238E27FC236}">
                <a16:creationId xmlns:a16="http://schemas.microsoft.com/office/drawing/2014/main" id="{13B89C33-6831-4370-89EF-E9054CE8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527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Deterministic controls</a:t>
            </a:r>
          </a:p>
        </p:txBody>
      </p:sp>
      <p:sp>
        <p:nvSpPr>
          <p:cNvPr id="13" name="idea-3">
            <a:extLst xmlns:a="http://schemas.openxmlformats.org/drawingml/2006/main">
              <a:ext uri="{FF2B5EF4-FFF2-40B4-BE49-F238E27FC236}">
                <a16:creationId xmlns:a16="http://schemas.microsoft.com/office/drawing/2014/main" id="{C82451EA-C9F2-4F09-8AD3-AFE53445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idea-h-3">
            <a:extLst xmlns:a="http://schemas.openxmlformats.org/drawingml/2006/main">
              <a:ext uri="{FF2B5EF4-FFF2-40B4-BE49-F238E27FC236}">
                <a16:creationId xmlns:a16="http://schemas.microsoft.com/office/drawing/2014/main" id="{EF4D2E33-7DB3-4FA0-B977-F00C694B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90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Inferential</a:t>
            </a:r>
          </a:p>
        </p:txBody>
      </p:sp>
      <p:sp>
        <p:nvSpPr>
          <p:cNvPr id="15" name="idea-b-3">
            <a:extLst xmlns:a="http://schemas.openxmlformats.org/drawingml/2006/main">
              <a:ext uri="{FF2B5EF4-FFF2-40B4-BE49-F238E27FC236}">
                <a16:creationId xmlns:a16="http://schemas.microsoft.com/office/drawing/2014/main" id="{5107E866-024D-46F6-B375-D6C42DED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Semantic controls</a:t>
            </a:r>
          </a:p>
        </p:txBody>
      </p:sp>
      <p:sp>
        <p:nvSpPr>
          <p:cNvPr id="16" name="idea-4">
            <a:extLst xmlns:a="http://schemas.openxmlformats.org/drawingml/2006/main">
              <a:ext uri="{FF2B5EF4-FFF2-40B4-BE49-F238E27FC236}">
                <a16:creationId xmlns:a16="http://schemas.microsoft.com/office/drawing/2014/main" id="{1A3239A7-448A-4A98-A3FB-76328A1E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5755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7" name="idea-h-4">
            <a:extLst xmlns:a="http://schemas.openxmlformats.org/drawingml/2006/main">
              <a:ext uri="{FF2B5EF4-FFF2-40B4-BE49-F238E27FC236}">
                <a16:creationId xmlns:a16="http://schemas.microsoft.com/office/drawing/2014/main" id="{B0179F55-3389-4692-AC90-2B45E13A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Steering loop</a:t>
            </a:r>
          </a:p>
        </p:txBody>
      </p:sp>
      <p:sp>
        <p:nvSpPr>
          <p:cNvPr id="18" name="idea-b-4">
            <a:extLst xmlns:a="http://schemas.openxmlformats.org/drawingml/2006/main">
              <a:ext uri="{FF2B5EF4-FFF2-40B4-BE49-F238E27FC236}">
                <a16:creationId xmlns:a16="http://schemas.microsoft.com/office/drawing/2014/main" id="{ED6AA419-3E0C-47C6-A26C-79F10B24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766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Improve harness after misses</a:t>
            </a:r>
          </a:p>
        </p:txBody>
      </p:sp>
      <p:sp>
        <p:nvSpPr>
          <p:cNvPr id="19" name="idea-5">
            <a:extLst xmlns:a="http://schemas.openxmlformats.org/drawingml/2006/main">
              <a:ext uri="{FF2B5EF4-FFF2-40B4-BE49-F238E27FC236}">
                <a16:creationId xmlns:a16="http://schemas.microsoft.com/office/drawing/2014/main" id="{FF8674E9-1815-4AC7-84C4-D196A49F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5755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idea-h-5">
            <a:extLst xmlns:a="http://schemas.openxmlformats.org/drawingml/2006/main">
              <a:ext uri="{FF2B5EF4-FFF2-40B4-BE49-F238E27FC236}">
                <a16:creationId xmlns:a16="http://schemas.microsoft.com/office/drawing/2014/main" id="{11EEAF70-56E4-4C7C-9774-4318C36F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909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Keep quality left</a:t>
            </a:r>
          </a:p>
        </p:txBody>
      </p:sp>
      <p:sp>
        <p:nvSpPr>
          <p:cNvPr id="21" name="idea-b-5">
            <a:extLst xmlns:a="http://schemas.openxmlformats.org/drawingml/2006/main">
              <a:ext uri="{FF2B5EF4-FFF2-40B4-BE49-F238E27FC236}">
                <a16:creationId xmlns:a16="http://schemas.microsoft.com/office/drawing/2014/main" id="{39CB064F-3161-4ACB-A119-FDE77293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766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Catch errors early</a:t>
            </a:r>
          </a:p>
        </p:txBody>
      </p:sp>
      <p:sp>
        <p:nvSpPr>
          <p:cNvPr id="22" name="idea-6">
            <a:extLst xmlns:a="http://schemas.openxmlformats.org/drawingml/2006/main">
              <a:ext uri="{FF2B5EF4-FFF2-40B4-BE49-F238E27FC236}">
                <a16:creationId xmlns:a16="http://schemas.microsoft.com/office/drawing/2014/main" id="{56BCF1CE-0E82-408A-A4E2-8091204E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815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idea-h-6">
            <a:extLst xmlns:a="http://schemas.openxmlformats.org/drawingml/2006/main">
              <a:ext uri="{FF2B5EF4-FFF2-40B4-BE49-F238E27FC236}">
                <a16:creationId xmlns:a16="http://schemas.microsoft.com/office/drawing/2014/main" id="{DCEB8EB7-1787-4165-9577-8B823C2D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14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Regulation type</a:t>
            </a:r>
          </a:p>
        </p:txBody>
      </p:sp>
      <p:sp>
        <p:nvSpPr>
          <p:cNvPr id="24" name="idea-b-6">
            <a:extLst xmlns:a="http://schemas.openxmlformats.org/drawingml/2006/main">
              <a:ext uri="{FF2B5EF4-FFF2-40B4-BE49-F238E27FC236}">
                <a16:creationId xmlns:a16="http://schemas.microsoft.com/office/drawing/2014/main" id="{13CB18B4-5B6A-45B9-AEF2-640F0A00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006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Know what quality means</a:t>
            </a:r>
          </a:p>
        </p:txBody>
      </p:sp>
      <p:sp>
        <p:nvSpPr>
          <p:cNvPr id="25" name="idea-7">
            <a:extLst xmlns:a="http://schemas.openxmlformats.org/drawingml/2006/main">
              <a:ext uri="{FF2B5EF4-FFF2-40B4-BE49-F238E27FC236}">
                <a16:creationId xmlns:a16="http://schemas.microsoft.com/office/drawing/2014/main" id="{C0096A46-FD66-4552-87DB-646176DC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815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idea-h-7">
            <a:extLst xmlns:a="http://schemas.openxmlformats.org/drawingml/2006/main">
              <a:ext uri="{FF2B5EF4-FFF2-40B4-BE49-F238E27FC236}">
                <a16:creationId xmlns:a16="http://schemas.microsoft.com/office/drawing/2014/main" id="{CDC536E3-DEB9-4002-946C-6CB6E7F2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Harnessability</a:t>
            </a:r>
          </a:p>
        </p:txBody>
      </p:sp>
      <p:sp>
        <p:nvSpPr>
          <p:cNvPr id="27" name="idea-b-7">
            <a:extLst xmlns:a="http://schemas.openxmlformats.org/drawingml/2006/main">
              <a:ext uri="{FF2B5EF4-FFF2-40B4-BE49-F238E27FC236}">
                <a16:creationId xmlns:a16="http://schemas.microsoft.com/office/drawing/2014/main" id="{D6581C4D-A618-4FAF-8871-F3F591DE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006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Design systems that are governable</a:t>
            </a:r>
          </a:p>
        </p:txBody>
      </p:sp>
      <p:sp>
        <p:nvSpPr>
          <p:cNvPr id="28" name="idea-8">
            <a:extLst xmlns:a="http://schemas.openxmlformats.org/drawingml/2006/main">
              <a:ext uri="{FF2B5EF4-FFF2-40B4-BE49-F238E27FC236}">
                <a16:creationId xmlns:a16="http://schemas.microsoft.com/office/drawing/2014/main" id="{8A43338F-E52B-4423-8536-09B751DE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15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idea-h-8">
            <a:extLst xmlns:a="http://schemas.openxmlformats.org/drawingml/2006/main">
              <a:ext uri="{FF2B5EF4-FFF2-40B4-BE49-F238E27FC236}">
                <a16:creationId xmlns:a16="http://schemas.microsoft.com/office/drawing/2014/main" id="{21BF7E75-83A4-46E3-B4BD-A3CEAFA7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148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Human role</a:t>
            </a:r>
          </a:p>
        </p:txBody>
      </p:sp>
      <p:sp>
        <p:nvSpPr>
          <p:cNvPr id="30" name="idea-b-8">
            <a:extLst xmlns:a="http://schemas.openxmlformats.org/drawingml/2006/main">
              <a:ext uri="{FF2B5EF4-FFF2-40B4-BE49-F238E27FC236}">
                <a16:creationId xmlns:a16="http://schemas.microsoft.com/office/drawing/2014/main" id="{1F38BD51-D952-4E6F-8061-948D7BC4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006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Steer where judgment matters</a:t>
            </a:r>
          </a:p>
        </p:txBody>
      </p:sp>
      <p:sp>
        <p:nvSpPr>
          <p:cNvPr id="31" name="takeaway">
            <a:extLst xmlns:a="http://schemas.openxmlformats.org/drawingml/2006/main">
              <a:ext uri="{FF2B5EF4-FFF2-40B4-BE49-F238E27FC236}">
                <a16:creationId xmlns:a16="http://schemas.microsoft.com/office/drawing/2014/main" id="{F7B731E5-ECFF-4049-BA7E-250B384A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7690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Slides that follow use one pattern: principle -&gt; impact -&gt; toy example -&gt; our code.</a:t>
            </a:r>
          </a:p>
        </p:txBody>
      </p:sp>
      <p:sp>
        <p:nvSpPr>
          <p:cNvPr id="32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4FAA226-1DAD-4534-B50A-FC00BA1B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33" name="footer-num">
            <a:extLst xmlns:a="http://schemas.openxmlformats.org/drawingml/2006/main">
              <a:ext uri="{FF2B5EF4-FFF2-40B4-BE49-F238E27FC236}">
                <a16:creationId xmlns:a16="http://schemas.microsoft.com/office/drawing/2014/main" id="{044ADBD0-4F1C-4D00-9742-1AEDD92B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019982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D9C223C8-DB40-4181-AE9F-3A46604D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1A2200-A661-4FB7-93D3-D3BC9B08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Feedforward guides reduce the chance of a bad first answer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DF6035F1-1593-4953-A0FC-0C4844AE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BDD81A56-B7CF-4CB7-966E-1F240F07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FAE81A8A-B224-44C7-BD07-2EAE26EA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Guide the model before it acts: role, context boundary, policy, and output contract.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57678048-CA7D-45E2-B996-46753B41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4E59A79D-6DCB-4DFD-A65C-32C00FD6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76C991BB-4075-4564-82F9-4154278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Less rework. Fewer unsafe suggestions. More consistent outputs across reruns.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55225689-D4CE-486E-9CE4-1EC8E41D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E0BCED55-D8C7-40E5-AF6B-65805B90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F9BC3A1D-DC55-4D58-AB59-9CEFDD69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Tell the planner: include evidence and rollback plan; never restart pods or disable payment writes.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9D9BAC22-3097-4DA8-BB88-A7D1788B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E5531B31-8D3E-4D93-903E-3930BBBC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EA117C7A-C63A-4775-A5EF-F8587855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live.py builds planner_input with required fields, forbidden actions, and shared_memory.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2AAFE4D6-285E-47B2-855C-23466B83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This is not prompt decoration; it is pre-execution control.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3E97B93-AA43-4732-A7A9-05B35223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592D7E18-869C-44BE-821B-4B876824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732845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4A61B5B5-38FA-4835-8CFA-A1E32777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D418511-2BE1-4558-B947-CE3318EC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Feedback sensors make quality measurable after the model acts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D955416-B24F-44B2-A142-E5FCFFAF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7EA78088-44EF-4DA1-985B-AB2DF9BC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E255FFE0-7CD2-41BE-8534-0F30EC0E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Observe the output and produce actionable signals the workflow can use.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ADD72F21-C108-4648-B75E-409936D5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94C991A3-B4BA-4DF8-BCEC-020E440F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A25A60DE-285D-4FA0-9B2B-CF6089EE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Management can ask what failed, not just whether the answer sounded good.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A2E1CC1F-19EF-4383-9EFD-1996B2EB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9F5A9E48-7257-4F47-A521-E0B74E92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FFF08A52-FF12-429A-906B-5CAEC25F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Check whether the answer contains required evidence, approved runbook action, and no forbidden action.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0ECDB492-63A8-4621-9E12-0E2818B0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1E1AED52-41BC-488D-A630-EA74CB13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9D164F58-D77D-49B7-B3C5-1AC553D2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scoring.py returns checks for evidence, runbook, safety, memory, and completeness.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F798E07B-F62F-491B-8D43-23B7F807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A fluent answer can fail; a measured answer can be improved.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B303BB1-CDC7-4D62-9EC0-CF256F65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E27D05FD-CFBB-434A-A7A6-8C8444F0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116854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B88441B8-83A6-4E4C-8A6B-A1271CD9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0AE5ADF-0250-480D-A23E-B24CF3B2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Computational controls should be the source of truth when possible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3A2A9AC-D69E-4079-8E5D-C9D70E7E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4B82054D-88AD-4F95-94BC-779109C8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8DDB3792-EFC2-4DE0-8E66-0D3D6EB9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Use deterministic checks for anything that can be checked exactly.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D6503058-A560-450F-AF78-5148E681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3BAED363-76A3-4242-B263-22EB8D3B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04F5ECD6-9F01-469B-98A9-1CB3AEC5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Lower cost, repeatable scores, and fewer arguments about whether the demo is subjective.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C7442593-D1A5-49AD-BF40-FE50A62D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62310B62-4563-4069-B5ED-F99A1477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7B1E6C06-A52E-468C-8540-E4C28F2D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Required field missing? Score fails. Forbidden action present? Safety fails.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C0E536D7-F968-4864-9320-E0C2E2E3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598AA5BB-31A8-4BEA-BACC-F483697A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1890FFF7-9FFA-4532-8836-E880893E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score_memory computes score from explicit booleans and weights, not LLM judgment.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208AA5E5-DD92-4E0C-898B-8EE3846C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Rules judge; LLMs may explain.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C8CD77D-A9BF-45BC-98CD-B6E919EA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7DB86931-CF96-4836-9578-1A22741C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678620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F780B430-C9C9-4592-8857-F41F6707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82B52BF-6A34-4CF3-B094-55C218CD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Inferential controls help where semantic judgment is needed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433513F5-3D1F-4381-9E9E-4079EBF0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82BD1C60-29E0-40C2-8BB0-ABD51781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7CD65937-C9B7-4325-B2E6-EBEEA4F4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Use an LLM for summarization or semantic review, but keep it out of deterministic scoring.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07750A87-5E04-429E-8516-33F8E2D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054CEFDD-2058-43F4-AF50-9BCFB863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0497A0C0-6B2C-44D8-8D02-350AB8CA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Better executive summaries without turning the score into another model opinion.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39884AD6-3AE6-48B4-AFBC-520BC8E7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DDC4762C-3613-4810-B888-6C757E77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94C1BEE2-FEE3-4792-9B9A-54DBE132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Ask a cheaper model to rewrite rule findings for management, not to invent a new grade.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5941F489-C2D7-48F6-84F3-90421D33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765DFA27-8A2D-48E5-9DE9-6D7EF0A8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961C4972-8CC3-4074-806D-7F37546D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summarizer.py tells Ollama: do not change scores, pass/fail, or findings.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EB78C42C-72C9-4DEF-9FB8-0161E3C9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Inferential controls are useful, but they need boundaries.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1CFCB7D-A7B8-453E-BFA2-9C94358A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ACBFB1FA-5170-4181-B290-EB4D9D6E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80169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eyebrow">
            <a:extLst xmlns:a="http://schemas.openxmlformats.org/drawingml/2006/main">
              <a:ext uri="{FF2B5EF4-FFF2-40B4-BE49-F238E27FC236}">
                <a16:creationId xmlns:a16="http://schemas.microsoft.com/office/drawing/2014/main" id="{037C22CA-3483-4A44-BA8D-287C27E9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BB21D0F-A7E4-44DB-B76D-64A495A5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The steering loop is where harness engineering becomes engineering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7CF2A829-B5EE-4E39-A159-D087083A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3268F5B5-F8F8-4F78-9D08-BC40E8EC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2000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step-h-0">
            <a:extLst xmlns:a="http://schemas.openxmlformats.org/drawingml/2006/main">
              <a:ext uri="{FF2B5EF4-FFF2-40B4-BE49-F238E27FC236}">
                <a16:creationId xmlns:a16="http://schemas.microsoft.com/office/drawing/2014/main" id="{7A724D4B-C08F-4BB6-A80E-9DC6D506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Generate</a:t>
            </a:r>
          </a:p>
        </p:txBody>
      </p:sp>
      <p:sp>
        <p:nvSpPr>
          <p:cNvPr id="6" name="step-b-0">
            <a:extLst xmlns:a="http://schemas.openxmlformats.org/drawingml/2006/main">
              <a:ext uri="{FF2B5EF4-FFF2-40B4-BE49-F238E27FC236}">
                <a16:creationId xmlns:a16="http://schemas.microsoft.com/office/drawing/2014/main" id="{99C24F2D-D9FB-41BD-AE0A-63FC20DE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718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Planner drafts a plan</a:t>
            </a:r>
          </a:p>
        </p:txBody>
      </p:sp>
      <p:sp>
        <p:nvSpPr>
          <p:cNvPr id="7" name="arrow-0">
            <a:extLst xmlns:a="http://schemas.openxmlformats.org/drawingml/2006/main">
              <a:ext uri="{FF2B5EF4-FFF2-40B4-BE49-F238E27FC236}">
                <a16:creationId xmlns:a16="http://schemas.microsoft.com/office/drawing/2014/main" id="{107A937A-91BA-4A52-8C0A-3E46B92D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4000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D89A3605-CB20-4DEE-8A4A-7BAEDD0C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2000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9" name="step-h-1">
            <a:extLst xmlns:a="http://schemas.openxmlformats.org/drawingml/2006/main">
              <a:ext uri="{FF2B5EF4-FFF2-40B4-BE49-F238E27FC236}">
                <a16:creationId xmlns:a16="http://schemas.microsoft.com/office/drawing/2014/main" id="{ED6FC9DE-2AD2-40F3-A6C2-CB1E30FE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7175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Sense</a:t>
            </a:r>
          </a:p>
        </p:txBody>
      </p:sp>
      <p:sp>
        <p:nvSpPr>
          <p:cNvPr id="10" name="step-b-1">
            <a:extLst xmlns:a="http://schemas.openxmlformats.org/drawingml/2006/main">
              <a:ext uri="{FF2B5EF4-FFF2-40B4-BE49-F238E27FC236}">
                <a16:creationId xmlns:a16="http://schemas.microsoft.com/office/drawing/2014/main" id="{943CF37B-F88B-4322-A659-5C1534F9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718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Reviewer finds objections</a:t>
            </a:r>
          </a:p>
        </p:txBody>
      </p:sp>
      <p:sp>
        <p:nvSpPr>
          <p:cNvPr id="11" name="arrow-1">
            <a:extLst xmlns:a="http://schemas.openxmlformats.org/drawingml/2006/main">
              <a:ext uri="{FF2B5EF4-FFF2-40B4-BE49-F238E27FC236}">
                <a16:creationId xmlns:a16="http://schemas.microsoft.com/office/drawing/2014/main" id="{98262D95-C51E-43AE-ACD6-278FE96C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81300"/>
            <a:ext cx="4000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1E73154A-CBBF-4C58-8E68-C0964108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81250"/>
            <a:ext cx="2000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step-h-2">
            <a:extLst xmlns:a="http://schemas.openxmlformats.org/drawingml/2006/main">
              <a:ext uri="{FF2B5EF4-FFF2-40B4-BE49-F238E27FC236}">
                <a16:creationId xmlns:a16="http://schemas.microsoft.com/office/drawing/2014/main" id="{EF3DA6F8-529A-4586-B4C2-58835EA2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Repair</a:t>
            </a:r>
          </a:p>
        </p:txBody>
      </p:sp>
      <p:sp>
        <p:nvSpPr>
          <p:cNvPr id="14" name="step-b-2">
            <a:extLst xmlns:a="http://schemas.openxmlformats.org/drawingml/2006/main">
              <a:ext uri="{FF2B5EF4-FFF2-40B4-BE49-F238E27FC236}">
                <a16:creationId xmlns:a16="http://schemas.microsoft.com/office/drawing/2014/main" id="{ED7E9938-10D9-4F3C-B7C0-6477B246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718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Repair agent revises</a:t>
            </a:r>
          </a:p>
        </p:txBody>
      </p:sp>
      <p:sp>
        <p:nvSpPr>
          <p:cNvPr id="15" name="arrow-2">
            <a:extLst xmlns:a="http://schemas.openxmlformats.org/drawingml/2006/main">
              <a:ext uri="{FF2B5EF4-FFF2-40B4-BE49-F238E27FC236}">
                <a16:creationId xmlns:a16="http://schemas.microsoft.com/office/drawing/2014/main" id="{E4D068C4-3985-42E8-ABF2-8E82334E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81300"/>
            <a:ext cx="4000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656B30A6-2DAD-48C9-86E0-6808B92A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2000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step-h-3">
            <a:extLst xmlns:a="http://schemas.openxmlformats.org/drawingml/2006/main">
              <a:ext uri="{FF2B5EF4-FFF2-40B4-BE49-F238E27FC236}">
                <a16:creationId xmlns:a16="http://schemas.microsoft.com/office/drawing/2014/main" id="{D75CABAA-3BA5-4477-AED3-85744629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7175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Improve</a:t>
            </a:r>
          </a:p>
        </p:txBody>
      </p:sp>
      <p:sp>
        <p:nvSpPr>
          <p:cNvPr id="18" name="step-b-3">
            <a:extLst xmlns:a="http://schemas.openxmlformats.org/drawingml/2006/main">
              <a:ext uri="{FF2B5EF4-FFF2-40B4-BE49-F238E27FC236}">
                <a16:creationId xmlns:a16="http://schemas.microsoft.com/office/drawing/2014/main" id="{641AEB6B-F5C1-45CE-893F-F0D162F1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718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Repeated misses become new guides or sensors</a:t>
            </a:r>
          </a:p>
        </p:txBody>
      </p:sp>
      <p:sp>
        <p:nvSpPr>
          <p:cNvPr id="19" name="codebox">
            <a:extLst xmlns:a="http://schemas.openxmlformats.org/drawingml/2006/main">
              <a:ext uri="{FF2B5EF4-FFF2-40B4-BE49-F238E27FC236}">
                <a16:creationId xmlns:a16="http://schemas.microsoft.com/office/drawing/2014/main" id="{A44838D8-2A88-4580-BB0A-B70E2B2C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457700"/>
            <a:ext cx="8991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20" name="code">
            <a:extLst xmlns:a="http://schemas.openxmlformats.org/drawingml/2006/main">
              <a:ext uri="{FF2B5EF4-FFF2-40B4-BE49-F238E27FC236}">
                <a16:creationId xmlns:a16="http://schemas.microsoft.com/office/drawing/2014/main" id="{F8A18EFE-2D61-4A19-A373-49733472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667250"/>
            <a:ext cx="8420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live.py: _review_plan(...) creates reviewer_objections; repair_agent receives those objections and shared memory.</a:t>
            </a:r>
          </a:p>
        </p:txBody>
      </p:sp>
      <p:sp>
        <p:nvSpPr>
          <p:cNvPr id="21" name="learn">
            <a:extLst xmlns:a="http://schemas.openxmlformats.org/drawingml/2006/main">
              <a:ext uri="{FF2B5EF4-FFF2-40B4-BE49-F238E27FC236}">
                <a16:creationId xmlns:a16="http://schemas.microsoft.com/office/drawing/2014/main" id="{776D2AA9-0FEF-45B5-808C-945C7CBA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This is the slide managers should remember: the harness learns from misses.</a:t>
            </a:r>
          </a:p>
        </p:txBody>
      </p:sp>
      <p:sp>
        <p:nvSpPr>
          <p:cNvPr id="22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BA65D50-C224-48C3-8CA7-30FFFF8FB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23" name="footer-num">
            <a:extLst xmlns:a="http://schemas.openxmlformats.org/drawingml/2006/main">
              <a:ext uri="{FF2B5EF4-FFF2-40B4-BE49-F238E27FC236}">
                <a16:creationId xmlns:a16="http://schemas.microsoft.com/office/drawing/2014/main" id="{5FBC4666-AB84-4758-BF95-09E06E7B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982172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F5F577F3-7A08-4A8A-987A-982E77DF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5E75198-7BF8-441B-BD01-35DEBBFE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Keep quality left: catch misses before they reach humans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79AE46E6-AD5F-4FB1-A00B-C9FA9C24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9176A146-70F9-4F64-960E-C7D1B7CE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19ADD380-0C73-4599-AFEA-700953FE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Run cheap checks as early as possible in the workflow.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E8A60AAE-8180-43F4-9EFC-3085C878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EF220355-B6A4-4D4D-B151-9B8112E4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B6D0BFAA-6F56-458A-B2FC-046E167D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Human reviewers spend time on judgment, not basic completeness and policy errors.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522FC275-997B-48A2-97D8-2321DA12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DE5CB941-FC5D-4097-8953-08AC65B7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CCA8DDF9-DEEF-434C-B39B-02A40199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Block unsafe actions before the incident commander sees a polished but risky plan.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505DECA1-A760-4444-9080-668E2DE3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7A72EC47-C43E-40ED-B353-5F8EFFD4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0ED68024-5306-49AF-B982-8A06007C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Colab runs deterministic scorecards immediately after each lane output.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9058B02B-B6FC-4355-BB8C-6298C4BA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The earlier the miss is caught, the cheaper it is to fix.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6E336CD-46CC-4F50-A402-3D5F813E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0D0CEAC8-6FDF-4305-B6FA-0BEA1A5A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733860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22F80884-AB73-4A3D-89E7-FB6EFE1C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7289CE5-5C0F-4661-A89B-9BDBD56E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Regulation categories tell us what the harness is protecting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0001D730-2BBA-4506-A617-F68494E2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12872EBF-4C89-43BD-8E2D-EC191020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AD4F83EE-20DE-491A-8A0E-41A54A88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A harness must name the quality dimension it regulates.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86C78B08-0A84-47D2-9C0C-4761B4B3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47AF4D84-2678-42D0-97F0-F410AF59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087B7F7F-4DF7-4262-8B25-65D6BB5A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Avoid vague claims like 'better AI'; define production quality explicitly.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DC75A7AA-EB50-46FA-9FB5-FAE9AAD2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46297864-25D5-438B-BA7B-664E23B8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B407EBEB-8B74-459B-97ED-F4703556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For incident response, regulate behavior: evidence, runbook compliance, safety, memory, completeness.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EA7C9689-4FD4-4895-A49B-02CFBE70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AFC582DF-A0EE-469B-823C-BCDC0CFC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A0063FAD-F6F1-4830-94C4-0BE49997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scenario.expected and scenario.score_weights define the quality contract.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8E34E9DB-618B-4F4C-9EAB-2DD09DB7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The score reflects an operational contract, not writing style.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CCF0DBA-7AE4-44A4-8DE6-CA6DD0B8F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5BB5757F-A040-4C32-B7A5-3A6690BB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308044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CF37AA2B-FBDD-41AB-8230-75AEDB12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4F6ACC2-1A09-44ED-8EED-3F742CA5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Harnessability is a design property of the system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A1B2DE48-D840-482D-880B-82C32761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82F8E03B-CA58-4EB6-9534-7075B95D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3286EA34-6E1F-46B7-9E5D-43A92720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Some systems are easier to govern because they expose structure, contracts, and reliable signals.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EB175B50-99C5-405A-AE62-176FE922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60A8658D-7831-4356-8F72-1F56E349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FE4A220A-B17F-41F7-B72B-12080CAF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Investment shifts from one-off demos to reusable platform capability.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55998C7C-2E31-4FB0-BB2C-76DBD3A4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0B937DC7-F9AD-40A0-9581-62CD2199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EFBBB95B-CDD5-47C2-A327-2BD74DB4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A runbook with explicit forbidden actions is more harnessable than tribal knowledge in chat.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5C2B9BA8-B69E-4DB4-A1DF-A90ECFB3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B26D5091-3B88-400C-B34B-68441412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434A986A-AA32-410A-ACF3-4896B515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Separate files for logs, runbook, prior memory, expected outputs, and score weights make the demo harnessable.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0213CA61-55FE-4ED6-800A-44414A34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Better harnesses often start with better system affordances.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97CF98A-9022-4FB5-9313-E86D2B38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58B4CF38-69C1-4D45-9669-3839E62E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966687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034D22B3-70D8-4755-9BD8-653AC1E0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B3E3B47-9C22-437A-93C2-BF5967D9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The human role shifts from checking every answer to steering the system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52C2DCD2-3E8F-4E14-BC25-9F848D1A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64257F44-B048-4935-9BF6-DC6A26BE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7280"/>
                </a:solidFill>
              </a:defRPr>
            </a:pPr>
            <a:r>
              <a:rPr sz="1350" b="1">
                <a:solidFill>
                  <a:srgbClr val="6B7280"/>
                </a:solidFill>
              </a:rPr>
              <a:t>Principle</a:t>
            </a:r>
          </a:p>
        </p:txBody>
      </p:sp>
      <p:sp>
        <p:nvSpPr>
          <p:cNvPr id="5" name="principle">
            <a:extLst xmlns:a="http://schemas.openxmlformats.org/drawingml/2006/main">
              <a:ext uri="{FF2B5EF4-FFF2-40B4-BE49-F238E27FC236}">
                <a16:creationId xmlns:a16="http://schemas.microsoft.com/office/drawing/2014/main" id="{0583DFB5-C07C-4C63-8FED-AA0A669C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Humans decide what matters, inspect misses, and improve guides and sensors.</a:t>
            </a:r>
          </a:p>
        </p:txBody>
      </p:sp>
      <p:sp>
        <p:nvSpPr>
          <p:cNvPr id="6" name="block-0">
            <a:extLst xmlns:a="http://schemas.openxmlformats.org/drawingml/2006/main">
              <a:ext uri="{FF2B5EF4-FFF2-40B4-BE49-F238E27FC236}">
                <a16:creationId xmlns:a16="http://schemas.microsoft.com/office/drawing/2014/main" id="{EE171F30-7DC2-488D-BBC3-731F09F5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block-h-0">
            <a:extLst xmlns:a="http://schemas.openxmlformats.org/drawingml/2006/main">
              <a:ext uri="{FF2B5EF4-FFF2-40B4-BE49-F238E27FC236}">
                <a16:creationId xmlns:a16="http://schemas.microsoft.com/office/drawing/2014/main" id="{F0802756-3DD7-4646-A904-96A3EBEC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What it changes</a:t>
            </a:r>
          </a:p>
        </p:txBody>
      </p:sp>
      <p:sp>
        <p:nvSpPr>
          <p:cNvPr id="8" name="block-b-0">
            <a:extLst xmlns:a="http://schemas.openxmlformats.org/drawingml/2006/main">
              <a:ext uri="{FF2B5EF4-FFF2-40B4-BE49-F238E27FC236}">
                <a16:creationId xmlns:a16="http://schemas.microsoft.com/office/drawing/2014/main" id="{4EEBFCCA-F519-46B8-A07C-66EE8B0B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Less review toil; more leverage from domain experts and platform teams.</a:t>
            </a:r>
          </a:p>
        </p:txBody>
      </p:sp>
      <p:sp>
        <p:nvSpPr>
          <p:cNvPr id="9" name="block-1">
            <a:extLst xmlns:a="http://schemas.openxmlformats.org/drawingml/2006/main">
              <a:ext uri="{FF2B5EF4-FFF2-40B4-BE49-F238E27FC236}">
                <a16:creationId xmlns:a16="http://schemas.microsoft.com/office/drawing/2014/main" id="{134E3BDF-3ACB-49D7-8B48-471B4FA9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0" name="block-h-1">
            <a:extLst xmlns:a="http://schemas.openxmlformats.org/drawingml/2006/main">
              <a:ext uri="{FF2B5EF4-FFF2-40B4-BE49-F238E27FC236}">
                <a16:creationId xmlns:a16="http://schemas.microsoft.com/office/drawing/2014/main" id="{8D90DF45-04A9-4498-AE93-7A7C7559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Toy example</a:t>
            </a:r>
          </a:p>
        </p:txBody>
      </p:sp>
      <p:sp>
        <p:nvSpPr>
          <p:cNvPr id="11" name="block-b-1">
            <a:extLst xmlns:a="http://schemas.openxmlformats.org/drawingml/2006/main">
              <a:ext uri="{FF2B5EF4-FFF2-40B4-BE49-F238E27FC236}">
                <a16:creationId xmlns:a16="http://schemas.microsoft.com/office/drawing/2014/main" id="{2366D020-6468-446B-8088-8B355897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When the model repeatedly invents dashboards, add an unsupported-claim rule or stronger context boundary.</a:t>
            </a:r>
          </a:p>
        </p:txBody>
      </p:sp>
      <p:sp>
        <p:nvSpPr>
          <p:cNvPr id="12" name="block-2">
            <a:extLst xmlns:a="http://schemas.openxmlformats.org/drawingml/2006/main">
              <a:ext uri="{FF2B5EF4-FFF2-40B4-BE49-F238E27FC236}">
                <a16:creationId xmlns:a16="http://schemas.microsoft.com/office/drawing/2014/main" id="{542222A3-567A-4E2C-BC09-106BD3F4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575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3" name="block-h-2">
            <a:extLst xmlns:a="http://schemas.openxmlformats.org/drawingml/2006/main">
              <a:ext uri="{FF2B5EF4-FFF2-40B4-BE49-F238E27FC236}">
                <a16:creationId xmlns:a16="http://schemas.microsoft.com/office/drawing/2014/main" id="{FFA417CF-3BFE-49C5-9A46-F1361885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337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 our code</a:t>
            </a:r>
          </a:p>
        </p:txBody>
      </p:sp>
      <p:sp>
        <p:nvSpPr>
          <p:cNvPr id="14" name="block-b-2">
            <a:extLst xmlns:a="http://schemas.openxmlformats.org/drawingml/2006/main">
              <a:ext uri="{FF2B5EF4-FFF2-40B4-BE49-F238E27FC236}">
                <a16:creationId xmlns:a16="http://schemas.microsoft.com/office/drawing/2014/main" id="{0B612577-8564-45C4-8CF9-CE49B6EC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14750"/>
            <a:ext cx="29146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rules.py records deterministic findings; README/notebook narrate what to improve next.</a:t>
            </a:r>
          </a:p>
        </p:txBody>
      </p:sp>
      <p:sp>
        <p:nvSpPr>
          <p:cNvPr id="15" name="learn">
            <a:extLst xmlns:a="http://schemas.openxmlformats.org/drawingml/2006/main">
              <a:ext uri="{FF2B5EF4-FFF2-40B4-BE49-F238E27FC236}">
                <a16:creationId xmlns:a16="http://schemas.microsoft.com/office/drawing/2014/main" id="{E3634C71-6043-4A78-B1AD-6D1D1B30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86400"/>
            <a:ext cx="1005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Harness engineering externalizes expert judgment into reusable controls.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90B5780-F806-4100-BD7F-3BB36465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7" name="footer-num">
            <a:extLst xmlns:a="http://schemas.openxmlformats.org/drawingml/2006/main">
              <a:ext uri="{FF2B5EF4-FFF2-40B4-BE49-F238E27FC236}">
                <a16:creationId xmlns:a16="http://schemas.microsoft.com/office/drawing/2014/main" id="{5495C9A1-B4A6-4431-A774-A5E8F50D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736753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eyebrow">
            <a:extLst xmlns:a="http://schemas.openxmlformats.org/drawingml/2006/main">
              <a:ext uri="{FF2B5EF4-FFF2-40B4-BE49-F238E27FC236}">
                <a16:creationId xmlns:a16="http://schemas.microsoft.com/office/drawing/2014/main" id="{BE84FD30-8C65-4973-A1D7-9C0E6E22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19D23BC-9688-46EA-9DDD-25EE391A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Our implementation maps directly to the principles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B531C67E-A77A-4C5C-B9A5-32C2DC5B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map-0">
            <a:extLst xmlns:a="http://schemas.openxmlformats.org/drawingml/2006/main">
              <a:ext uri="{FF2B5EF4-FFF2-40B4-BE49-F238E27FC236}">
                <a16:creationId xmlns:a16="http://schemas.microsoft.com/office/drawing/2014/main" id="{6B33A7C6-EC71-458C-8657-31599DEC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5" name="m-a-0">
            <a:extLst xmlns:a="http://schemas.openxmlformats.org/drawingml/2006/main">
              <a:ext uri="{FF2B5EF4-FFF2-40B4-BE49-F238E27FC236}">
                <a16:creationId xmlns:a16="http://schemas.microsoft.com/office/drawing/2014/main" id="{18CC80E0-C52B-459D-8063-75710467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479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Guide</a:t>
            </a:r>
          </a:p>
        </p:txBody>
      </p:sp>
      <p:sp>
        <p:nvSpPr>
          <p:cNvPr id="6" name="m-b-0">
            <a:extLst xmlns:a="http://schemas.openxmlformats.org/drawingml/2006/main">
              <a:ext uri="{FF2B5EF4-FFF2-40B4-BE49-F238E27FC236}">
                <a16:creationId xmlns:a16="http://schemas.microsoft.com/office/drawing/2014/main" id="{C95ABD6C-4973-4E10-8CF7-28A046B2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479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Role prompts, required fields, forbidden actions</a:t>
            </a:r>
          </a:p>
        </p:txBody>
      </p:sp>
      <p:sp>
        <p:nvSpPr>
          <p:cNvPr id="7" name="m-c-0">
            <a:extLst xmlns:a="http://schemas.openxmlformats.org/drawingml/2006/main">
              <a:ext uri="{FF2B5EF4-FFF2-40B4-BE49-F238E27FC236}">
                <a16:creationId xmlns:a16="http://schemas.microsoft.com/office/drawing/2014/main" id="{4E30A5BA-5739-4560-9067-1D14D43E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479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live.py</a:t>
            </a:r>
          </a:p>
        </p:txBody>
      </p:sp>
      <p:sp>
        <p:nvSpPr>
          <p:cNvPr id="8" name="map-1">
            <a:extLst xmlns:a="http://schemas.openxmlformats.org/drawingml/2006/main">
              <a:ext uri="{FF2B5EF4-FFF2-40B4-BE49-F238E27FC236}">
                <a16:creationId xmlns:a16="http://schemas.microsoft.com/office/drawing/2014/main" id="{7C7CB7C1-D2CE-434C-9736-748423B2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9" name="m-a-1">
            <a:extLst xmlns:a="http://schemas.openxmlformats.org/drawingml/2006/main">
              <a:ext uri="{FF2B5EF4-FFF2-40B4-BE49-F238E27FC236}">
                <a16:creationId xmlns:a16="http://schemas.microsoft.com/office/drawing/2014/main" id="{DA1597E8-FE24-44FF-A31A-7E9E5F7D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384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Sensor</a:t>
            </a:r>
          </a:p>
        </p:txBody>
      </p:sp>
      <p:sp>
        <p:nvSpPr>
          <p:cNvPr id="10" name="m-b-1">
            <a:extLst xmlns:a="http://schemas.openxmlformats.org/drawingml/2006/main">
              <a:ext uri="{FF2B5EF4-FFF2-40B4-BE49-F238E27FC236}">
                <a16:creationId xmlns:a16="http://schemas.microsoft.com/office/drawing/2014/main" id="{6710506A-47C2-45FB-8786-EFF08236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3845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Scorecard and rule findings</a:t>
            </a:r>
          </a:p>
        </p:txBody>
      </p:sp>
      <p:sp>
        <p:nvSpPr>
          <p:cNvPr id="11" name="m-c-1">
            <a:extLst xmlns:a="http://schemas.openxmlformats.org/drawingml/2006/main">
              <a:ext uri="{FF2B5EF4-FFF2-40B4-BE49-F238E27FC236}">
                <a16:creationId xmlns:a16="http://schemas.microsoft.com/office/drawing/2014/main" id="{4F99880B-E3F2-4358-BD77-C534D79F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384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scoring.py, rules.py</a:t>
            </a:r>
          </a:p>
        </p:txBody>
      </p:sp>
      <p:sp>
        <p:nvSpPr>
          <p:cNvPr id="12" name="map-2">
            <a:extLst xmlns:a="http://schemas.openxmlformats.org/drawingml/2006/main">
              <a:ext uri="{FF2B5EF4-FFF2-40B4-BE49-F238E27FC236}">
                <a16:creationId xmlns:a16="http://schemas.microsoft.com/office/drawing/2014/main" id="{BBB7D77C-84BF-4415-8357-041A8112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m-a-2">
            <a:extLst xmlns:a="http://schemas.openxmlformats.org/drawingml/2006/main">
              <a:ext uri="{FF2B5EF4-FFF2-40B4-BE49-F238E27FC236}">
                <a16:creationId xmlns:a16="http://schemas.microsoft.com/office/drawing/2014/main" id="{E21A7BA1-94E9-443B-B2C5-13EE69F2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29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Memory</a:t>
            </a:r>
          </a:p>
        </p:txBody>
      </p:sp>
      <p:sp>
        <p:nvSpPr>
          <p:cNvPr id="14" name="m-b-2">
            <a:extLst xmlns:a="http://schemas.openxmlformats.org/drawingml/2006/main">
              <a:ext uri="{FF2B5EF4-FFF2-40B4-BE49-F238E27FC236}">
                <a16:creationId xmlns:a16="http://schemas.microsoft.com/office/drawing/2014/main" id="{BCB898FA-429F-4DB3-A1E6-3DD45C8A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290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Typed SharedMemory object</a:t>
            </a:r>
          </a:p>
        </p:txBody>
      </p:sp>
      <p:sp>
        <p:nvSpPr>
          <p:cNvPr id="15" name="m-c-2">
            <a:extLst xmlns:a="http://schemas.openxmlformats.org/drawingml/2006/main">
              <a:ext uri="{FF2B5EF4-FFF2-40B4-BE49-F238E27FC236}">
                <a16:creationId xmlns:a16="http://schemas.microsoft.com/office/drawing/2014/main" id="{EFBF8CDC-5EB8-467B-89B3-5333104E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290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domain.py</a:t>
            </a:r>
          </a:p>
        </p:txBody>
      </p:sp>
      <p:sp>
        <p:nvSpPr>
          <p:cNvPr id="16" name="map-3">
            <a:extLst xmlns:a="http://schemas.openxmlformats.org/drawingml/2006/main">
              <a:ext uri="{FF2B5EF4-FFF2-40B4-BE49-F238E27FC236}">
                <a16:creationId xmlns:a16="http://schemas.microsoft.com/office/drawing/2014/main" id="{B5A20987-7C35-4DB0-A384-5F9A7392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m-a-3">
            <a:extLst xmlns:a="http://schemas.openxmlformats.org/drawingml/2006/main">
              <a:ext uri="{FF2B5EF4-FFF2-40B4-BE49-F238E27FC236}">
                <a16:creationId xmlns:a16="http://schemas.microsoft.com/office/drawing/2014/main" id="{CAC09B9F-0B76-43D4-8DEA-CAD2855C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195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Steering</a:t>
            </a:r>
          </a:p>
        </p:txBody>
      </p:sp>
      <p:sp>
        <p:nvSpPr>
          <p:cNvPr id="18" name="m-b-3">
            <a:extLst xmlns:a="http://schemas.openxmlformats.org/drawingml/2006/main">
              <a:ext uri="{FF2B5EF4-FFF2-40B4-BE49-F238E27FC236}">
                <a16:creationId xmlns:a16="http://schemas.microsoft.com/office/drawing/2014/main" id="{55F2EF78-4FE4-4FF2-9762-CD5DFE55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1955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Reviewer objections plus repair call</a:t>
            </a:r>
          </a:p>
        </p:txBody>
      </p:sp>
      <p:sp>
        <p:nvSpPr>
          <p:cNvPr id="19" name="m-c-3">
            <a:extLst xmlns:a="http://schemas.openxmlformats.org/drawingml/2006/main">
              <a:ext uri="{FF2B5EF4-FFF2-40B4-BE49-F238E27FC236}">
                <a16:creationId xmlns:a16="http://schemas.microsoft.com/office/drawing/2014/main" id="{96662193-9023-4182-B95E-E48A14B6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195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live.py</a:t>
            </a:r>
          </a:p>
        </p:txBody>
      </p:sp>
      <p:sp>
        <p:nvSpPr>
          <p:cNvPr id="20" name="map-4">
            <a:extLst xmlns:a="http://schemas.openxmlformats.org/drawingml/2006/main">
              <a:ext uri="{FF2B5EF4-FFF2-40B4-BE49-F238E27FC236}">
                <a16:creationId xmlns:a16="http://schemas.microsoft.com/office/drawing/2014/main" id="{0C0859E1-D41C-42E6-9DC9-7A96F89F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10439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m-a-4">
            <a:extLst xmlns:a="http://schemas.openxmlformats.org/drawingml/2006/main">
              <a:ext uri="{FF2B5EF4-FFF2-40B4-BE49-F238E27FC236}">
                <a16:creationId xmlns:a16="http://schemas.microsoft.com/office/drawing/2014/main" id="{47C59C56-9DB6-4789-BAFC-5CCC1883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Adoption</a:t>
            </a:r>
          </a:p>
        </p:txBody>
      </p:sp>
      <p:sp>
        <p:nvSpPr>
          <p:cNvPr id="22" name="m-b-4">
            <a:extLst xmlns:a="http://schemas.openxmlformats.org/drawingml/2006/main">
              <a:ext uri="{FF2B5EF4-FFF2-40B4-BE49-F238E27FC236}">
                <a16:creationId xmlns:a16="http://schemas.microsoft.com/office/drawing/2014/main" id="{F5854CA2-9CBD-4FED-A9B0-E04D9542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101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Strands multi-agent lane; DeepSeek/Ollama launcher</a:t>
            </a:r>
          </a:p>
        </p:txBody>
      </p:sp>
      <p:sp>
        <p:nvSpPr>
          <p:cNvPr id="23" name="m-c-4">
            <a:extLst xmlns:a="http://schemas.openxmlformats.org/drawingml/2006/main">
              <a:ext uri="{FF2B5EF4-FFF2-40B4-BE49-F238E27FC236}">
                <a16:creationId xmlns:a16="http://schemas.microsoft.com/office/drawing/2014/main" id="{1AE96EFA-5D7C-443F-95EF-BA4200D4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101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notebook</a:t>
            </a:r>
          </a:p>
        </p:txBody>
      </p:sp>
      <p:sp>
        <p:nvSpPr>
          <p:cNvPr id="24" name="learn">
            <a:extLst xmlns:a="http://schemas.openxmlformats.org/drawingml/2006/main">
              <a:ext uri="{FF2B5EF4-FFF2-40B4-BE49-F238E27FC236}">
                <a16:creationId xmlns:a16="http://schemas.microsoft.com/office/drawing/2014/main" id="{30DB89BB-3F35-4253-9399-28A5155D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The demo is not prompt engineering. It is a system of controls around model calls.</a:t>
            </a:r>
          </a:p>
        </p:txBody>
      </p:sp>
      <p:sp>
        <p:nvSpPr>
          <p:cNvPr id="2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FC04FE2-1A99-47F6-9F05-EB7CA3CC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26" name="footer-num">
            <a:extLst xmlns:a="http://schemas.openxmlformats.org/drawingml/2006/main">
              <a:ext uri="{FF2B5EF4-FFF2-40B4-BE49-F238E27FC236}">
                <a16:creationId xmlns:a16="http://schemas.microsoft.com/office/drawing/2014/main" id="{55971E93-0C1B-48C6-9BA5-7A91A646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747551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2DBD2A2E-C2BF-4226-8DD6-34F915DA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7BA4904-4972-4E7A-8E18-DC68E23F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How to read the live demo results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1FEEFB4A-5224-4DC0-940F-D7F21D19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lane-0">
            <a:extLst xmlns:a="http://schemas.openxmlformats.org/drawingml/2006/main">
              <a:ext uri="{FF2B5EF4-FFF2-40B4-BE49-F238E27FC236}">
                <a16:creationId xmlns:a16="http://schemas.microsoft.com/office/drawing/2014/main" id="{312C8DA2-BD20-4096-9E1D-37361C15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lane-h-0">
            <a:extLst xmlns:a="http://schemas.openxmlformats.org/drawingml/2006/main">
              <a:ext uri="{FF2B5EF4-FFF2-40B4-BE49-F238E27FC236}">
                <a16:creationId xmlns:a16="http://schemas.microsoft.com/office/drawing/2014/main" id="{CE32715E-1192-4609-8425-4AC0C9BA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No harness</a:t>
            </a:r>
          </a:p>
        </p:txBody>
      </p:sp>
      <p:sp>
        <p:nvSpPr>
          <p:cNvPr id="6" name="lane-b-0">
            <a:extLst xmlns:a="http://schemas.openxmlformats.org/drawingml/2006/main">
              <a:ext uri="{FF2B5EF4-FFF2-40B4-BE49-F238E27FC236}">
                <a16:creationId xmlns:a16="http://schemas.microsoft.com/office/drawing/2014/main" id="{FF9C8DC9-59A2-4144-A4C4-811D86C9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2038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Does the model hallucinate, omit evidence, or suggest unsafe actions when given only a ticket?</a:t>
            </a:r>
          </a:p>
        </p:txBody>
      </p:sp>
      <p:sp>
        <p:nvSpPr>
          <p:cNvPr id="7" name="lane-1">
            <a:extLst xmlns:a="http://schemas.openxmlformats.org/drawingml/2006/main">
              <a:ext uri="{FF2B5EF4-FFF2-40B4-BE49-F238E27FC236}">
                <a16:creationId xmlns:a16="http://schemas.microsoft.com/office/drawing/2014/main" id="{F5BE656E-C677-4CA8-A0B2-301C380E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9075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lane-h-1">
            <a:extLst xmlns:a="http://schemas.openxmlformats.org/drawingml/2006/main">
              <a:ext uri="{FF2B5EF4-FFF2-40B4-BE49-F238E27FC236}">
                <a16:creationId xmlns:a16="http://schemas.microsoft.com/office/drawing/2014/main" id="{70389BE2-19C5-472A-ACD2-6EFD02FC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Weak harness</a:t>
            </a:r>
          </a:p>
        </p:txBody>
      </p:sp>
      <p:sp>
        <p:nvSpPr>
          <p:cNvPr id="9" name="lane-b-1">
            <a:extLst xmlns:a="http://schemas.openxmlformats.org/drawingml/2006/main">
              <a:ext uri="{FF2B5EF4-FFF2-40B4-BE49-F238E27FC236}">
                <a16:creationId xmlns:a16="http://schemas.microsoft.com/office/drawing/2014/main" id="{452545FD-8074-46C9-A57C-9A2B4B2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57500"/>
            <a:ext cx="2038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Does shared memory help, and where does it still drift without provenance and repair?</a:t>
            </a:r>
          </a:p>
        </p:txBody>
      </p:sp>
      <p:sp>
        <p:nvSpPr>
          <p:cNvPr id="10" name="lane-2">
            <a:extLst xmlns:a="http://schemas.openxmlformats.org/drawingml/2006/main">
              <a:ext uri="{FF2B5EF4-FFF2-40B4-BE49-F238E27FC236}">
                <a16:creationId xmlns:a16="http://schemas.microsoft.com/office/drawing/2014/main" id="{E84D8BB6-A44E-4D49-85C3-0EBEBC97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9075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1" name="lane-h-2">
            <a:extLst xmlns:a="http://schemas.openxmlformats.org/drawingml/2006/main">
              <a:ext uri="{FF2B5EF4-FFF2-40B4-BE49-F238E27FC236}">
                <a16:creationId xmlns:a16="http://schemas.microsoft.com/office/drawing/2014/main" id="{5FAE52E5-F29A-4B37-A3A0-2C539EE9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003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Strong harness</a:t>
            </a:r>
          </a:p>
        </p:txBody>
      </p:sp>
      <p:sp>
        <p:nvSpPr>
          <p:cNvPr id="12" name="lane-b-2">
            <a:extLst xmlns:a="http://schemas.openxmlformats.org/drawingml/2006/main">
              <a:ext uri="{FF2B5EF4-FFF2-40B4-BE49-F238E27FC236}">
                <a16:creationId xmlns:a16="http://schemas.microsoft.com/office/drawing/2014/main" id="{81E43AB3-656F-41E2-A854-A2B81254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2038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Do guides, sensors, reviewer, and repair improve measurable production quality?</a:t>
            </a:r>
          </a:p>
        </p:txBody>
      </p:sp>
      <p:sp>
        <p:nvSpPr>
          <p:cNvPr id="13" name="lane-3">
            <a:extLst xmlns:a="http://schemas.openxmlformats.org/drawingml/2006/main">
              <a:ext uri="{FF2B5EF4-FFF2-40B4-BE49-F238E27FC236}">
                <a16:creationId xmlns:a16="http://schemas.microsoft.com/office/drawing/2014/main" id="{27C356E8-BAD6-424A-83E7-7C865110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38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lane-h-3">
            <a:extLst xmlns:a="http://schemas.openxmlformats.org/drawingml/2006/main">
              <a:ext uri="{FF2B5EF4-FFF2-40B4-BE49-F238E27FC236}">
                <a16:creationId xmlns:a16="http://schemas.microsoft.com/office/drawing/2014/main" id="{F785289A-083F-4868-A6CD-4D814A5D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003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Strands</a:t>
            </a:r>
          </a:p>
        </p:txBody>
      </p:sp>
      <p:sp>
        <p:nvSpPr>
          <p:cNvPr id="15" name="lane-b-3">
            <a:extLst xmlns:a="http://schemas.openxmlformats.org/drawingml/2006/main">
              <a:ext uri="{FF2B5EF4-FFF2-40B4-BE49-F238E27FC236}">
                <a16:creationId xmlns:a16="http://schemas.microsoft.com/office/drawing/2014/main" id="{818D4B46-AFD9-440C-92AC-5C8D527A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57500"/>
            <a:ext cx="2038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Can SDK agents reproduce the same role split with less custom code?</a:t>
            </a:r>
          </a:p>
        </p:txBody>
      </p:sp>
      <p:sp>
        <p:nvSpPr>
          <p:cNvPr id="16" name="deepseek">
            <a:extLst xmlns:a="http://schemas.openxmlformats.org/drawingml/2006/main">
              <a:ext uri="{FF2B5EF4-FFF2-40B4-BE49-F238E27FC236}">
                <a16:creationId xmlns:a16="http://schemas.microsoft.com/office/drawing/2014/main" id="{3904793B-E105-4DAF-92EB-FB9053EC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DeepSeek is the adoption-path proof unless it runs the same task and is scored by the same evaluator.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F6FCC5C-D5C7-4511-BA0F-6C769B69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8" name="footer-num">
            <a:extLst xmlns:a="http://schemas.openxmlformats.org/drawingml/2006/main">
              <a:ext uri="{FF2B5EF4-FFF2-40B4-BE49-F238E27FC236}">
                <a16:creationId xmlns:a16="http://schemas.microsoft.com/office/drawing/2014/main" id="{3AE5E4FE-0FCA-4866-912C-362DB73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648951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1873BB64-F313-4D76-B6FF-B762C3C9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B7280"/>
                </a:solidFill>
              </a:defRPr>
            </a:pPr>
            <a:r>
              <a:rPr sz="975" b="1">
                <a:solidFill>
                  <a:srgbClr val="6B7280"/>
                </a:solidFill>
              </a:rPr>
              <a:t>HARNESS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E7C3D43-4A5C-4135-8717-DAE801FB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The ask: fund harness assets, not just model access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E7DDBE42-FCC9-43E6-B3F6-BA909A9E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ask-0">
            <a:extLst xmlns:a="http://schemas.openxmlformats.org/drawingml/2006/main">
              <a:ext uri="{FF2B5EF4-FFF2-40B4-BE49-F238E27FC236}">
                <a16:creationId xmlns:a16="http://schemas.microsoft.com/office/drawing/2014/main" id="{4D3A6729-E06E-4851-B3C2-658295E8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ask-h-0">
            <a:extLst xmlns:a="http://schemas.openxmlformats.org/drawingml/2006/main">
              <a:ext uri="{FF2B5EF4-FFF2-40B4-BE49-F238E27FC236}">
                <a16:creationId xmlns:a16="http://schemas.microsoft.com/office/drawing/2014/main" id="{E74649A6-8417-41C4-B869-224CBD53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Reusable guides</a:t>
            </a:r>
          </a:p>
        </p:txBody>
      </p:sp>
      <p:sp>
        <p:nvSpPr>
          <p:cNvPr id="6" name="ask-b-0">
            <a:extLst xmlns:a="http://schemas.openxmlformats.org/drawingml/2006/main">
              <a:ext uri="{FF2B5EF4-FFF2-40B4-BE49-F238E27FC236}">
                <a16:creationId xmlns:a16="http://schemas.microsoft.com/office/drawing/2014/main" id="{71CA5BCF-9DC7-4F44-B6DB-D94E2FF6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Runbooks, policies, role instructions, output contracts</a:t>
            </a:r>
          </a:p>
        </p:txBody>
      </p:sp>
      <p:sp>
        <p:nvSpPr>
          <p:cNvPr id="7" name="ask-1">
            <a:extLst xmlns:a="http://schemas.openxmlformats.org/drawingml/2006/main">
              <a:ext uri="{FF2B5EF4-FFF2-40B4-BE49-F238E27FC236}">
                <a16:creationId xmlns:a16="http://schemas.microsoft.com/office/drawing/2014/main" id="{054B7063-0619-4F29-A90A-B15C00B6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ask-h-1">
            <a:extLst xmlns:a="http://schemas.openxmlformats.org/drawingml/2006/main">
              <a:ext uri="{FF2B5EF4-FFF2-40B4-BE49-F238E27FC236}">
                <a16:creationId xmlns:a16="http://schemas.microsoft.com/office/drawing/2014/main" id="{2FA20EFC-DA0D-4268-9707-ED3220D6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050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Reusable sensors</a:t>
            </a:r>
          </a:p>
        </p:txBody>
      </p:sp>
      <p:sp>
        <p:nvSpPr>
          <p:cNvPr id="9" name="ask-b-1">
            <a:extLst xmlns:a="http://schemas.openxmlformats.org/drawingml/2006/main">
              <a:ext uri="{FF2B5EF4-FFF2-40B4-BE49-F238E27FC236}">
                <a16:creationId xmlns:a16="http://schemas.microsoft.com/office/drawing/2014/main" id="{D5B6AF53-807B-4987-B965-94CCC6A8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670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Rule engine, scorecards, unsupported-claim checks</a:t>
            </a:r>
          </a:p>
        </p:txBody>
      </p:sp>
      <p:sp>
        <p:nvSpPr>
          <p:cNvPr id="10" name="ask-2">
            <a:extLst xmlns:a="http://schemas.openxmlformats.org/drawingml/2006/main">
              <a:ext uri="{FF2B5EF4-FFF2-40B4-BE49-F238E27FC236}">
                <a16:creationId xmlns:a16="http://schemas.microsoft.com/office/drawing/2014/main" id="{6142E7D2-41D9-40B6-B58B-7B589DB0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ask-h-2">
            <a:extLst xmlns:a="http://schemas.openxmlformats.org/drawingml/2006/main">
              <a:ext uri="{FF2B5EF4-FFF2-40B4-BE49-F238E27FC236}">
                <a16:creationId xmlns:a16="http://schemas.microsoft.com/office/drawing/2014/main" id="{B4D1CB29-694C-4865-B56D-A345E499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Governed memory</a:t>
            </a:r>
          </a:p>
        </p:txBody>
      </p:sp>
      <p:sp>
        <p:nvSpPr>
          <p:cNvPr id="12" name="ask-b-2">
            <a:extLst xmlns:a="http://schemas.openxmlformats.org/drawingml/2006/main">
              <a:ext uri="{FF2B5EF4-FFF2-40B4-BE49-F238E27FC236}">
                <a16:creationId xmlns:a16="http://schemas.microsoft.com/office/drawing/2014/main" id="{512E8A29-A28D-45D5-9F84-A28C5C7C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Typed state, provenance, prior lessons, reviewer objections</a:t>
            </a:r>
          </a:p>
        </p:txBody>
      </p:sp>
      <p:sp>
        <p:nvSpPr>
          <p:cNvPr id="13" name="ask-3">
            <a:extLst xmlns:a="http://schemas.openxmlformats.org/drawingml/2006/main">
              <a:ext uri="{FF2B5EF4-FFF2-40B4-BE49-F238E27FC236}">
                <a16:creationId xmlns:a16="http://schemas.microsoft.com/office/drawing/2014/main" id="{F021A091-8899-41CF-9CF3-93E4F678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4" name="ask-h-3">
            <a:extLst xmlns:a="http://schemas.openxmlformats.org/drawingml/2006/main">
              <a:ext uri="{FF2B5EF4-FFF2-40B4-BE49-F238E27FC236}">
                <a16:creationId xmlns:a16="http://schemas.microsoft.com/office/drawing/2014/main" id="{991DF1D3-816D-432B-9584-5FA1B205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576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Adoption path</a:t>
            </a:r>
          </a:p>
        </p:txBody>
      </p:sp>
      <p:sp>
        <p:nvSpPr>
          <p:cNvPr id="15" name="ask-b-3">
            <a:extLst xmlns:a="http://schemas.openxmlformats.org/drawingml/2006/main">
              <a:ext uri="{FF2B5EF4-FFF2-40B4-BE49-F238E27FC236}">
                <a16:creationId xmlns:a16="http://schemas.microsoft.com/office/drawing/2014/main" id="{01C82230-C05B-4303-B28E-B314361A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195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</a:defRPr>
            </a:pPr>
            <a:r>
              <a:rPr sz="1200" b="0">
                <a:solidFill>
                  <a:srgbClr val="4B5563"/>
                </a:solidFill>
              </a:rPr>
              <a:t>Custom harness now; Strands and runtime tools as they mature</a:t>
            </a:r>
          </a:p>
        </p:txBody>
      </p:sp>
      <p:sp>
        <p:nvSpPr>
          <p:cNvPr id="16" name="close">
            <a:extLst xmlns:a="http://schemas.openxmlformats.org/drawingml/2006/main">
              <a:ext uri="{FF2B5EF4-FFF2-40B4-BE49-F238E27FC236}">
                <a16:creationId xmlns:a16="http://schemas.microsoft.com/office/drawing/2014/main" id="{BC953EE6-7512-4A0B-9B24-1285CF8C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5054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Bigger models help. Better harnesses make them usable in production.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9F6D469-7637-417D-B654-2AF25467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Ollama Harness Engineering Demo</a:t>
            </a:r>
          </a:p>
        </p:txBody>
      </p:sp>
      <p:sp>
        <p:nvSpPr>
          <p:cNvPr id="18" name="footer-num">
            <a:extLst xmlns:a="http://schemas.openxmlformats.org/drawingml/2006/main">
              <a:ext uri="{FF2B5EF4-FFF2-40B4-BE49-F238E27FC236}">
                <a16:creationId xmlns:a16="http://schemas.microsoft.com/office/drawing/2014/main" id="{015D65B9-665B-472D-BCF8-AD021F47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357923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2026-08-24T15:51:34.8800000Z</dcterms:created>
  <dcterms:modified xsi:type="dcterms:W3CDTF">2026-08-24T15:51:34.8800000Z</dcterms:modified>
</coreProperties>
</file>