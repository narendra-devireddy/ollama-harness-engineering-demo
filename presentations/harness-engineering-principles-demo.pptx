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53733fc63b490f" /><Relationship Type="http://schemas.openxmlformats.org/officeDocument/2006/relationships/extended-properties" Target="/docProps/app.xml" Id="R303196e135594c36" /><Relationship Type="http://schemas.openxmlformats.org/officeDocument/2006/relationships/officeDocument" Target="/ppt/presentation.xml" Id="Rd5f14303ded948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8509ca289a4b6f"/>
  </p:sldMasterIdLst>
  <p:notesMasterIdLst>
    <p:notesMasterId xmlns:r="http://schemas.openxmlformats.org/officeDocument/2006/relationships" r:id="R5c2108c105ee4833"/>
  </p:notesMasterIdLst>
  <p:sldIdLst>
    <p:sldId xmlns:r="http://schemas.openxmlformats.org/officeDocument/2006/relationships" id="256" r:id="R03263ecb0e7b4588"/>
    <p:sldId xmlns:r="http://schemas.openxmlformats.org/officeDocument/2006/relationships" id="257" r:id="Rc338e95ca3c04aa2"/>
    <p:sldId xmlns:r="http://schemas.openxmlformats.org/officeDocument/2006/relationships" id="258" r:id="Rd7de76bf153e40c6"/>
    <p:sldId xmlns:r="http://schemas.openxmlformats.org/officeDocument/2006/relationships" id="259" r:id="Rd23106b7e3854edc"/>
    <p:sldId xmlns:r="http://schemas.openxmlformats.org/officeDocument/2006/relationships" id="260" r:id="R366170fed2b645b3"/>
    <p:sldId xmlns:r="http://schemas.openxmlformats.org/officeDocument/2006/relationships" id="261" r:id="Rb7d0752ae02c4019"/>
    <p:sldId xmlns:r="http://schemas.openxmlformats.org/officeDocument/2006/relationships" id="262" r:id="Rbf6babfa8e774416"/>
    <p:sldId xmlns:r="http://schemas.openxmlformats.org/officeDocument/2006/relationships" id="263" r:id="R7afcdef7182440b1"/>
    <p:sldId xmlns:r="http://schemas.openxmlformats.org/officeDocument/2006/relationships" id="264" r:id="R7208ca74b375411e"/>
    <p:sldId xmlns:r="http://schemas.openxmlformats.org/officeDocument/2006/relationships" id="265" r:id="Re3bc91f8f2f24019"/>
    <p:sldId xmlns:r="http://schemas.openxmlformats.org/officeDocument/2006/relationships" id="266" r:id="Rbbd1b31642504b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3d0dffca594f28" /><Relationship Type="http://schemas.openxmlformats.org/officeDocument/2006/relationships/slideMaster" Target="/ppt/slideMasters/slideMaster1.xml" Id="Rb28509ca289a4b6f" /><Relationship Type="http://schemas.openxmlformats.org/officeDocument/2006/relationships/notesMaster" Target="/ppt/notesMasters/notesMaster1.xml" Id="R5c2108c105ee4833" /><Relationship Type="http://schemas.openxmlformats.org/officeDocument/2006/relationships/presProps" Target="/ppt/presProps.xml" Id="Rfe747678846b41bd" /><Relationship Type="http://schemas.openxmlformats.org/officeDocument/2006/relationships/tableStyles" Target="/ppt/tableStyles.xml" Id="Raebfc1be77a04353" /><Relationship Type="http://schemas.openxmlformats.org/officeDocument/2006/relationships/slide" Target="/ppt/slides/slide1.xml" Id="R03263ecb0e7b4588" /><Relationship Type="http://schemas.openxmlformats.org/officeDocument/2006/relationships/slide" Target="/ppt/slides/slide2.xml" Id="Rc338e95ca3c04aa2" /><Relationship Type="http://schemas.openxmlformats.org/officeDocument/2006/relationships/slide" Target="/ppt/slides/slide3.xml" Id="Rd7de76bf153e40c6" /><Relationship Type="http://schemas.openxmlformats.org/officeDocument/2006/relationships/slide" Target="/ppt/slides/slide4.xml" Id="Rd23106b7e3854edc" /><Relationship Type="http://schemas.openxmlformats.org/officeDocument/2006/relationships/slide" Target="/ppt/slides/slide5.xml" Id="R366170fed2b645b3" /><Relationship Type="http://schemas.openxmlformats.org/officeDocument/2006/relationships/slide" Target="/ppt/slides/slide6.xml" Id="Rb7d0752ae02c4019" /><Relationship Type="http://schemas.openxmlformats.org/officeDocument/2006/relationships/slide" Target="/ppt/slides/slide7.xml" Id="Rbf6babfa8e774416" /><Relationship Type="http://schemas.openxmlformats.org/officeDocument/2006/relationships/slide" Target="/ppt/slides/slide8.xml" Id="R7afcdef7182440b1" /><Relationship Type="http://schemas.openxmlformats.org/officeDocument/2006/relationships/slide" Target="/ppt/slides/slide9.xml" Id="R7208ca74b375411e" /><Relationship Type="http://schemas.openxmlformats.org/officeDocument/2006/relationships/slide" Target="/ppt/slides/slide10.xml" Id="Re3bc91f8f2f24019" /><Relationship Type="http://schemas.openxmlformats.org/officeDocument/2006/relationships/slide" Target="/ppt/slides/slide11.xml" Id="Rbbd1b31642504b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530a3777a4f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b8130520ec4b99" /><Relationship Type="http://schemas.openxmlformats.org/officeDocument/2006/relationships/notesMaster" Target="/ppt/notesMasters/notesMaster1.xml" Id="R719a799ffd31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91672ac0a44e11" /><Relationship Type="http://schemas.openxmlformats.org/officeDocument/2006/relationships/notesMaster" Target="/ppt/notesMasters/notesMaster1.xml" Id="Rb21e71552cf240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78fe0602e848fa" /><Relationship Type="http://schemas.openxmlformats.org/officeDocument/2006/relationships/notesMaster" Target="/ppt/notesMasters/notesMaster1.xml" Id="Rf34f15bdb58d41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ba6404c454f72" /><Relationship Type="http://schemas.openxmlformats.org/officeDocument/2006/relationships/notesMaster" Target="/ppt/notesMasters/notesMaster1.xml" Id="R98ac9dc7f16a4a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114d400aa8427f" /><Relationship Type="http://schemas.openxmlformats.org/officeDocument/2006/relationships/notesMaster" Target="/ppt/notesMasters/notesMaster1.xml" Id="Re267f6bac79244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c34c73605d4a44" /><Relationship Type="http://schemas.openxmlformats.org/officeDocument/2006/relationships/notesMaster" Target="/ppt/notesMasters/notesMaster1.xml" Id="R533117f5782041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eaea7f87b546dd" /><Relationship Type="http://schemas.openxmlformats.org/officeDocument/2006/relationships/notesMaster" Target="/ppt/notesMasters/notesMaster1.xml" Id="Rca650f20d4344e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75376194234436" /><Relationship Type="http://schemas.openxmlformats.org/officeDocument/2006/relationships/notesMaster" Target="/ppt/notesMasters/notesMaster1.xml" Id="Re79b2c4e6a9444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30dc8f71c442c2" /><Relationship Type="http://schemas.openxmlformats.org/officeDocument/2006/relationships/notesMaster" Target="/ppt/notesMasters/notesMaster1.xml" Id="Rd6765caacdf444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ef93ebf35b4c17" /><Relationship Type="http://schemas.openxmlformats.org/officeDocument/2006/relationships/notesMaster" Target="/ppt/notesMasters/notesMaster1.xml" Id="Rf21a2fec699642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15ac2146f84d93" /><Relationship Type="http://schemas.openxmlformats.org/officeDocument/2006/relationships/notesMaster" Target="/ppt/notesMasters/notesMaster1.xml" Id="Re9f855d1b0d742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Anthropic, Effective context engineering for AI agents, Sep 29 2025: context is finite; agents need curated context, not maximal context. https://www.anthropic.com/engineering/effective-context-engineering-for-ai-agents</a:t>
            </a:r>
          </a:p>
          <a:p xmlns:a="http://schemas.openxmlformats.org/drawingml/2006/main">
            <a:r>
              <a:t>Claude docs, Manage tool context: tool definitions and tool results consume context; tool search, programmatic tool calling, prompt caching, and context editing reduce context pressure. https://platform.claude.com/docs/en/agents-and-tools/tool-use/manage-tool-context</a:t>
            </a:r>
          </a:p>
          <a:p xmlns:a="http://schemas.openxmlformats.org/drawingml/2006/main">
            <a:r>
              <a:t>OpenAI, Harness engineering, Feb 11 2026: early agent progress was limited because the environment was underspecified; teams made knowledge, tools, tests, and review loops legible and enforceable. https://openai.com/index/harness-engineering/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Martin Fowler defines harness broadly as what surrounds the model and focuses on feedforward guides, feedback sensors, steering loops, timing, and the role of the human. https://martinfowler.com/articles/harness-engineering.html</a:t>
            </a:r>
          </a:p>
          <a:p xmlns:a="http://schemas.openxmlformats.org/drawingml/2006/main">
            <a:r>
              <a:t>OpenAI describes harness engineering as making repository knowledge, tools, tests, reviews, and constraints legible/enforceable for agents. https://openai.com/index/harness-engineering/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Fowler's framework: feedforward guides and feedback sensors work together; separately they are incomplete. https://martinfowler.com/articles/harness-engineering.html</a:t>
            </a:r>
          </a:p>
          <a:p xmlns:a="http://schemas.openxmlformats.org/drawingml/2006/main">
            <a:r>
              <a:t>Anthropic context engineering and Claude tool-context docs support progressive disclosure/tool filtering as controls against context and tool bloat. https://www.anthropic.com/engineering/effective-context-engineering-for-ai-agents and https://platform.claude.com/docs/en/agents-and-tools/tool-use/manage-tool-context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OpenAI: a short AGENTS.md as a map to deeper system-of-record docs enabled progressive disclosure and reduced context overload. https://openai.com/index/harness-engineering/</a:t>
            </a:r>
          </a:p>
          <a:p xmlns:a="http://schemas.openxmlformats.org/drawingml/2006/main">
            <a:r>
              <a:t>Anthropic: context engineering chooses the smallest high-signal set of tokens for the next action. https://www.anthropic.com/engineering/effective-context-engineering-for-ai-agents</a:t>
            </a:r>
          </a:p>
          <a:p xmlns:a="http://schemas.openxmlformats.org/drawingml/2006/main">
            <a:r>
              <a:t>[Repo examples] src/harness_demo/live.py: log_investigator, runbook_agent, memory_agent and planner_input are scoped role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Fowler distinguishes computational sensors such as tests/linters from inferential sensors such as AI review; both can feed self-correction. https://martinfowler.com/articles/harness-engineering.html</a:t>
            </a:r>
          </a:p>
          <a:p xmlns:a="http://schemas.openxmlformats.org/drawingml/2006/main">
            <a:r>
              <a:t>Anthropic, Demystifying evals for AI agents: agent evals make behavioral changes visible before production. https://www.anthropic.com/engineering/demystifying-evals-for-ai-agents</a:t>
            </a:r>
          </a:p>
          <a:p xmlns:a="http://schemas.openxmlformats.org/drawingml/2006/main">
            <a:r>
              <a:t>[Repo examples] cases/incident-response/scenario.yaml defines the quality contract and score weights. src/harness_demo/rules.py emits deterministic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Fowler's steering loop: repeated issues should improve the feedforward and feedback controls. https://martinfowler.com/articles/harness-engineering.html</a:t>
            </a:r>
          </a:p>
          <a:p xmlns:a="http://schemas.openxmlformats.org/drawingml/2006/main">
            <a:r>
              <a:t>Anthropic's evaluator-optimizer workflow recommends generation plus evaluation/feedback loops when there are clear evaluation criteria. https://www.anthropic.com/engineering/building-effective-agents</a:t>
            </a:r>
          </a:p>
          <a:p xmlns:a="http://schemas.openxmlformats.org/drawingml/2006/main">
            <a:r>
              <a:t>[Repo examples] src/harness_demo/live.py _run_custom_goal_loop scores candidates in isolation, gives safety precedence, and keeps the best accepted 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Microsoft Agent Framework: chat history storage affects UX, compliance, architecture, context management, and compaction; client-managed history often needs truncation, sliding window, summarization, or tool-call collapse. https://devblogs.microsoft.com/agent-framework/chat-history-storage-patterns-in-microsoft-agent-framework/</a:t>
            </a:r>
          </a:p>
          <a:p xmlns:a="http://schemas.openxmlformats.org/drawingml/2006/main">
            <a:r>
              <a:t>Claude cookbook: compaction, tool-result clearing, and memory are distinct strategies; compaction summarizes long histories while memory persists structured notes. https://platform.claude.com/cookbook/tool-use-context-engineering-context-engineering-tools</a:t>
            </a:r>
          </a:p>
          <a:p xmlns:a="http://schemas.openxmlformats.org/drawingml/2006/main">
            <a:r>
              <a:t>[Repo examples] SharedMemory separates incident_facts, evidence, runbook_steps, prior_lessons, reviewer_objections, and final_plan.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 practical agent guidance describes guardrails as layered defenses for privacy, safety, reputation, and policy risks. https://openai.com/business/guides-and-resources/a-practical-guide-to-building-ai-agents/</a:t>
            </a:r>
          </a:p>
          <a:p xmlns:a="http://schemas.openxmlformats.org/drawingml/2006/main">
            <a:r>
              <a:t>Fowler emphasizes the role of the human in steering guides and sensors, not reviewing every token. https://martinfowler.com/articles/harness-engineering.html</a:t>
            </a:r>
          </a:p>
          <a:p xmlns:a="http://schemas.openxmlformats.org/drawingml/2006/main">
            <a:r>
              <a:t>[Repo examples] forbidden_actions in scenario.yaml and reviewer objections in rules.py provide escalation triggers.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Anthropic: simple composable workflow patterns such as prompt chaining, routing, orchestrator-workers, and evaluator-optimizer are often more effective than over-complex frameworks. https://www.anthropic.com/engineering/building-effective-agents</a:t>
            </a:r>
          </a:p>
          <a:p xmlns:a="http://schemas.openxmlformats.org/drawingml/2006/main">
            <a:r>
              <a:t>Strands docs supplied by project discussion: GoalLoop validates responses and retries until a quality bar is met or budget is exhausted. https://strandsagents.com/</a:t>
            </a:r>
          </a:p>
          <a:p xmlns:a="http://schemas.openxmlformats.org/drawingml/2006/main">
            <a:r>
              <a:t>Ollama DeepSeek Harness integration docs supplied by project discussion: https://docs.ollama.com/integrations/deepseek-harness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OpenAI: when agents struggle, ask what capability is missing and make it legible/enforceable. https://openai.com/index/harness-engineering/</a:t>
            </a:r>
          </a:p>
          <a:p xmlns:a="http://schemas.openxmlformats.org/drawingml/2006/main">
            <a:r>
              <a:t>Fowler: harness quality should reduce review toil and increase system quality through guides, sensors, and steering loops. https://martinfowler.com/articles/harness-engineering.html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Fowler is the primary reference for harness engineering. https://martinfowler.com/articles/harness-engineering.html</a:t>
            </a:r>
          </a:p>
          <a:p xmlns:a="http://schemas.openxmlformats.org/drawingml/2006/main">
            <a:r>
              <a:t>Anthropic frames common agent workflow patterns including sequential, parallel, and evaluator-optimizer. https://claude.com/blog/common-workflow-patterns-for-ai-agents-and-when-to-use-them</a:t>
            </a:r>
          </a:p>
          <a:p xmlns:a="http://schemas.openxmlformats.org/drawingml/2006/main">
            <a:r>
              <a:t>Secondary/non-primary references on loop vs harness distinction were considered only for terminology triangulation, not as core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36c41c84f41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77c42290e94adb" /><Relationship Type="http://schemas.openxmlformats.org/officeDocument/2006/relationships/slideLayout" Target="/ppt/slideLayouts/slideLayout1.xml" Id="Ra02ef25e56654b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2ef25e56654b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d6dc1f07c4254" /><Relationship Type="http://schemas.openxmlformats.org/officeDocument/2006/relationships/notesSlide" Target="/ppt/notesSlides/notesSlide1.xml" Id="Rca3abf24f52d4c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c127a65d5407e" /><Relationship Type="http://schemas.openxmlformats.org/officeDocument/2006/relationships/notesSlide" Target="/ppt/notesSlides/notesSlide2.xml" Id="R45b1a85a59e149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9800139584eab" /><Relationship Type="http://schemas.openxmlformats.org/officeDocument/2006/relationships/notesSlide" Target="/ppt/notesSlides/notesSlide3.xml" Id="Reda5363925e6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cbb24f7554385" /><Relationship Type="http://schemas.openxmlformats.org/officeDocument/2006/relationships/notesSlide" Target="/ppt/notesSlides/notesSlide4.xml" Id="Rbfcfc21d8be245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302be05ec471c" /><Relationship Type="http://schemas.openxmlformats.org/officeDocument/2006/relationships/notesSlide" Target="/ppt/notesSlides/notesSlide5.xml" Id="Rb00eb09d95de45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cddb4db714358" /><Relationship Type="http://schemas.openxmlformats.org/officeDocument/2006/relationships/notesSlide" Target="/ppt/notesSlides/notesSlide6.xml" Id="Rf465e430e4c14f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52e153ffc45bf" /><Relationship Type="http://schemas.openxmlformats.org/officeDocument/2006/relationships/notesSlide" Target="/ppt/notesSlides/notesSlide7.xml" Id="R98645128122e4d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1398127364bbe" /><Relationship Type="http://schemas.openxmlformats.org/officeDocument/2006/relationships/notesSlide" Target="/ppt/notesSlides/notesSlide8.xml" Id="Rb74021ec5c5849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3aa0bc3394043" /><Relationship Type="http://schemas.openxmlformats.org/officeDocument/2006/relationships/notesSlide" Target="/ppt/notesSlides/notesSlide9.xml" Id="R6782f106a6ae49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d9d921e7243af" /><Relationship Type="http://schemas.openxmlformats.org/officeDocument/2006/relationships/notesSlide" Target="/ppt/notesSlides/notesSlide10.xml" Id="R8c59f69f040b40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30e20586b4bd2" /><Relationship Type="http://schemas.openxmlformats.org/officeDocument/2006/relationships/notesSlide" Target="/ppt/notesSlides/notesSlide11.xml" Id="Rcca8a0e8b1614d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84607-6CED-47C7-AA1E-4F2F2E5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0F19"/>
                </a:solidFill>
              </a:defRPr>
            </a:pPr>
            <a:r>
              <a:rPr sz="3750" b="1">
                <a:solidFill>
                  <a:srgbClr val="0B0F19"/>
                </a:solidFill>
              </a:rPr>
              <a:t>Why Agents Fail In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0A18D-680E-49A6-AFDF-73A58F66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Most failures are not model-IQ failures. They are operating-environment failures.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461A2-43A6-4131-AF37-A18D656E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DB14C-37AE-4B55-93E2-0CFAB688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Context bloat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E5C12-FDA2-44F5-B044-B86F980C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19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Important facts disappear inside too much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6BE75-6336-46FA-AFEA-41AD95D5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BC60B-F8A6-4C4D-9C58-D29F1F43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Stale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3392E-4F69-4CB5-BDE5-79346E7E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90850"/>
            <a:ext cx="4419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Old lessons are reused without freshness or provenance.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52D37-FF51-45AA-8553-FC0B208E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C6608-2095-49F6-AA16-E5CD4B88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Tool bloat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B90CE-11DF-4C50-B101-69A66A3B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419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Too many overlapping tools create wrong actions and cost.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BBDA5-8A12-4021-A6B5-B58E3311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BC2CA-35D1-4896-B48D-08B443F5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766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No sensors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2FD26-2D2E-4C85-B8A9-9A968D17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4419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Fluent unsafe output reaches humans as if it were ready.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6D3ED-4FA1-456B-A347-4B60310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022BF-D005-4D6B-94A0-77B665D7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No steering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67C3F-1B0A-4B1C-8A14-06E5B151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4419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The same miss repeats because nothing updates the system.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E4EC1-8B31-45A5-A142-20E6C39E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720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DD27A-EB74-4B8D-BB05-C483057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244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Unsafe autonomy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25B0B-1D6D-4335-9C88-42E659E6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86350"/>
            <a:ext cx="44196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Risky actions have no policy gate or human stop point.</a:t>
            </a:r>
          </a:p>
        </p:txBody>
      </p:sp>
    </p:spTree>
    <p:extLst>
      <p:ext uri="{BB962C8B-B14F-4D97-AF65-F5344CB8AC3E}">
        <p14:creationId xmlns:p14="http://schemas.microsoft.com/office/powerpoint/2010/main" val="650996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90B47C-9CB4-4A52-AA55-DB006502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6C193-1E0A-434C-83E8-31A06DC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Harness engineering surrounds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BCD2E-E062-483C-B078-6FE52ED7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22A8E-50E4-4652-B087-D86F488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C0907-4F5E-4CC5-9563-CE567A10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14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29265-801A-4FC3-ACF3-3213CF93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B0F19"/>
                </a:solidFill>
              </a:defRPr>
            </a:pPr>
            <a:r>
              <a:rPr sz="1650" b="0">
                <a:solidFill>
                  <a:srgbClr val="0B0F19"/>
                </a:solidFill>
              </a:rPr>
              <a:t>Reasoning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E2EA1-9AB8-488B-8F64-50FAA313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6705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1BB5E-F04B-4FB4-A44F-3B0112B9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HARNESS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99FF2-5CE9-40CC-A79F-8911B6BB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670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E5ADE-A769-453E-BDF6-D03DEC4D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00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19"/>
                </a:solidFill>
              </a:defRPr>
            </a:pPr>
            <a:r>
              <a:rPr sz="1275" b="1">
                <a:solidFill>
                  <a:srgbClr val="0B0F19"/>
                </a:solidFill>
              </a:rPr>
              <a:t>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29AB3-D1A5-4AE1-B4A6-84FD4883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670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4A0A1-F559-448D-9334-01AE16B6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00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19"/>
                </a:solidFill>
              </a:defRPr>
            </a:pPr>
            <a:r>
              <a:rPr sz="1275" b="1">
                <a:solidFill>
                  <a:srgbClr val="0B0F19"/>
                </a:solidFill>
              </a:rPr>
              <a:t>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32F59-2BC8-4A31-AB23-D4CE6AC9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670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9A635-EC2D-4DFC-A0A3-85C9B4A7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00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19"/>
                </a:solidFill>
              </a:defRPr>
            </a:pPr>
            <a:r>
              <a:rPr sz="1275" b="1">
                <a:solidFill>
                  <a:srgbClr val="0B0F19"/>
                </a:solidFill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67302-06B8-40AE-BC7B-A48091AE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670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5FD44-82C8-412E-A1B1-7412C0EA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003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19"/>
                </a:solidFill>
              </a:defRPr>
            </a:pPr>
            <a:r>
              <a:rPr sz="1275" b="1">
                <a:solidFill>
                  <a:srgbClr val="0B0F19"/>
                </a:solidFill>
              </a:rPr>
              <a:t>Guardrails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D722B-EE72-4001-A03A-A611CAC9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09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132A7-6D16-43AD-AA43-E8B871A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43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19"/>
                </a:solidFill>
              </a:defRPr>
            </a:pPr>
            <a:r>
              <a:rPr sz="1275" b="1">
                <a:solidFill>
                  <a:srgbClr val="0B0F19"/>
                </a:solidFill>
              </a:rPr>
              <a:t>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06A9C-DE97-407C-9EB1-B37FDEA4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09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54D23-F911-4A25-AFD7-581000E7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543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19"/>
                </a:solidFill>
              </a:defRPr>
            </a:pPr>
            <a:r>
              <a:rPr sz="1275" b="1">
                <a:solidFill>
                  <a:srgbClr val="0B0F19"/>
                </a:solidFill>
              </a:rPr>
              <a:t>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462D8-8BA2-4D72-B457-FA29278D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9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DC003-C25F-4154-88F6-49DE8FC4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543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19"/>
                </a:solidFill>
              </a:defRPr>
            </a:pPr>
            <a:r>
              <a:rPr sz="1275" b="1">
                <a:solidFill>
                  <a:srgbClr val="0B0F19"/>
                </a:solidFill>
              </a:rPr>
              <a:t>Observability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AE257-8F2F-4CE5-8FBF-EDF32F94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09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16474-B2BB-434D-A5A2-BC28C754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43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19"/>
                </a:solidFill>
              </a:defRPr>
            </a:pPr>
            <a:r>
              <a:rPr sz="1275" b="1">
                <a:solidFill>
                  <a:srgbClr val="0B0F19"/>
                </a:solidFill>
              </a:rPr>
              <a:t>HITL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5F1188-F41B-4DB9-A4AC-1D7184C8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D5EA0E-5D7E-4F70-97EA-B573781D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00625"/>
            <a:ext cx="575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DDD5C-F787-4EC2-9901-641B97F3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530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AGENT = MODEL + HARNESS</a:t>
            </a:r>
          </a:p>
        </p:txBody>
      </p:sp>
    </p:spTree>
    <p:extLst>
      <p:ext uri="{BB962C8B-B14F-4D97-AF65-F5344CB8AC3E}">
        <p14:creationId xmlns:p14="http://schemas.microsoft.com/office/powerpoint/2010/main" val="75193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09A65-A12D-4101-A826-6A50D6BB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B22A5-D9F9-4D4E-AF9D-A2C0C122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Every failure mode needs an engineered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3416D-CA49-427E-9913-6B458538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044F0-E25C-4327-A485-9508C2C7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9525">
            <a:solidFill>
              <a:srgbClr val="0B0F1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D77DA-C3C9-4671-BEB8-C9B5361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9D7E9-BC4D-44AF-BB9B-CF85F5AB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Harness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11985-E143-45DC-9B68-3DB25165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 our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227CC-90C8-4D29-982A-E94B170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CE202-DDD1-411B-8936-6B02324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Bloated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C5FA2-81DC-4AC0-80A8-61BD3FE2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Progressive 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CC4AE-B648-4A56-A96D-E74171EC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Load only ticket, logs, runbook, memory needed by each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92C8D-DB8B-4586-B0B3-FE0FD990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A2CDE-24BC-48BD-8FB0-99B6036C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Tool bloat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A63CE-C641-4FC0-A965-F56FE0B1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Tool filters and contracts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0C0EC-43FF-439A-9858-032CE31A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Specialist agents see scoped inputs and allowed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35EC9-E872-45C5-B76B-4A867719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E59A0-4FDC-47E0-97FD-14309F00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Missing obligations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EE542-73DB-4260-A7FB-955D7D06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Goal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2DE6D-B24C-4BB4-A833-FC57D369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814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Required fields must pass before answer is accepted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FBF63-4C00-46C5-95EA-64ED9DDE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D1D91-CA32-41F1-9C20-8C061F49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Unsafe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B2D4D-2B59-4958-A19D-89F8D147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Guardrail + HITL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B8180-72C7-46B1-B0F1-93387F86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Restart/drop/write-disable actions are blocked or escalated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C26A6-FDBC-4206-BA6B-2844DA32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D5FE5-6C8C-44C3-86A1-867FC317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Fluent hallucination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0D0903-AC22-46AD-B343-9C6AA398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Deterministic sensors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47E734-61BC-486F-BA62-BA2E8514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Evidence, runbook, safety, memory, completeness are scored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0E4D1-B86D-4311-B64A-C7CF5D5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934445-D11C-4DD3-8141-BBA69EC1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Unclear regressions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507E6-1365-4533-A0A0-0E9CB16B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38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Audit trail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9AA93B-A680-440C-89E9-CE07302C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81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Accepted and rejected attempts are visible</a:t>
            </a:r>
          </a:p>
        </p:txBody>
      </p:sp>
    </p:spTree>
    <p:extLst>
      <p:ext uri="{BB962C8B-B14F-4D97-AF65-F5344CB8AC3E}">
        <p14:creationId xmlns:p14="http://schemas.microsoft.com/office/powerpoint/2010/main" val="98731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F7A92-6FE8-49C1-A7EA-4DD6B47F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A6B0D-2D85-44A1-9DD4-610E6AB7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Feedforward controls prevent avoidable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F53C5-A804-419C-8999-51D827E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DDDFD-D612-4840-8A8A-A4112499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ECAB5-6757-42FD-B2FB-2997C1DC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Guides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F096D-1D21-4B26-BA69-2A54993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Runbook, output contract, forbidden actions, prior lessons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C2F50-7551-4000-B111-A8B621C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02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6A33A-6C32-409D-BEF5-5F60EC3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52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Scoped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C8574-B835-4DC0-B8EB-77CD773F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2990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Log agent gets logs. Runbook agent gets runbook. Memory agent gets prior incidents.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6F3C9-AEE2-42A5-B1E6-5F5C9A8B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C41AF-6168-4781-B4E7-2F552318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Planner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C402F-876B-4F59-9D5A-5F05C806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Planner receives typed shared memory and required JSON fields, not the whole world.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C2641-A0CD-49B3-BBFD-07C0CCBD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098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FD926-B6F1-4BF3-9132-D8D05F03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728DA-B1AC-429B-BE70-8541D9A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9"/>
                </a:solidFill>
              </a:defRPr>
            </a:pPr>
            <a:r>
              <a:rPr sz="2025" b="1">
                <a:solidFill>
                  <a:srgbClr val="0B0F19"/>
                </a:solidFill>
              </a:rPr>
              <a:t>What this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357CD-629D-40EB-B563-4E573019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AE192-DBA4-49E5-8F31-970784B4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9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The model is less likely to invent owners, dashboards, thresholds, or unsafe mitigations.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D6E64-0B33-42AA-B746-8403AEC4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7EB18-06C6-4F89-BAD2-0299C5C8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69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The agent gets a map and precise task material, not a giant instruction manual.</a:t>
            </a:r>
          </a:p>
        </p:txBody>
      </p:sp>
    </p:spTree>
    <p:extLst>
      <p:ext uri="{BB962C8B-B14F-4D97-AF65-F5344CB8AC3E}">
        <p14:creationId xmlns:p14="http://schemas.microsoft.com/office/powerpoint/2010/main" val="1574367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20FF5-7CDF-49E1-A9D3-64EA62E1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36B76-0F8E-4C57-96D6-B3FC581A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Feedback sensors make quality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C10E2-6CFE-4BCD-8779-C3922EBD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B1DB9-EEFC-405D-A9C7-10B6DA83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9F7F1-3A92-4923-BF04-F6A9B8E7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F19"/>
                </a:solidFill>
              </a:defRPr>
            </a:pPr>
            <a:r>
              <a:rPr sz="1575" b="1">
                <a:solidFill>
                  <a:srgbClr val="0B0F19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9CD0D-5EF6-4D51-B9DF-DF47BD3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C688D-708E-4BCC-A6F6-71045B44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Did required facts appear?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02DC9-B61D-4058-AA17-58F779A4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145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FCA8E-A107-46A3-935B-FC15B1A1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F19"/>
                </a:solidFill>
              </a:defRPr>
            </a:pPr>
            <a:r>
              <a:rPr sz="1575" b="1">
                <a:solidFill>
                  <a:srgbClr val="0B0F19"/>
                </a:solidFill>
              </a:rPr>
              <a:t>Runbook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DBEE8-78F1-4FEE-9CB5-4206C835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432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68648-9CBD-4E32-9CF6-212D2EE4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38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Did approved steps appear?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92B6A-423B-40F7-B7F1-5BDF49EE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145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654A3-5092-460D-8B4E-40CDA424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F19"/>
                </a:solidFill>
              </a:defRPr>
            </a:pPr>
            <a:r>
              <a:rPr sz="1575" b="1">
                <a:solidFill>
                  <a:srgbClr val="0B0F19"/>
                </a:solidFill>
              </a:rPr>
              <a:t>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284B9-5EB1-4CA7-BC17-0FA61AE9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0987E-F5F2-4547-A816-A1F968D5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Did forbidden actions appear?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1628A-70D8-408C-820B-3087AF7D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145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35B1E-1A1F-42C3-80D6-B5E3B75C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F19"/>
                </a:solidFill>
              </a:defRPr>
            </a:pPr>
            <a:r>
              <a:rPr sz="1575" b="1">
                <a:solidFill>
                  <a:srgbClr val="0B0F19"/>
                </a:solidFill>
              </a:rPr>
              <a:t>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21975-3913-4E46-BC0D-94A8C60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432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80529-83B5-489E-8B54-5541A1B8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38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Did prior lesson enter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005BB-BEF7-443F-A8CE-34CB9E25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455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22DE2-30C7-4639-A045-AE72BAFE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F19"/>
                </a:solidFill>
              </a:defRPr>
            </a:pPr>
            <a:r>
              <a:rPr sz="1575" b="1">
                <a:solidFill>
                  <a:srgbClr val="0B0F19"/>
                </a:solidFill>
              </a:rPr>
              <a:t>Completeness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30C9D-CFC3-46E4-91E2-4CCB6253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432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0E7D6-69E7-4FA2-A51D-E1B907F6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Are required fields present?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280F2-C61B-4AFF-9042-9E5DEE72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96E50-B1E5-4AF7-BAF6-D79B7D63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Rules own the score. LLM critique can explain findings, but it does not invent the metric.</a:t>
            </a:r>
          </a:p>
        </p:txBody>
      </p:sp>
    </p:spTree>
    <p:extLst>
      <p:ext uri="{BB962C8B-B14F-4D97-AF65-F5344CB8AC3E}">
        <p14:creationId xmlns:p14="http://schemas.microsoft.com/office/powerpoint/2010/main" val="1436300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BF2DE-C157-415F-9D9D-6D0F6F47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32F6D-DCCE-4B78-824C-DC574AC1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Steering loops repair output without accepting regressions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6E957-4F9E-4BE7-AA34-45507D2B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81D9D-CC5D-48AE-A214-D3310322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C2BC6-C98A-4EA3-9C7C-DFAF2C43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Generate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E8D7B-2415-410D-95E7-4BAEFC33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098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2BFFC-C27A-47D8-BB72-EAAB24B1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574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344E7-757C-49C9-82FB-E6ACA1B0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765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D63D2-D554-4F6F-9140-9A3895D5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098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69A32-177F-4D69-87A5-A69C3B38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40DBA-D5A8-4927-BB8A-F2F5805A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765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Critique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63A05-C7AA-404A-9A60-DED9C6DE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098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65E0C-2082-48B6-9F44-F10852F9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2A1A3-A353-455C-905D-21F08D1B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765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Repair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B8CD3-0DB8-420F-AAB1-D1D2BB49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098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BB1B1-475D-4FC8-9EF2-19C978E1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B8866-CB00-4BC2-916F-39C0DCDB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765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F19"/>
                </a:solidFill>
              </a:defRPr>
            </a:pPr>
            <a:r>
              <a:rPr sz="1425" b="1">
                <a:solidFill>
                  <a:srgbClr val="0B0F19"/>
                </a:solidFill>
              </a:rPr>
              <a:t>Re-score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DF4CD-89BC-4460-A174-60DC1799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98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18BBB-47BE-46C1-A73B-8C97A1C7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133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FB5DC-6C99-49CD-AA67-586AE2FF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765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Accept / Escalate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2FD91-9BD8-444F-BC5A-0C19D27E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Critical production 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9966F-CCD0-49F5-81A6-F97537F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BFEBB-D909-410E-B0E9-4E33FB36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836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The loop is not last-answer-wins.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99E1E-AF36-4A69-860C-1668C71F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96AA2-4B2C-4349-A3C5-56B1E23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941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A later repair can get worse, so the harness keeps the best safe candidate and records failed repairs.</a:t>
            </a:r>
          </a:p>
        </p:txBody>
      </p:sp>
    </p:spTree>
    <p:extLst>
      <p:ext uri="{BB962C8B-B14F-4D97-AF65-F5344CB8AC3E}">
        <p14:creationId xmlns:p14="http://schemas.microsoft.com/office/powerpoint/2010/main" val="8858730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88038-44D5-4956-8C5B-90B42BF7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FEBDF-5DAF-4B39-9EC0-70D73655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Good memory is scoped, fresh, and compact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387CF-B651-4E64-867C-557AEDB9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3B0FF-399F-469D-8491-DC24469A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26979-1313-4FC9-A66E-C77817D9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Conversation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45212-A0E7-43DE-BEBE-37EFE52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Recent turns needed for continuity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9330A-3CA4-4822-92BF-F302237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871FE-3058-4E76-A31E-AFA6E4F6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47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Persistent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C1487-08BB-4A62-A409-A94BFC08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098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Durable user, org, or domain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FED97-A9DC-49B2-A066-B7816794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E4B87-C451-4D63-A0F9-147EDB18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Compaction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90780-10DF-41C4-AAF3-221B42B6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Replace long history with a task 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56656-457F-4EE0-AA33-EDDED087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3B07E-E4BD-47BF-8250-CFDCAA7B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47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7DD18-DD6B-474C-9E64-5FB72B71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</a:defRPr>
            </a:pPr>
            <a:r>
              <a:rPr sz="1500" b="0">
                <a:solidFill>
                  <a:srgbClr val="0B0F19"/>
                </a:solidFill>
              </a:rPr>
              <a:t>Bring back only relevant old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156C9-E90E-44EF-9D72-744A35FA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9"/>
                </a:solidFill>
              </a:defRPr>
            </a:pPr>
            <a:r>
              <a:rPr sz="2100" b="1">
                <a:solidFill>
                  <a:srgbClr val="0B0F19"/>
                </a:solidFill>
              </a:rPr>
              <a:t>Production principle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7A4A9-C475-44AD-8740-3911325E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10C36-B053-4800-8D55-2578E366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50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Store history durably; do not resend all of it to the 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2ABE4-1605-4350-B83F-26F3939E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0F2AA-2911-4078-A32A-4DA60617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950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Compact at boundaries: long runs, large tool output, milestone handoff, pause/resume, or before escalation.</a:t>
            </a:r>
          </a:p>
        </p:txBody>
      </p:sp>
    </p:spTree>
    <p:extLst>
      <p:ext uri="{BB962C8B-B14F-4D97-AF65-F5344CB8AC3E}">
        <p14:creationId xmlns:p14="http://schemas.microsoft.com/office/powerpoint/2010/main" val="1751586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B913B-8B83-4577-9E73-A53B577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B0EF7-8989-4011-AE16-A36C8312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HITL enables controlled autonomy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DACDF-01B3-445B-A466-1549A437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6E85F-59DE-4B43-84A5-44DA7EDB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2F1E4-0439-4DF6-A617-33169491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Model proposes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AC300-598F-47C7-9E86-6664CF70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7E38F-0DCC-4AE3-8F23-FEA98E0E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BE587-24E6-4FEB-9E6C-00AC29C8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Policy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6C12C-DB00-4353-981D-92F08A5C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908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B0F19"/>
                </a:solidFill>
              </a:defRPr>
            </a:pPr>
            <a:r>
              <a:rPr sz="1425" b="0">
                <a:solidFill>
                  <a:srgbClr val="0B0F19"/>
                </a:solidFill>
              </a:rPr>
              <a:t>Forbidden action?</a:t>
            </a:r>
          </a:p>
          <a:p xmlns:a="http://schemas.openxmlformats.org/drawingml/2006/main">
            <a:pPr algn="ctr">
              <a:defRPr sz="1425" b="0">
                <a:solidFill>
                  <a:srgbClr val="0B0F19"/>
                </a:solidFill>
              </a:defRPr>
            </a:pPr>
            <a:r>
              <a:rPr sz="1425" b="0">
                <a:solidFill>
                  <a:srgbClr val="0B0F19"/>
                </a:solidFill>
              </a:rPr>
              <a:t>Missing runbook?</a:t>
            </a:r>
          </a:p>
          <a:p xmlns:a="http://schemas.openxmlformats.org/drawingml/2006/main">
            <a:pPr algn="ctr">
              <a:defRPr sz="1425" b="0">
                <a:solidFill>
                  <a:srgbClr val="0B0F19"/>
                </a:solidFill>
              </a:defRPr>
            </a:pPr>
            <a:r>
              <a:rPr sz="1425" b="0">
                <a:solidFill>
                  <a:srgbClr val="0B0F19"/>
                </a:solidFill>
              </a:rPr>
              <a:t>Low confidence?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4A675-C189-44E3-AAAF-087282C0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38425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D79E3-20EE-4346-91B8-6B75FDE5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054E7-265C-40B4-A9E7-AD576152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Approve or escalate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8E9B9-FE17-498D-9FAD-A75B4DD0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26302-06B5-4FEC-96ED-4A27CA88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Humans are called when the workflow leaves the approved operating envelope.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B92A8-7C60-4798-BC5D-BAE4FBFB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D199C-37D8-4236-ADB8-660DC964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In the incident demo, restart/drop/payment-write actions trigger blocking review or escalation.</a:t>
            </a:r>
          </a:p>
        </p:txBody>
      </p:sp>
    </p:spTree>
    <p:extLst>
      <p:ext uri="{BB962C8B-B14F-4D97-AF65-F5344CB8AC3E}">
        <p14:creationId xmlns:p14="http://schemas.microsoft.com/office/powerpoint/2010/main" val="6933483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98FC3-113A-4A28-BE06-DB072CD4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79AB0-B3D4-4A3F-8ED1-79D677BF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The notebook shows the adoption spectrum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FC538-6544-4EE5-9791-1AE232EF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B5935-F44D-423B-A903-563F417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0201-D743-4303-B68F-A7420D95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43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No harness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1B8BD-3A91-4DE1-A2E3-B7FAFB04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57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Strong model sees ticket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88E4C-7DE0-468E-BE88-303E570F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145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Good writing; little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0CEAD-1A2E-40C9-9AD6-583A5CBA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4FFE1-0674-41CB-A186-4BA17B90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Weak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A6095-CB63-411A-BB3A-8651CCB3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574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Shared scratchpad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3EA4A-62DD-4C5C-A52A-19FEC1B6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Multi-agent shape, weak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A4B14-1D09-4AD1-BF9A-92DF15A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4C6AB-3107-44E7-B769-64A33374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Custom harness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5A97E-A4E0-4C1E-B404-286B11A3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575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Typed memory + scorer +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435C5-2AAC-480E-A8AC-FFFE2351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Measurable and repairable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A4818-D05C-447D-A283-DEFF199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4D3AE-2456-4C08-A59F-D629B8ED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Strands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68094-649A-4AA6-AF1E-BA17D52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576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SDK agents + plugins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5731D-4E2A-4E23-BDEA-B89687D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1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Adoption path for reusable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5184C-D001-402A-B2F4-67FA1580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D3463-58AB-4239-8524-5DE89BE9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DeepSeek Harness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95AAE-7D9A-4137-B9D9-BB9B4569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577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Packaged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006AC-725E-4BBD-A8CC-E95166A5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14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Plug-and-play direction is emerging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5BFF79-F356-4DB4-9775-44231E54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Demo thesis: stronger harnesses make model output more measurable, controllable, repairable,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9097187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1067A-0013-4283-AAF9-8D3368F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7DE6C-7E92-4487-A1BB-D7B3B77F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What management should take 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E6C6F-41E4-43FE-8C52-E0C4F0CF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2CBF5-5C0E-43A5-A511-AF5CDCCE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F19"/>
                </a:solidFill>
              </a:defRPr>
            </a:pPr>
            <a:r>
              <a:rPr sz="2250" b="1">
                <a:solidFill>
                  <a:srgbClr val="0B0F19"/>
                </a:solidFill>
              </a:rPr>
              <a:t>Harness engineering is how we move from impressive demos to production AI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BDA7B-3769-43EC-8451-E98E0554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ACE94-1805-4ADF-A4A6-58A070A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Approve investment in reusable harness components: context builder, memory, tool routing, evals, guardrails, audit, and HITL.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44EC1-6DAE-4C2B-9A9E-3B3B7DAE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37EC6-7355-4DFC-87D7-37D18BC7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Measure model choices inside the same harness; do not compare raw model demos to governed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72845-A671-41E9-8C0F-CAB4818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E6792-CDC6-4575-B676-4902B4AC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</a:defRPr>
            </a:pPr>
            <a:r>
              <a:rPr sz="1575" b="0">
                <a:solidFill>
                  <a:srgbClr val="0B0F19"/>
                </a:solidFill>
              </a:rPr>
              <a:t>Adopt SDK/provider harnesses where they help, but keep application-level quality contracts and deterministic gates.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1D09F-56A7-4651-AFBD-BAF7D14F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9"/>
          </a:solidFill>
          <a:ln xmlns:a="http://schemas.openxmlformats.org/drawingml/2006/main" w="9525">
            <a:solidFill>
              <a:srgbClr val="0B0F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9E451-4446-4401-B95E-210C128B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 better model may improve answers. A better harness improves the operating system around every answer.</a:t>
            </a:r>
          </a:p>
        </p:txBody>
      </p:sp>
    </p:spTree>
    <p:extLst>
      <p:ext uri="{BB962C8B-B14F-4D97-AF65-F5344CB8AC3E}">
        <p14:creationId xmlns:p14="http://schemas.microsoft.com/office/powerpoint/2010/main" val="236279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6A23A-0764-4156-A386-02028A6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93461-B644-4A51-989C-53BC0734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F19"/>
                </a:solidFill>
              </a:defRPr>
            </a:pPr>
            <a:r>
              <a:rPr sz="2925" b="1">
                <a:solidFill>
                  <a:srgbClr val="0B0F19"/>
                </a:solidFill>
              </a:rPr>
              <a:t>Appendix: harness, loop, and workflow are different lenses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B401A-A908-4235-8A92-06DC0C3F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2AB74-0BA0-46F4-BBE6-C22EC326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83038-DEC1-41F6-A694-4D5BC9F9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Harness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491B2-3B23-4215-A33B-681BCB36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</a:defRPr>
            </a:pPr>
            <a:r>
              <a:rPr sz="1575" b="1">
                <a:solidFill>
                  <a:srgbClr val="0B0F19"/>
                </a:solidFill>
              </a:rPr>
              <a:t>What controls the agent?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82227-1E79-48D9-A5BA-F2600AF1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Context, memory, tools, permissions, guardrails, evals, audit, HITL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014E4-7890-49DD-BEE0-974F511F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31165-DB9C-4A89-9BAE-BADC3C6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Loop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20199-5FBD-4E31-BC03-B48E2DD7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</a:defRPr>
            </a:pPr>
            <a:r>
              <a:rPr sz="1575" b="1">
                <a:solidFill>
                  <a:srgbClr val="0B0F19"/>
                </a:solidFill>
              </a:rPr>
              <a:t>How does the agent iterate?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373F8-F500-4546-B23B-D5F6388D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Plan, act, observe, retry, terminate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A0B21-873D-4438-9DCB-EC903995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047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AD5EC-93A0-4641-A171-6A91BFCF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</a:defRPr>
            </a:pPr>
            <a:r>
              <a:rPr sz="1725" b="1">
                <a:solidFill>
                  <a:srgbClr val="0B0F19"/>
                </a:solidFill>
              </a:rPr>
              <a:t>Workflow / graph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36865-8389-4AF9-848C-9C9216DF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F19"/>
                </a:solidFill>
              </a:defRPr>
            </a:pPr>
            <a:r>
              <a:rPr sz="1575" b="1">
                <a:solidFill>
                  <a:srgbClr val="0B0F19"/>
                </a:solidFill>
              </a:rPr>
              <a:t>How is work routed?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6DFCD-C703-47C8-B929-AEBC6304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Sequential, parallel, orchestrator-worker, evaluator-optimizer</a:t>
            </a:r>
          </a:p>
        </p:txBody>
      </p:sp>
    </p:spTree>
    <p:extLst>
      <p:ext uri="{BB962C8B-B14F-4D97-AF65-F5344CB8AC3E}">
        <p14:creationId xmlns:p14="http://schemas.microsoft.com/office/powerpoint/2010/main" val="290958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2026-08-26T18:20:05.9290000Z</dcterms:created>
  <dcterms:modified xsi:type="dcterms:W3CDTF">2026-08-26T18:20:05.9290000Z</dcterms:modified>
</coreProperties>
</file>